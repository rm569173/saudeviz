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10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1417320"/>
            <a:ext cx="73152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5200" b="1">
                <a:solidFill>
                  <a:srgbClr val="FFFFFF"/>
                </a:solidFill>
                <a:latin typeface="Cambria"/>
              </a:rPr>
              <a:t>SaúdeViz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395728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0">
                <a:solidFill>
                  <a:srgbClr val="14B8A6"/>
                </a:solidFill>
                <a:latin typeface="Cambria"/>
              </a:rPr>
              <a:t>Painel inteligente de acesso hospitalar e perfil de atendimento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2971800"/>
            <a:ext cx="1280160" cy="3175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3246120"/>
            <a:ext cx="73152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E2E8F0"/>
                </a:solidFill>
                <a:latin typeface="Cambria"/>
              </a:rPr>
              <a:t>Challenge FIAP × Oracle 2026 · Sprint 2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E2E8F0"/>
                </a:solidFill>
                <a:latin typeface="Cambria"/>
              </a:rPr>
              <a:t>Turma 1TSCOA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E2E8F0"/>
                </a:solidFill>
                <a:latin typeface="Cambria"/>
              </a:rPr>
              <a:t>Lucas Ventura Araujo Ribas Colen — RM 569173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81381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Cambria"/>
              </a:rPr>
              <a:t>Identificação do grupo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822960" cy="406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17320"/>
            <a:ext cx="23774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1">
                <a:solidFill>
                  <a:srgbClr val="14B8A6"/>
                </a:solidFill>
                <a:latin typeface="Cambria"/>
              </a:rPr>
              <a:t>INTEGRANTE DO GRUPO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1389888"/>
            <a:ext cx="53035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Cambria"/>
              </a:rPr>
              <a:t>Lucas Ventura Araujo Ribas Colen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984248"/>
            <a:ext cx="23774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1">
                <a:solidFill>
                  <a:srgbClr val="14B8A6"/>
                </a:solidFill>
                <a:latin typeface="Cambria"/>
              </a:rPr>
              <a:t>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17520" y="1956816"/>
            <a:ext cx="53035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Cambria"/>
              </a:rPr>
              <a:t>569173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551176"/>
            <a:ext cx="23774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1">
                <a:solidFill>
                  <a:srgbClr val="14B8A6"/>
                </a:solidFill>
                <a:latin typeface="Cambria"/>
              </a:rPr>
              <a:t>TURMA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17520" y="2523744"/>
            <a:ext cx="53035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Cambria"/>
              </a:rPr>
              <a:t>1TSCOA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118104"/>
            <a:ext cx="23774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1">
                <a:solidFill>
                  <a:srgbClr val="14B8A6"/>
                </a:solidFill>
                <a:latin typeface="Cambria"/>
              </a:rPr>
              <a:t>INSTITUIÇÃO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3090672"/>
            <a:ext cx="53035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Cambria"/>
              </a:rPr>
              <a:t>FIAP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685032"/>
            <a:ext cx="23774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1">
                <a:solidFill>
                  <a:srgbClr val="14B8A6"/>
                </a:solidFill>
                <a:latin typeface="Cambria"/>
              </a:rPr>
              <a:t>ANO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7520" y="3657600"/>
            <a:ext cx="53035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Cambria"/>
              </a:rPr>
              <a:t>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4759452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50" b="0">
                <a:solidFill>
                  <a:srgbClr val="64748B"/>
                </a:solidFill>
                <a:latin typeface="Cambria"/>
              </a:rPr>
              <a:t>SaúdeViz · Challenge FIAP × Oracle 2026 · Sprint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92440" y="4759452"/>
            <a:ext cx="548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750" b="0">
                <a:solidFill>
                  <a:srgbClr val="64748B"/>
                </a:solidFill>
                <a:latin typeface="Cambria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81381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Cambria"/>
              </a:rPr>
              <a:t>Os números da entrega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822960" cy="406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69264"/>
            <a:ext cx="8138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64748B"/>
                </a:solidFill>
                <a:latin typeface="Cambria"/>
              </a:rPr>
              <a:t>Camada Ouro carregada no Oracle 19c da FIAP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325880"/>
            <a:ext cx="1525219" cy="141732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30936" y="1545336"/>
            <a:ext cx="1269187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700" b="1">
                <a:solidFill>
                  <a:srgbClr val="14B8A6"/>
                </a:solidFill>
                <a:latin typeface="Cambria"/>
              </a:rPr>
              <a:t>5.546.817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2039112"/>
            <a:ext cx="1305763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100"/>
              </a:spcAft>
            </a:pPr>
            <a:r>
              <a:rPr sz="850" b="0">
                <a:solidFill>
                  <a:srgbClr val="64748B"/>
                </a:solidFill>
                <a:latin typeface="Cambria"/>
              </a:rPr>
              <a:t>internações do SIH/SUS</a:t>
            </a:r>
          </a:p>
          <a:p>
            <a:pPr algn="ctr">
              <a:lnSpc>
                <a:spcPct val="110000"/>
              </a:lnSpc>
              <a:spcAft>
                <a:spcPts val="100"/>
              </a:spcAft>
            </a:pPr>
            <a:r>
              <a:rPr sz="850" b="0">
                <a:solidFill>
                  <a:srgbClr val="64748B"/>
                </a:solidFill>
                <a:latin typeface="Cambria"/>
              </a:rPr>
              <a:t>ocorridas em 2024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156155" y="1325880"/>
            <a:ext cx="1525219" cy="141732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2284171" y="1545336"/>
            <a:ext cx="1269187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700" b="1">
                <a:solidFill>
                  <a:srgbClr val="14B8A6"/>
                </a:solidFill>
                <a:latin typeface="Cambria"/>
              </a:rPr>
              <a:t>R$ 10,03 bi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65883" y="2039112"/>
            <a:ext cx="1305763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100"/>
              </a:spcAft>
            </a:pPr>
            <a:r>
              <a:rPr sz="850" b="0">
                <a:solidFill>
                  <a:srgbClr val="64748B"/>
                </a:solidFill>
                <a:latin typeface="Cambria"/>
              </a:rPr>
              <a:t>pagos pelo SUS</a:t>
            </a:r>
          </a:p>
          <a:p>
            <a:pPr algn="ctr">
              <a:lnSpc>
                <a:spcPct val="110000"/>
              </a:lnSpc>
              <a:spcAft>
                <a:spcPts val="100"/>
              </a:spcAft>
            </a:pPr>
            <a:r>
              <a:rPr sz="850" b="0">
                <a:solidFill>
                  <a:srgbClr val="64748B"/>
                </a:solidFill>
                <a:latin typeface="Cambria"/>
              </a:rPr>
              <a:t>no período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09390" y="1325880"/>
            <a:ext cx="1525219" cy="141732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3937406" y="1545336"/>
            <a:ext cx="1269187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700" b="1">
                <a:solidFill>
                  <a:srgbClr val="14B8A6"/>
                </a:solidFill>
                <a:latin typeface="Cambria"/>
              </a:rPr>
              <a:t>4 estados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19118" y="2039112"/>
            <a:ext cx="1305763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100"/>
              </a:spcAft>
            </a:pPr>
            <a:r>
              <a:rPr sz="850" b="0">
                <a:solidFill>
                  <a:srgbClr val="64748B"/>
                </a:solidFill>
                <a:latin typeface="Cambria"/>
              </a:rPr>
              <a:t>ES · MG · RJ · SP</a:t>
            </a:r>
          </a:p>
          <a:p>
            <a:pPr algn="ctr">
              <a:lnSpc>
                <a:spcPct val="110000"/>
              </a:lnSpc>
              <a:spcAft>
                <a:spcPts val="100"/>
              </a:spcAft>
            </a:pPr>
            <a:r>
              <a:rPr sz="850" b="0">
                <a:solidFill>
                  <a:srgbClr val="64748B"/>
                </a:solidFill>
                <a:latin typeface="Cambria"/>
              </a:rPr>
              <a:t>89 milhões de habitantes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62625" y="1325880"/>
            <a:ext cx="1525219" cy="141732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5590641" y="1545336"/>
            <a:ext cx="1269187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700" b="1">
                <a:solidFill>
                  <a:srgbClr val="14B8A6"/>
                </a:solidFill>
                <a:latin typeface="Cambria"/>
              </a:rPr>
              <a:t>3.131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72353" y="2039112"/>
            <a:ext cx="1305763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100"/>
              </a:spcAft>
            </a:pPr>
            <a:r>
              <a:rPr sz="850" b="0">
                <a:solidFill>
                  <a:srgbClr val="64748B"/>
                </a:solidFill>
                <a:latin typeface="Cambria"/>
              </a:rPr>
              <a:t>estabelecimentos</a:t>
            </a:r>
          </a:p>
          <a:p>
            <a:pPr algn="ctr">
              <a:lnSpc>
                <a:spcPct val="110000"/>
              </a:lnSpc>
              <a:spcAft>
                <a:spcPts val="100"/>
              </a:spcAft>
            </a:pPr>
            <a:r>
              <a:rPr sz="850" b="0">
                <a:solidFill>
                  <a:srgbClr val="64748B"/>
                </a:solidFill>
                <a:latin typeface="Cambria"/>
              </a:rPr>
              <a:t>com leito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15860" y="1325880"/>
            <a:ext cx="1525219" cy="141732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243876" y="1545336"/>
            <a:ext cx="1269187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700" b="1">
                <a:solidFill>
                  <a:srgbClr val="14B8A6"/>
                </a:solidFill>
                <a:latin typeface="Cambria"/>
              </a:rPr>
              <a:t>11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25588" y="2039112"/>
            <a:ext cx="1305763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100"/>
              </a:spcAft>
            </a:pPr>
            <a:r>
              <a:rPr sz="850" b="0">
                <a:solidFill>
                  <a:srgbClr val="64748B"/>
                </a:solidFill>
                <a:latin typeface="Cambria"/>
              </a:rPr>
              <a:t>tabelas na camada</a:t>
            </a:r>
          </a:p>
          <a:p>
            <a:pPr algn="ctr">
              <a:lnSpc>
                <a:spcPct val="110000"/>
              </a:lnSpc>
              <a:spcAft>
                <a:spcPts val="100"/>
              </a:spcAft>
            </a:pPr>
            <a:r>
              <a:rPr sz="850" b="0">
                <a:solidFill>
                  <a:srgbClr val="64748B"/>
                </a:solidFill>
                <a:latin typeface="Cambria"/>
              </a:rPr>
              <a:t>Gold do Oracle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023518" y="2898648"/>
            <a:ext cx="5096964" cy="16002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1" name="Picture 20" descr="eda_resumo_executiv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6670" y="2971800"/>
            <a:ext cx="4950660" cy="1453896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502920" y="4759452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50" b="0">
                <a:solidFill>
                  <a:srgbClr val="64748B"/>
                </a:solidFill>
                <a:latin typeface="Cambria"/>
              </a:rPr>
              <a:t>SaúdeViz · Challenge FIAP × Oracle 2026 · Sprint 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92440" y="4759452"/>
            <a:ext cx="548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750" b="0">
                <a:solidFill>
                  <a:srgbClr val="64748B"/>
                </a:solidFill>
                <a:latin typeface="Cambria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874519"/>
            <a:ext cx="146304" cy="13716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1920240"/>
            <a:ext cx="81381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14B8A6"/>
                </a:solidFill>
                <a:latin typeface="Cambria"/>
              </a:rPr>
              <a:t>1ª ENTREGA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286000"/>
            <a:ext cx="81381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Sprint 1 atualizada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880360"/>
            <a:ext cx="6858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Cambria"/>
              </a:rPr>
              <a:t>O que foi prometido, o que foi entregue e o que mudou de rota — com o motivo.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759452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50" b="0">
                <a:solidFill>
                  <a:srgbClr val="64748B"/>
                </a:solidFill>
                <a:latin typeface="Cambria"/>
              </a:rPr>
              <a:t>SaúdeViz · Challenge FIAP × Oracle 2026 · Sprint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92440" y="4759452"/>
            <a:ext cx="548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750" b="0">
                <a:solidFill>
                  <a:srgbClr val="64748B"/>
                </a:solidFill>
                <a:latin typeface="Cambria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81381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Cambria"/>
              </a:rPr>
              <a:t>O que mudou desde a Sprint 1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822960" cy="406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325880"/>
          <a:ext cx="8138159" cy="24871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18027"/>
                <a:gridCol w="4720132"/>
              </a:tblGrid>
              <a:tr h="276352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Cambria"/>
                        </a:rPr>
                        <a:t>Prometido na Sprint 1</a:t>
                      </a:r>
                    </a:p>
                  </a:txBody>
                  <a:tcPr anchor="ctr" marL="73152" marR="73152">
                    <a:solidFill>
                      <a:srgbClr val="0D948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Cambria"/>
                        </a:rPr>
                        <a:t>Situação</a:t>
                      </a:r>
                    </a:p>
                  </a:txBody>
                  <a:tcPr anchor="ctr" marL="73152" marR="73152">
                    <a:solidFill>
                      <a:srgbClr val="0D9488"/>
                    </a:solidFill>
                  </a:tcPr>
                </a:tc>
              </a:tr>
              <a:tr h="276352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E2E8F0"/>
                          </a:solidFill>
                          <a:latin typeface="Cambria"/>
                        </a:rPr>
                        <a:t>3 fontes: SQL, JSON e CSV</a:t>
                      </a:r>
                    </a:p>
                  </a:txBody>
                  <a:tcPr anchor="ctr" marL="73152" marR="73152"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14B8A6"/>
                          </a:solidFill>
                          <a:latin typeface="Cambria"/>
                        </a:rPr>
                        <a:t>✅ Entregue — e uma quarta, de clima</a:t>
                      </a:r>
                    </a:p>
                  </a:txBody>
                  <a:tcPr anchor="ctr" marL="73152" marR="73152">
                    <a:solidFill>
                      <a:srgbClr val="1E293B"/>
                    </a:solidFill>
                  </a:tcPr>
                </a:tc>
              </a:tr>
              <a:tr h="276352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E2E8F0"/>
                          </a:solidFill>
                          <a:latin typeface="Cambria"/>
                        </a:rPr>
                        <a:t>Medallion Bronze → Prata → Ouro</a:t>
                      </a:r>
                    </a:p>
                  </a:txBody>
                  <a:tcPr anchor="ctr" marL="73152" marR="73152">
                    <a:solidFill>
                      <a:srgbClr val="1E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14B8A6"/>
                          </a:solidFill>
                          <a:latin typeface="Cambria"/>
                        </a:rPr>
                        <a:t>✅ Entregue, em PySpark no Databricks</a:t>
                      </a:r>
                    </a:p>
                  </a:txBody>
                  <a:tcPr anchor="ctr" marL="73152" marR="73152">
                    <a:solidFill>
                      <a:srgbClr val="1E3A5F"/>
                    </a:solidFill>
                  </a:tcPr>
                </a:tc>
              </a:tr>
              <a:tr h="276352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E2E8F0"/>
                          </a:solidFill>
                          <a:latin typeface="Cambria"/>
                        </a:rPr>
                        <a:t>Oracle como camada Gold</a:t>
                      </a:r>
                    </a:p>
                  </a:txBody>
                  <a:tcPr anchor="ctr" marL="73152" marR="73152"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14B8A6"/>
                          </a:solidFill>
                          <a:latin typeface="Cambria"/>
                        </a:rPr>
                        <a:t>✅ Entregue, 11 tabelas T_SAUDE_*</a:t>
                      </a:r>
                    </a:p>
                  </a:txBody>
                  <a:tcPr anchor="ctr" marL="73152" marR="73152">
                    <a:solidFill>
                      <a:srgbClr val="1E293B"/>
                    </a:solidFill>
                  </a:tcPr>
                </a:tc>
              </a:tr>
              <a:tr h="276352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E2E8F0"/>
                          </a:solidFill>
                          <a:latin typeface="Cambria"/>
                        </a:rPr>
                        <a:t>Análise preditiva</a:t>
                      </a:r>
                    </a:p>
                  </a:txBody>
                  <a:tcPr anchor="ctr" marL="73152" marR="73152">
                    <a:solidFill>
                      <a:srgbClr val="1E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14B8A6"/>
                          </a:solidFill>
                          <a:latin typeface="Cambria"/>
                        </a:rPr>
                        <a:t>✅ Entregue, com validação temporal</a:t>
                      </a:r>
                    </a:p>
                  </a:txBody>
                  <a:tcPr anchor="ctr" marL="73152" marR="73152">
                    <a:solidFill>
                      <a:srgbClr val="1E3A5F"/>
                    </a:solidFill>
                  </a:tcPr>
                </a:tc>
              </a:tr>
              <a:tr h="276352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E2E8F0"/>
                          </a:solidFill>
                          <a:latin typeface="Cambria"/>
                        </a:rPr>
                        <a:t>Oracle Select AI</a:t>
                      </a:r>
                    </a:p>
                  </a:txBody>
                  <a:tcPr anchor="ctr" marL="73152" marR="73152"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F59E0B"/>
                          </a:solidFill>
                          <a:latin typeface="Cambria"/>
                        </a:rPr>
                        <a:t>⚠️ Indisponível no 19c — equivalente implementado</a:t>
                      </a:r>
                    </a:p>
                  </a:txBody>
                  <a:tcPr anchor="ctr" marL="73152" marR="73152">
                    <a:solidFill>
                      <a:srgbClr val="1E293B"/>
                    </a:solidFill>
                  </a:tcPr>
                </a:tc>
              </a:tr>
              <a:tr h="276352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E2E8F0"/>
                          </a:solidFill>
                          <a:latin typeface="Cambria"/>
                        </a:rPr>
                        <a:t>External Table do CSV</a:t>
                      </a:r>
                    </a:p>
                  </a:txBody>
                  <a:tcPr anchor="ctr" marL="73152" marR="73152">
                    <a:solidFill>
                      <a:srgbClr val="1E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F59E0B"/>
                          </a:solidFill>
                          <a:latin typeface="Cambria"/>
                        </a:rPr>
                        <a:t>⚠️ Sem privilégio na conta acadêmica — DDL entregue</a:t>
                      </a:r>
                    </a:p>
                  </a:txBody>
                  <a:tcPr anchor="ctr" marL="73152" marR="73152">
                    <a:solidFill>
                      <a:srgbClr val="1E3A5F"/>
                    </a:solidFill>
                  </a:tcPr>
                </a:tc>
              </a:tr>
              <a:tr h="276352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E2E8F0"/>
                          </a:solidFill>
                          <a:latin typeface="Cambria"/>
                        </a:rPr>
                        <a:t>Power BI</a:t>
                      </a:r>
                    </a:p>
                  </a:txBody>
                  <a:tcPr anchor="ctr" marL="73152" marR="73152"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64748B"/>
                          </a:solidFill>
                          <a:latin typeface="Cambria"/>
                        </a:rPr>
                        <a:t>🔄 Substituído por Streamlit</a:t>
                      </a:r>
                    </a:p>
                  </a:txBody>
                  <a:tcPr anchor="ctr" marL="73152" marR="73152">
                    <a:solidFill>
                      <a:srgbClr val="1E293B"/>
                    </a:solidFill>
                  </a:tcPr>
                </a:tc>
              </a:tr>
              <a:tr h="276352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E2E8F0"/>
                          </a:solidFill>
                          <a:latin typeface="Cambria"/>
                        </a:rPr>
                        <a:t>Cobertura nacional</a:t>
                      </a:r>
                    </a:p>
                  </a:txBody>
                  <a:tcPr anchor="ctr" marL="73152" marR="73152">
                    <a:solidFill>
                      <a:srgbClr val="1E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64748B"/>
                          </a:solidFill>
                          <a:latin typeface="Cambria"/>
                        </a:rPr>
                        <a:t>🔄 Recorte no Sudeste para o MVP</a:t>
                      </a:r>
                    </a:p>
                  </a:txBody>
                  <a:tcPr anchor="ctr" marL="73152" marR="73152">
                    <a:solidFill>
                      <a:srgbClr val="1E3A5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4759452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50" b="0">
                <a:solidFill>
                  <a:srgbClr val="64748B"/>
                </a:solidFill>
                <a:latin typeface="Cambria"/>
              </a:rPr>
              <a:t>SaúdeViz · Challenge FIAP × Oracle 2026 · Sprint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92440" y="4759452"/>
            <a:ext cx="548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750" b="0">
                <a:solidFill>
                  <a:srgbClr val="64748B"/>
                </a:solidFill>
                <a:latin typeface="Cambria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81381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Cambria"/>
              </a:rPr>
              <a:t>Quadro de gestão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822960" cy="406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69264"/>
            <a:ext cx="8138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64748B"/>
                </a:solidFill>
                <a:latin typeface="Cambria"/>
              </a:rPr>
              <a:t>Kanban público, com o que ficou por fazer no status real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608162"/>
            <a:ext cx="4920935" cy="2727275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" name="Picture 5" descr="trel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" y="1681314"/>
            <a:ext cx="4774631" cy="2580971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625023" y="1604137"/>
            <a:ext cx="3016057" cy="2735326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826191" y="1750441"/>
            <a:ext cx="2613721" cy="244271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850" b="0">
                <a:solidFill>
                  <a:srgbClr val="E2E8F0"/>
                </a:solidFill>
                <a:latin typeface="Consolas"/>
              </a:rPr>
              <a:t>QUADRO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850" b="0">
                <a:solidFill>
                  <a:srgbClr val="E2E8F0"/>
                </a:solidFill>
                <a:latin typeface="Consolas"/>
              </a:rPr>
              <a:t>trello.com/b/3XTAInGQ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850" b="0">
                <a:solidFill>
                  <a:srgbClr val="E2E8F0"/>
                </a:solidFill>
                <a:latin typeface="Consolas"/>
              </a:rPr>
              <a:t/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850" b="0">
                <a:solidFill>
                  <a:srgbClr val="E2E8F0"/>
                </a:solidFill>
                <a:latin typeface="Consolas"/>
              </a:rPr>
              <a:t>44 cartões · 5 listas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850" b="0">
                <a:solidFill>
                  <a:srgbClr val="E2E8F0"/>
                </a:solidFill>
                <a:latin typeface="Consolas"/>
              </a:rPr>
              <a:t/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850" b="0">
                <a:solidFill>
                  <a:srgbClr val="E2E8F0"/>
                </a:solidFill>
                <a:latin typeface="Consolas"/>
              </a:rPr>
              <a:t>Sprint 1              8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850" b="0">
                <a:solidFill>
                  <a:srgbClr val="E2E8F0"/>
                </a:solidFill>
                <a:latin typeface="Consolas"/>
              </a:rPr>
              <a:t>Concluído           23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850" b="0">
                <a:solidFill>
                  <a:srgbClr val="E2E8F0"/>
                </a:solidFill>
                <a:latin typeface="Consolas"/>
              </a:rPr>
              <a:t>Em andamento         2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850" b="0">
                <a:solidFill>
                  <a:srgbClr val="E2E8F0"/>
                </a:solidFill>
                <a:latin typeface="Consolas"/>
              </a:rPr>
              <a:t>A fazer              5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850" b="0">
                <a:solidFill>
                  <a:srgbClr val="E2E8F0"/>
                </a:solidFill>
                <a:latin typeface="Consolas"/>
              </a:rPr>
              <a:t>Não implementado     5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850" b="0">
                <a:solidFill>
                  <a:srgbClr val="E2E8F0"/>
                </a:solidFill>
                <a:latin typeface="Consolas"/>
              </a:rPr>
              <a:t/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850" b="0">
                <a:solidFill>
                  <a:srgbClr val="E2E8F0"/>
                </a:solidFill>
                <a:latin typeface="Consolas"/>
              </a:rPr>
              <a:t>A quinta lista é a que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850" b="0">
                <a:solidFill>
                  <a:srgbClr val="E2E8F0"/>
                </a:solidFill>
                <a:latin typeface="Consolas"/>
              </a:rPr>
              <a:t>mostra decisão de escopo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850" b="0">
                <a:solidFill>
                  <a:srgbClr val="E2E8F0"/>
                </a:solidFill>
                <a:latin typeface="Consolas"/>
              </a:rPr>
              <a:t>em vez de esquecimento.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4759452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50" b="0">
                <a:solidFill>
                  <a:srgbClr val="64748B"/>
                </a:solidFill>
                <a:latin typeface="Cambria"/>
              </a:rPr>
              <a:t>SaúdeViz · Challenge FIAP × Oracle 2026 · Sprint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2440" y="4759452"/>
            <a:ext cx="548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750" b="0">
                <a:solidFill>
                  <a:srgbClr val="64748B"/>
                </a:solidFill>
                <a:latin typeface="Cambria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874519"/>
            <a:ext cx="146304" cy="13716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1920240"/>
            <a:ext cx="81381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14B8A6"/>
                </a:solidFill>
                <a:latin typeface="Cambria"/>
              </a:rPr>
              <a:t>2ª ENTREGA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286000"/>
            <a:ext cx="81381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MVP implementado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880360"/>
            <a:ext cx="6858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Cambria"/>
              </a:rPr>
              <a:t>Painel público conectado ao Oracle da FIAP em tempo real.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759452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50" b="0">
                <a:solidFill>
                  <a:srgbClr val="64748B"/>
                </a:solidFill>
                <a:latin typeface="Cambria"/>
              </a:rPr>
              <a:t>SaúdeViz · Challenge FIAP × Oracle 2026 · Sprint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92440" y="4759452"/>
            <a:ext cx="548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750" b="0">
                <a:solidFill>
                  <a:srgbClr val="64748B"/>
                </a:solidFill>
                <a:latin typeface="Cambria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81381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Cambria"/>
              </a:rPr>
              <a:t>O painel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822960" cy="406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69264"/>
            <a:ext cx="8138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64748B"/>
                </a:solidFill>
                <a:latin typeface="Cambria"/>
              </a:rPr>
              <a:t>saudeviz.streamlit.app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297547" y="1325880"/>
            <a:ext cx="6548906" cy="27889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" name="Picture 5" descr="painel_01_visao_ger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0699" y="1399032"/>
            <a:ext cx="6402602" cy="264261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4224528"/>
            <a:ext cx="81381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50" b="0">
                <a:solidFill>
                  <a:srgbClr val="64748B"/>
                </a:solidFill>
                <a:latin typeface="Cambria"/>
              </a:rPr>
              <a:t>Cinco páginas. O selo na barra lateral mostra se o dado veio do Oracle ou do retrato local — resultado de contingência nunca se passa por dado ao vivo.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759452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50" b="0">
                <a:solidFill>
                  <a:srgbClr val="64748B"/>
                </a:solidFill>
                <a:latin typeface="Cambria"/>
              </a:rPr>
              <a:t>SaúdeViz · Challenge FIAP × Oracle 2026 · Sprint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92440" y="4759452"/>
            <a:ext cx="548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750" b="0">
                <a:solidFill>
                  <a:srgbClr val="64748B"/>
                </a:solidFill>
                <a:latin typeface="Cambria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81381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Cambria"/>
              </a:rPr>
              <a:t>Onde a capacidade foi ultrapassada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822960" cy="406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69264"/>
            <a:ext cx="8138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64748B"/>
                </a:solidFill>
                <a:latin typeface="Cambria"/>
              </a:rPr>
              <a:t>Classificação por município e mês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670767"/>
            <a:ext cx="5714634" cy="2602065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" name="Picture 5" descr="painel_02_capacidade_stat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" y="1743919"/>
            <a:ext cx="5568330" cy="2455761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418722" y="2075688"/>
            <a:ext cx="2222358" cy="1792224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619890" y="2221992"/>
            <a:ext cx="1820022" cy="14996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900" b="0">
                <a:solidFill>
                  <a:srgbClr val="E2E8F0"/>
                </a:solidFill>
                <a:latin typeface="Consolas"/>
              </a:rPr>
              <a:t>Folga           8.466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900" b="0">
                <a:solidFill>
                  <a:srgbClr val="E2E8F0"/>
                </a:solidFill>
                <a:latin typeface="Consolas"/>
              </a:rPr>
              <a:t>Adequada        1.043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900" b="0">
                <a:solidFill>
                  <a:srgbClr val="E2E8F0"/>
                </a:solidFill>
                <a:latin typeface="Consolas"/>
              </a:rPr>
              <a:t>Atenção           223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900" b="0">
                <a:solidFill>
                  <a:srgbClr val="E2E8F0"/>
                </a:solidFill>
                <a:latin typeface="Consolas"/>
              </a:rPr>
              <a:t>Crítica            16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900" b="0">
                <a:solidFill>
                  <a:srgbClr val="E2E8F0"/>
                </a:solidFill>
                <a:latin typeface="Consolas"/>
              </a:rPr>
              <a:t/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900" b="0">
                <a:solidFill>
                  <a:srgbClr val="E2E8F0"/>
                </a:solidFill>
                <a:latin typeface="Consolas"/>
              </a:rPr>
              <a:t>município-mês, em 823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900" b="0">
                <a:solidFill>
                  <a:srgbClr val="E2E8F0"/>
                </a:solidFill>
                <a:latin typeface="Consolas"/>
              </a:rPr>
              <a:t>municípios com internação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900" b="0">
                <a:solidFill>
                  <a:srgbClr val="E2E8F0"/>
                </a:solidFill>
                <a:latin typeface="Consolas"/>
              </a:rPr>
              <a:t>registrada em 2024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4759452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50" b="0">
                <a:solidFill>
                  <a:srgbClr val="64748B"/>
                </a:solidFill>
                <a:latin typeface="Cambria"/>
              </a:rPr>
              <a:t>SaúdeViz · Challenge FIAP × Oracle 2026 · Sprint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2440" y="4759452"/>
            <a:ext cx="548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750" b="0">
                <a:solidFill>
                  <a:srgbClr val="64748B"/>
                </a:solidFill>
                <a:latin typeface="Cambria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81381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Cambria"/>
              </a:rPr>
              <a:t>Municípios sob pressão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822960" cy="406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223855" y="1325880"/>
            <a:ext cx="6696289" cy="27889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" name="Picture 4" descr="painel_03_capacidade_critic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7007" y="1399032"/>
            <a:ext cx="6549985" cy="264261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4224528"/>
            <a:ext cx="81381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50" b="0">
                <a:solidFill>
                  <a:srgbClr val="64748B"/>
                </a:solidFill>
                <a:latin typeface="Cambria"/>
              </a:rPr>
              <a:t>Ocupação acima de 1,0 é alerta para investigar, não prova de colapso: pode ser sobrecarga real, leito desatualizado no CNES ou município-polo atendendo toda uma região.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759452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50" b="0">
                <a:solidFill>
                  <a:srgbClr val="64748B"/>
                </a:solidFill>
                <a:latin typeface="Cambria"/>
              </a:rPr>
              <a:t>SaúdeViz · Challenge FIAP × Oracle 2026 · Sprint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92440" y="4759452"/>
            <a:ext cx="548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750" b="0">
                <a:solidFill>
                  <a:srgbClr val="64748B"/>
                </a:solidFill>
                <a:latin typeface="Cambria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81381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Cambria"/>
              </a:rPr>
              <a:t>Quais perfis pressionam mais o sistema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822960" cy="406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69264"/>
            <a:ext cx="8138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64748B"/>
                </a:solidFill>
                <a:latin typeface="Cambria"/>
              </a:rPr>
              <a:t>Pressão relativa: participação nos leitos-dia ÷ participação nas internações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935345"/>
            <a:ext cx="4920935" cy="2072909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" name="Picture 5" descr="painel_04_perfis_pressa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" y="2008497"/>
            <a:ext cx="4774631" cy="1926605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625023" y="1689417"/>
            <a:ext cx="3016057" cy="2564765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826191" y="1835721"/>
            <a:ext cx="2613721" cy="227215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850" b="0">
                <a:solidFill>
                  <a:srgbClr val="E2E8F0"/>
                </a:solidFill>
                <a:latin typeface="Consolas"/>
              </a:rPr>
              <a:t>TRANSTORNOS MENTAIS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850" b="0">
                <a:solidFill>
                  <a:srgbClr val="E2E8F0"/>
                </a:solidFill>
                <a:latin typeface="Consolas"/>
              </a:rPr>
              <a:t/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850" b="0">
                <a:solidFill>
                  <a:srgbClr val="E2E8F0"/>
                </a:solidFill>
                <a:latin typeface="Consolas"/>
              </a:rPr>
              <a:t>1,9% das internações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850" b="0">
                <a:solidFill>
                  <a:srgbClr val="E2E8F0"/>
                </a:solidFill>
                <a:latin typeface="Consolas"/>
              </a:rPr>
              <a:t>4,1% dos leitos-dia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850" b="0">
                <a:solidFill>
                  <a:srgbClr val="E2E8F0"/>
                </a:solidFill>
                <a:latin typeface="Consolas"/>
              </a:rPr>
              <a:t/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850" b="0">
                <a:solidFill>
                  <a:srgbClr val="E2E8F0"/>
                </a:solidFill>
                <a:latin typeface="Consolas"/>
              </a:rPr>
              <a:t>pressão relativa  2,15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850" b="0">
                <a:solidFill>
                  <a:srgbClr val="E2E8F0"/>
                </a:solidFill>
                <a:latin typeface="Consolas"/>
              </a:rPr>
              <a:t>permanência      10,4 d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850" b="0">
                <a:solidFill>
                  <a:srgbClr val="E2E8F0"/>
                </a:solidFill>
                <a:latin typeface="Consolas"/>
              </a:rPr>
              <a:t>custo médio      R$ 521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850" b="0">
                <a:solidFill>
                  <a:srgbClr val="E2E8F0"/>
                </a:solidFill>
                <a:latin typeface="Consolas"/>
              </a:rPr>
              <a:t/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850" b="0">
                <a:solidFill>
                  <a:srgbClr val="E2E8F0"/>
                </a:solidFill>
                <a:latin typeface="Consolas"/>
              </a:rPr>
              <a:t>Ocupa leito e não consome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850" b="0">
                <a:solidFill>
                  <a:srgbClr val="E2E8F0"/>
                </a:solidFill>
                <a:latin typeface="Consolas"/>
              </a:rPr>
              <a:t>orçamento. Invisível num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850" b="0">
                <a:solidFill>
                  <a:srgbClr val="E2E8F0"/>
                </a:solidFill>
                <a:latin typeface="Consolas"/>
              </a:rPr>
              <a:t>painel que só conta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850" b="0">
                <a:solidFill>
                  <a:srgbClr val="E2E8F0"/>
                </a:solidFill>
                <a:latin typeface="Consolas"/>
              </a:rPr>
              <a:t>atendimentos.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4759452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50" b="0">
                <a:solidFill>
                  <a:srgbClr val="64748B"/>
                </a:solidFill>
                <a:latin typeface="Cambria"/>
              </a:rPr>
              <a:t>SaúdeViz · Challenge FIAP × Oracle 2026 · Sprint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2440" y="4759452"/>
            <a:ext cx="548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750" b="0">
                <a:solidFill>
                  <a:srgbClr val="64748B"/>
                </a:solidFill>
                <a:latin typeface="Cambria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874519"/>
            <a:ext cx="146304" cy="13716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1920240"/>
            <a:ext cx="81381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14B8A6"/>
                </a:solidFill>
                <a:latin typeface="Cambria"/>
              </a:rPr>
              <a:t>3ª ENTREGA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286000"/>
            <a:ext cx="81381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Arquitetura final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880360"/>
            <a:ext cx="6858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Cambria"/>
              </a:rPr>
              <a:t>Quatro fontes públicas, Medallion no Databricks, camada de consumo no Oracle.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759452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50" b="0">
                <a:solidFill>
                  <a:srgbClr val="64748B"/>
                </a:solidFill>
                <a:latin typeface="Cambria"/>
              </a:rPr>
              <a:t>SaúdeViz · Challenge FIAP × Oracle 2026 · Sprint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92440" y="4759452"/>
            <a:ext cx="548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750" b="0">
                <a:solidFill>
                  <a:srgbClr val="64748B"/>
                </a:solidFill>
                <a:latin typeface="Cambria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arquitetura_soluca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354330"/>
            <a:ext cx="8869680" cy="44348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4759452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50" b="0">
                <a:solidFill>
                  <a:srgbClr val="64748B"/>
                </a:solidFill>
                <a:latin typeface="Cambria"/>
              </a:rPr>
              <a:t>SaúdeViz · Challenge FIAP × Oracle 2026 · Sprint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92440" y="4759452"/>
            <a:ext cx="548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750" b="0">
                <a:solidFill>
                  <a:srgbClr val="64748B"/>
                </a:solidFill>
                <a:latin typeface="Cambria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81381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Cambria"/>
              </a:rPr>
              <a:t>O que roda onde, e por quê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822960" cy="406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325880"/>
          <a:ext cx="8138159" cy="13898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15921"/>
                <a:gridCol w="1627632"/>
                <a:gridCol w="4394606"/>
              </a:tblGrid>
              <a:tr h="277977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Cambria"/>
                        </a:rPr>
                        <a:t>Etapa</a:t>
                      </a:r>
                    </a:p>
                  </a:txBody>
                  <a:tcPr anchor="ctr" marL="73152" marR="73152">
                    <a:solidFill>
                      <a:srgbClr val="0D948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Cambria"/>
                        </a:rPr>
                        <a:t>Onde</a:t>
                      </a:r>
                    </a:p>
                  </a:txBody>
                  <a:tcPr anchor="ctr" marL="73152" marR="73152">
                    <a:solidFill>
                      <a:srgbClr val="0D948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Cambria"/>
                        </a:rPr>
                        <a:t>Motivo</a:t>
                      </a:r>
                    </a:p>
                  </a:txBody>
                  <a:tcPr anchor="ctr" marL="73152" marR="73152">
                    <a:solidFill>
                      <a:srgbClr val="0D9488"/>
                    </a:solidFill>
                  </a:tcPr>
                </a:tc>
              </a:tr>
              <a:tr h="277977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E2E8F0"/>
                          </a:solidFill>
                          <a:latin typeface="Cambria"/>
                        </a:rPr>
                        <a:t>Download e decode .dbc</a:t>
                      </a:r>
                    </a:p>
                  </a:txBody>
                  <a:tcPr anchor="ctr" marL="73152" marR="73152"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E2E8F0"/>
                          </a:solidFill>
                          <a:latin typeface="Cambria"/>
                        </a:rPr>
                        <a:t>Estação local</a:t>
                      </a:r>
                    </a:p>
                  </a:txBody>
                  <a:tcPr anchor="ctr" marL="73152" marR="73152"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E2E8F0"/>
                          </a:solidFill>
                          <a:latin typeface="Cambria"/>
                        </a:rPr>
                        <a:t>Formato proprietário do DATASUS, exige extensão C e FTP</a:t>
                      </a:r>
                    </a:p>
                  </a:txBody>
                  <a:tcPr anchor="ctr" marL="73152" marR="73152">
                    <a:solidFill>
                      <a:srgbClr val="1E293B"/>
                    </a:solidFill>
                  </a:tcPr>
                </a:tc>
              </a:tr>
              <a:tr h="277977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E2E8F0"/>
                          </a:solidFill>
                          <a:latin typeface="Cambria"/>
                        </a:rPr>
                        <a:t>Bronze, Prata, Ouro</a:t>
                      </a:r>
                    </a:p>
                  </a:txBody>
                  <a:tcPr anchor="ctr" marL="73152" marR="73152">
                    <a:solidFill>
                      <a:srgbClr val="1E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E2E8F0"/>
                          </a:solidFill>
                          <a:latin typeface="Cambria"/>
                        </a:rPr>
                        <a:t>Databricks</a:t>
                      </a:r>
                    </a:p>
                  </a:txBody>
                  <a:tcPr anchor="ctr" marL="73152" marR="73152">
                    <a:solidFill>
                      <a:srgbClr val="1E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E2E8F0"/>
                          </a:solidFill>
                          <a:latin typeface="Cambria"/>
                        </a:rPr>
                        <a:t>PySpark sobre tabelas Delta</a:t>
                      </a:r>
                    </a:p>
                  </a:txBody>
                  <a:tcPr anchor="ctr" marL="73152" marR="73152">
                    <a:solidFill>
                      <a:srgbClr val="1E3A5F"/>
                    </a:solidFill>
                  </a:tcPr>
                </a:tc>
              </a:tr>
              <a:tr h="277977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E2E8F0"/>
                          </a:solidFill>
                          <a:latin typeface="Cambria"/>
                        </a:rPr>
                        <a:t>Camada Gold</a:t>
                      </a:r>
                    </a:p>
                  </a:txBody>
                  <a:tcPr anchor="ctr" marL="73152" marR="73152"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E2E8F0"/>
                          </a:solidFill>
                          <a:latin typeface="Cambria"/>
                        </a:rPr>
                        <a:t>Oracle 19c FIAP</a:t>
                      </a:r>
                    </a:p>
                  </a:txBody>
                  <a:tcPr anchor="ctr" marL="73152" marR="73152"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E2E8F0"/>
                          </a:solidFill>
                          <a:latin typeface="Cambria"/>
                        </a:rPr>
                        <a:t>Camada de serviço consultada pelo painel</a:t>
                      </a:r>
                    </a:p>
                  </a:txBody>
                  <a:tcPr anchor="ctr" marL="73152" marR="73152">
                    <a:solidFill>
                      <a:srgbClr val="1E293B"/>
                    </a:solidFill>
                  </a:tcPr>
                </a:tc>
              </a:tr>
              <a:tr h="277980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E2E8F0"/>
                          </a:solidFill>
                          <a:latin typeface="Cambria"/>
                        </a:rPr>
                        <a:t>Painel e NL→SQL</a:t>
                      </a:r>
                    </a:p>
                  </a:txBody>
                  <a:tcPr anchor="ctr" marL="73152" marR="73152">
                    <a:solidFill>
                      <a:srgbClr val="1E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E2E8F0"/>
                          </a:solidFill>
                          <a:latin typeface="Cambria"/>
                        </a:rPr>
                        <a:t>Streamlit Cloud</a:t>
                      </a:r>
                    </a:p>
                  </a:txBody>
                  <a:tcPr anchor="ctr" marL="73152" marR="73152">
                    <a:solidFill>
                      <a:srgbClr val="1E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E2E8F0"/>
                          </a:solidFill>
                          <a:latin typeface="Cambria"/>
                        </a:rPr>
                        <a:t>Link público, código versionado</a:t>
                      </a:r>
                    </a:p>
                  </a:txBody>
                  <a:tcPr anchor="ctr" marL="73152" marR="73152">
                    <a:solidFill>
                      <a:srgbClr val="1E3A5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4759452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50" b="0">
                <a:solidFill>
                  <a:srgbClr val="64748B"/>
                </a:solidFill>
                <a:latin typeface="Cambria"/>
              </a:rPr>
              <a:t>SaúdeViz · Challenge FIAP × Oracle 2026 · Sprint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92440" y="4759452"/>
            <a:ext cx="548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750" b="0">
                <a:solidFill>
                  <a:srgbClr val="64748B"/>
                </a:solidFill>
                <a:latin typeface="Cambria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81381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Cambria"/>
              </a:rPr>
              <a:t>Medallion materializada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822960" cy="406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69264"/>
            <a:ext cx="8138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64748B"/>
                </a:solidFill>
                <a:latin typeface="Cambria"/>
              </a:rPr>
              <a:t>Catálogo do Unity Catalog, não desenho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63972" y="1325880"/>
            <a:ext cx="1416055" cy="27889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" name="Picture 5" descr="databricks_catalog_medall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7124" y="1399032"/>
            <a:ext cx="1269751" cy="264261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4224528"/>
            <a:ext cx="81381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50" b="0">
                <a:solidFill>
                  <a:srgbClr val="64748B"/>
                </a:solidFill>
                <a:latin typeface="Cambria"/>
              </a:rPr>
              <a:t>As três camadas existem como schemas reais no Databricks.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759452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50" b="0">
                <a:solidFill>
                  <a:srgbClr val="64748B"/>
                </a:solidFill>
                <a:latin typeface="Cambria"/>
              </a:rPr>
              <a:t>SaúdeViz · Challenge FIAP × Oracle 2026 · Sprint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92440" y="4759452"/>
            <a:ext cx="548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750" b="0">
                <a:solidFill>
                  <a:srgbClr val="64748B"/>
                </a:solidFill>
                <a:latin typeface="Cambria"/>
              </a:rPr>
              <a:t>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81381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Cambria"/>
              </a:rPr>
              <a:t>A camada Gold no Oracle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822960" cy="406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1353193"/>
            <a:ext cx="3977640" cy="3237213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" name="Picture 4" descr="oracle_contagem_tabel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" y="1426345"/>
            <a:ext cx="3831336" cy="3090909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4663440" y="2007296"/>
            <a:ext cx="3977640" cy="1929007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oracle_arvore_tabela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6592" y="2080448"/>
            <a:ext cx="3831336" cy="178270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4759452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50" b="0">
                <a:solidFill>
                  <a:srgbClr val="64748B"/>
                </a:solidFill>
                <a:latin typeface="Cambria"/>
              </a:rPr>
              <a:t>SaúdeViz · Challenge FIAP × Oracle 2026 · Sprint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92440" y="4759452"/>
            <a:ext cx="548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750" b="0">
                <a:solidFill>
                  <a:srgbClr val="64748B"/>
                </a:solidFill>
                <a:latin typeface="Cambria"/>
              </a:rPr>
              <a:t>15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81381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Cambria"/>
              </a:rPr>
              <a:t>Integridade do modelo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822960" cy="406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69264"/>
            <a:ext cx="8138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64748B"/>
                </a:solidFill>
                <a:latin typeface="Cambria"/>
              </a:rPr>
              <a:t>Três tabelas construídas por caminhos diferentes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662528"/>
            <a:ext cx="4762195" cy="2618543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" name="Picture 5" descr="oracle_integridade_tota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" y="1735680"/>
            <a:ext cx="4615891" cy="2472239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466283" y="1714500"/>
            <a:ext cx="3174797" cy="25146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7451" y="1860804"/>
            <a:ext cx="2772461" cy="22219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900" b="0">
                <a:solidFill>
                  <a:srgbClr val="E2E8F0"/>
                </a:solidFill>
                <a:latin typeface="Consolas"/>
              </a:rPr>
              <a:t>Fato de internações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900" b="0">
                <a:solidFill>
                  <a:srgbClr val="E2E8F0"/>
                </a:solidFill>
                <a:latin typeface="Consolas"/>
              </a:rPr>
              <a:t>         5.546.817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900" b="0">
                <a:solidFill>
                  <a:srgbClr val="E2E8F0"/>
                </a:solidFill>
                <a:latin typeface="Consolas"/>
              </a:rPr>
              <a:t/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900" b="0">
                <a:solidFill>
                  <a:srgbClr val="E2E8F0"/>
                </a:solidFill>
                <a:latin typeface="Consolas"/>
              </a:rPr>
              <a:t>Indicador de capacidade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900" b="0">
                <a:solidFill>
                  <a:srgbClr val="E2E8F0"/>
                </a:solidFill>
                <a:latin typeface="Consolas"/>
              </a:rPr>
              <a:t>         5.546.817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900" b="0">
                <a:solidFill>
                  <a:srgbClr val="E2E8F0"/>
                </a:solidFill>
                <a:latin typeface="Consolas"/>
              </a:rPr>
              <a:t/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900" b="0">
                <a:solidFill>
                  <a:srgbClr val="E2E8F0"/>
                </a:solidFill>
                <a:latin typeface="Consolas"/>
              </a:rPr>
              <a:t>Ranking de hospitais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900" b="0">
                <a:solidFill>
                  <a:srgbClr val="E2E8F0"/>
                </a:solidFill>
                <a:latin typeface="Consolas"/>
              </a:rPr>
              <a:t>         5.546.817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900" b="0">
                <a:solidFill>
                  <a:srgbClr val="E2E8F0"/>
                </a:solidFill>
                <a:latin typeface="Consolas"/>
              </a:rPr>
              <a:t/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900" b="0">
                <a:solidFill>
                  <a:srgbClr val="E2E8F0"/>
                </a:solidFill>
                <a:latin typeface="Consolas"/>
              </a:rPr>
              <a:t>Mesmo total.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900" b="0">
                <a:solidFill>
                  <a:srgbClr val="E2E8F0"/>
                </a:solidFill>
                <a:latin typeface="Consolas"/>
              </a:rPr>
              <a:t>Nenhuma internação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900" b="0">
                <a:solidFill>
                  <a:srgbClr val="E2E8F0"/>
                </a:solidFill>
                <a:latin typeface="Consolas"/>
              </a:rPr>
              <a:t>perdida ou duplicada.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4759452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50" b="0">
                <a:solidFill>
                  <a:srgbClr val="64748B"/>
                </a:solidFill>
                <a:latin typeface="Cambria"/>
              </a:rPr>
              <a:t>SaúdeViz · Challenge FIAP × Oracle 2026 · Sprint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2440" y="4759452"/>
            <a:ext cx="548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750" b="0">
                <a:solidFill>
                  <a:srgbClr val="64748B"/>
                </a:solidFill>
                <a:latin typeface="Cambria"/>
              </a:rPr>
              <a:t>16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81381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Cambria"/>
              </a:rPr>
              <a:t>O que não foi implementado, e por quê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822960" cy="406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69264"/>
            <a:ext cx="8138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64748B"/>
                </a:solidFill>
                <a:latin typeface="Cambria"/>
              </a:rPr>
              <a:t>Decisão registrada, não omissão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325880"/>
          <a:ext cx="8138159" cy="13898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7632"/>
                <a:gridCol w="3418027"/>
                <a:gridCol w="3092500"/>
              </a:tblGrid>
              <a:tr h="277977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Cambria"/>
                        </a:rPr>
                        <a:t>Item</a:t>
                      </a:r>
                    </a:p>
                  </a:txBody>
                  <a:tcPr anchor="ctr" marL="73152" marR="73152">
                    <a:solidFill>
                      <a:srgbClr val="0D948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Cambria"/>
                        </a:rPr>
                        <a:t>Motivo</a:t>
                      </a:r>
                    </a:p>
                  </a:txBody>
                  <a:tcPr anchor="ctr" marL="73152" marR="73152">
                    <a:solidFill>
                      <a:srgbClr val="0D948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Cambria"/>
                        </a:rPr>
                        <a:t>O que foi entregue</a:t>
                      </a:r>
                    </a:p>
                  </a:txBody>
                  <a:tcPr anchor="ctr" marL="73152" marR="73152">
                    <a:solidFill>
                      <a:srgbClr val="0D9488"/>
                    </a:solidFill>
                  </a:tcPr>
                </a:tc>
              </a:tr>
              <a:tr h="277977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E2E8F0"/>
                          </a:solidFill>
                          <a:latin typeface="Cambria"/>
                        </a:rPr>
                        <a:t>Oracle Select AI</a:t>
                      </a:r>
                    </a:p>
                  </a:txBody>
                  <a:tcPr anchor="ctr" marL="73152" marR="73152"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E2E8F0"/>
                          </a:solidFill>
                          <a:latin typeface="Cambria"/>
                        </a:rPr>
                        <a:t>Exige Autonomous. Verificado em all_objects: o 19c da FIAP não tem DBMS_CLOUD_AI</a:t>
                      </a:r>
                    </a:p>
                  </a:txBody>
                  <a:tcPr anchor="ctr" marL="73152" marR="73152"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E2E8F0"/>
                          </a:solidFill>
                          <a:latin typeface="Cambria"/>
                        </a:rPr>
                        <a:t>Tradutor NL→SQL sobre os mesmos metadados + script pronto</a:t>
                      </a:r>
                    </a:p>
                  </a:txBody>
                  <a:tcPr anchor="ctr" marL="73152" marR="73152">
                    <a:solidFill>
                      <a:srgbClr val="1E293B"/>
                    </a:solidFill>
                  </a:tcPr>
                </a:tc>
              </a:tr>
              <a:tr h="277977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E2E8F0"/>
                          </a:solidFill>
                          <a:latin typeface="Cambria"/>
                        </a:rPr>
                        <a:t>External Table</a:t>
                      </a:r>
                    </a:p>
                  </a:txBody>
                  <a:tcPr anchor="ctr" marL="73152" marR="73152">
                    <a:solidFill>
                      <a:srgbClr val="1E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E2E8F0"/>
                          </a:solidFill>
                          <a:latin typeface="Cambria"/>
                        </a:rPr>
                        <a:t>Conta acadêmica sem CREATE ANY DIRECTORY</a:t>
                      </a:r>
                    </a:p>
                  </a:txBody>
                  <a:tcPr anchor="ctr" marL="73152" marR="73152">
                    <a:solidFill>
                      <a:srgbClr val="1E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E2E8F0"/>
                          </a:solidFill>
                          <a:latin typeface="Cambria"/>
                        </a:rPr>
                        <a:t>CSV como tabela comum; DDL documentado</a:t>
                      </a:r>
                    </a:p>
                  </a:txBody>
                  <a:tcPr anchor="ctr" marL="73152" marR="73152">
                    <a:solidFill>
                      <a:srgbClr val="1E3A5F"/>
                    </a:solidFill>
                  </a:tcPr>
                </a:tc>
              </a:tr>
              <a:tr h="277977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E2E8F0"/>
                          </a:solidFill>
                          <a:latin typeface="Cambria"/>
                        </a:rPr>
                        <a:t>Cobertura nacional</a:t>
                      </a:r>
                    </a:p>
                  </a:txBody>
                  <a:tcPr anchor="ctr" marL="73152" marR="73152"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E2E8F0"/>
                          </a:solidFill>
                          <a:latin typeface="Cambria"/>
                        </a:rPr>
                        <a:t>Recorte no Sudeste para viabilizar o MVP</a:t>
                      </a:r>
                    </a:p>
                  </a:txBody>
                  <a:tcPr anchor="ctr" marL="73152" marR="73152"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E2E8F0"/>
                          </a:solidFill>
                          <a:latin typeface="Cambria"/>
                        </a:rPr>
                        <a:t>Pipeline parametrizado por UF</a:t>
                      </a:r>
                    </a:p>
                  </a:txBody>
                  <a:tcPr anchor="ctr" marL="73152" marR="73152">
                    <a:solidFill>
                      <a:srgbClr val="1E293B"/>
                    </a:solidFill>
                  </a:tcPr>
                </a:tc>
              </a:tr>
              <a:tr h="277980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E2E8F0"/>
                          </a:solidFill>
                          <a:latin typeface="Cambria"/>
                        </a:rPr>
                        <a:t>Clusterização K-Means</a:t>
                      </a:r>
                    </a:p>
                  </a:txBody>
                  <a:tcPr anchor="ctr" marL="73152" marR="73152">
                    <a:solidFill>
                      <a:srgbClr val="1E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E2E8F0"/>
                          </a:solidFill>
                          <a:latin typeface="Cambria"/>
                        </a:rPr>
                        <a:t>Cortada por prazo</a:t>
                      </a:r>
                    </a:p>
                  </a:txBody>
                  <a:tcPr anchor="ctr" marL="73152" marR="73152">
                    <a:solidFill>
                      <a:srgbClr val="1E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E2E8F0"/>
                          </a:solidFill>
                          <a:latin typeface="Cambria"/>
                        </a:rPr>
                        <a:t>Código de referência no repositório</a:t>
                      </a:r>
                    </a:p>
                  </a:txBody>
                  <a:tcPr anchor="ctr" marL="73152" marR="73152">
                    <a:solidFill>
                      <a:srgbClr val="1E3A5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" y="4759452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50" b="0">
                <a:solidFill>
                  <a:srgbClr val="64748B"/>
                </a:solidFill>
                <a:latin typeface="Cambria"/>
              </a:rPr>
              <a:t>SaúdeViz · Challenge FIAP × Oracle 2026 · Sprint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92440" y="4759452"/>
            <a:ext cx="548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750" b="0">
                <a:solidFill>
                  <a:srgbClr val="64748B"/>
                </a:solidFill>
                <a:latin typeface="Cambria"/>
              </a:rPr>
              <a:t>17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874519"/>
            <a:ext cx="146304" cy="13716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1920240"/>
            <a:ext cx="81381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14B8A6"/>
                </a:solidFill>
                <a:latin typeface="Cambria"/>
              </a:rPr>
              <a:t>4ª ENTREGA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286000"/>
            <a:ext cx="81381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Modelos e técnicas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880360"/>
            <a:ext cx="6858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Cambria"/>
              </a:rPr>
              <a:t>Ingestão das fontes, a descoberta que reorientou o projeto, estatística e previsão.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759452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50" b="0">
                <a:solidFill>
                  <a:srgbClr val="64748B"/>
                </a:solidFill>
                <a:latin typeface="Cambria"/>
              </a:rPr>
              <a:t>SaúdeViz · Challenge FIAP × Oracle 2026 · Sprint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92440" y="4759452"/>
            <a:ext cx="548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750" b="0">
                <a:solidFill>
                  <a:srgbClr val="64748B"/>
                </a:solidFill>
                <a:latin typeface="Cambria"/>
              </a:rPr>
              <a:t>18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81381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Cambria"/>
              </a:rPr>
              <a:t>As fontes e seus formatos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822960" cy="406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69264"/>
            <a:ext cx="8138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64748B"/>
                </a:solidFill>
                <a:latin typeface="Cambria"/>
              </a:rPr>
              <a:t>Três formatos exigidos pelo desafio, mais uma quarta fonte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325880"/>
            <a:ext cx="7487107" cy="2554732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04088" y="1472184"/>
            <a:ext cx="7084771" cy="22621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 b="0">
                <a:solidFill>
                  <a:srgbClr val="14B8A6"/>
                </a:solidFill>
                <a:latin typeface="Consolas"/>
              </a:rPr>
              <a:t>FONTE 1 — SIH/SUS       relacional (.dbc)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 b="0">
                <a:solidFill>
                  <a:srgbClr val="E2E8F0"/>
                </a:solidFill>
                <a:latin typeface="Consolas"/>
              </a:rPr>
              <a:t>  ftp.retrbinary(...)              7.015.106 internações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 b="0">
                <a:solidFill>
                  <a:srgbClr val="E2E8F0"/>
                </a:solidFill>
                <a:latin typeface="Consolas"/>
              </a:rPr>
              <a:t/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 b="0">
                <a:solidFill>
                  <a:srgbClr val="14B8A6"/>
                </a:solidFill>
                <a:latin typeface="Consolas"/>
              </a:rPr>
              <a:t>FONTE 2 — CNES          JSON via API REST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 b="0">
                <a:solidFill>
                  <a:srgbClr val="E2E8F0"/>
                </a:solidFill>
                <a:latin typeface="Consolas"/>
              </a:rPr>
              <a:t>  _get_json(...)                   4.481 estabelecimentos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 b="0">
                <a:solidFill>
                  <a:srgbClr val="E2E8F0"/>
                </a:solidFill>
                <a:latin typeface="Consolas"/>
              </a:rPr>
              <a:t/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 b="0">
                <a:solidFill>
                  <a:srgbClr val="14B8A6"/>
                </a:solidFill>
                <a:latin typeface="Consolas"/>
              </a:rPr>
              <a:t>FONTE 3 — IBGE          CSV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 b="0">
                <a:solidFill>
                  <a:srgbClr val="E2E8F0"/>
                </a:solidFill>
                <a:latin typeface="Consolas"/>
              </a:rPr>
              <a:t>  df.to_csv(...)                   5.571 municípios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 b="0">
                <a:solidFill>
                  <a:srgbClr val="E2E8F0"/>
                </a:solidFill>
                <a:latin typeface="Consolas"/>
              </a:rPr>
              <a:t/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 b="0">
                <a:solidFill>
                  <a:srgbClr val="F59E0B"/>
                </a:solidFill>
                <a:latin typeface="Consolas"/>
              </a:rPr>
              <a:t>FONTE 4 — Open-Meteo    JSON via API REST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 b="0">
                <a:solidFill>
                  <a:srgbClr val="E2E8F0"/>
                </a:solidFill>
                <a:latin typeface="Consolas"/>
              </a:rPr>
              <a:t>  archive-api.open-meteo.com       366 dias × 4 capitais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008628"/>
            <a:ext cx="81381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50" b="0">
                <a:solidFill>
                  <a:srgbClr val="64748B"/>
                </a:solidFill>
                <a:latin typeface="Cambria"/>
              </a:rPr>
              <a:t>A quarta fonte não era exigida. Entrou para testar hipóteses que os dados de saúde sozinhos não respondem.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759452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50" b="0">
                <a:solidFill>
                  <a:srgbClr val="64748B"/>
                </a:solidFill>
                <a:latin typeface="Cambria"/>
              </a:rPr>
              <a:t>SaúdeViz · Challenge FIAP × Oracle 2026 · Sprint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92440" y="4759452"/>
            <a:ext cx="548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750" b="0">
                <a:solidFill>
                  <a:srgbClr val="64748B"/>
                </a:solidFill>
                <a:latin typeface="Cambria"/>
              </a:rPr>
              <a:t>19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81381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Cambria"/>
              </a:rPr>
              <a:t>Tratamento do formato proprietário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822960" cy="406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69264"/>
            <a:ext cx="8138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64748B"/>
                </a:solidFill>
                <a:latin typeface="Cambria"/>
              </a:rPr>
              <a:t>O .dbc do DATASUS é um DBF comprimido com PKWare DCL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440607" y="1325880"/>
            <a:ext cx="4262786" cy="27889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" name="Picture 5" descr="extrai_sih_py_69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3759" y="1399032"/>
            <a:ext cx="4116482" cy="264261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4224528"/>
            <a:ext cx="81381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50" b="0">
                <a:solidFill>
                  <a:srgbClr val="64748B"/>
                </a:solidFill>
                <a:latin typeface="Cambria"/>
              </a:rPr>
              <a:t>A conversão roda em diretório temporário com caminho ASCII: a extensão C não aceita acento no caminho, e o projeto mora em "Educação/Ciência de Dados".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759452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50" b="0">
                <a:solidFill>
                  <a:srgbClr val="64748B"/>
                </a:solidFill>
                <a:latin typeface="Cambria"/>
              </a:rPr>
              <a:t>SaúdeViz · Challenge FIAP × Oracle 2026 · Sprint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92440" y="4759452"/>
            <a:ext cx="548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750" b="0">
                <a:solidFill>
                  <a:srgbClr val="64748B"/>
                </a:solidFill>
                <a:latin typeface="Cambria"/>
              </a:rPr>
              <a:t>20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81381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Cambria"/>
              </a:rPr>
              <a:t>A descoberta que reorientou o projeto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822960" cy="406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69264"/>
            <a:ext cx="8138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64748B"/>
                </a:solidFill>
                <a:latin typeface="Cambria"/>
              </a:rPr>
              <a:t>Defasagem entre internar e ser faturado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35441" y="1325880"/>
            <a:ext cx="4697152" cy="32918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" name="Picture 5" descr="pipeline_prata_defasag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593" y="1399032"/>
            <a:ext cx="4550848" cy="3145536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466283" y="1604137"/>
            <a:ext cx="3174797" cy="2735326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7451" y="1750441"/>
            <a:ext cx="2772461" cy="244271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850" b="0">
                <a:solidFill>
                  <a:srgbClr val="E2E8F0"/>
                </a:solidFill>
                <a:latin typeface="Consolas"/>
              </a:rPr>
              <a:t>0 meses  4.214.705  60,8%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850" b="0">
                <a:solidFill>
                  <a:srgbClr val="E2E8F0"/>
                </a:solidFill>
                <a:latin typeface="Consolas"/>
              </a:rPr>
              <a:t>1 mês    1.789.226  25,8%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850" b="0">
                <a:solidFill>
                  <a:srgbClr val="E2E8F0"/>
                </a:solidFill>
                <a:latin typeface="Consolas"/>
              </a:rPr>
              <a:t>2 meses    587.295   8,5%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850" b="0">
                <a:solidFill>
                  <a:srgbClr val="E2E8F0"/>
                </a:solidFill>
                <a:latin typeface="Consolas"/>
              </a:rPr>
              <a:t>3 meses    297.454   4,3%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850" b="0">
                <a:solidFill>
                  <a:srgbClr val="E2E8F0"/>
                </a:solidFill>
                <a:latin typeface="Consolas"/>
              </a:rPr>
              <a:t/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850" b="0">
                <a:solidFill>
                  <a:srgbClr val="14B8A6"/>
                </a:solidFill>
                <a:latin typeface="Consolas"/>
              </a:rPr>
              <a:t>acumulado em M+3: 99,4%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850" b="0">
                <a:solidFill>
                  <a:srgbClr val="E2E8F0"/>
                </a:solidFill>
                <a:latin typeface="Consolas"/>
              </a:rPr>
              <a:t/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850" b="0">
                <a:solidFill>
                  <a:srgbClr val="E2E8F0"/>
                </a:solidFill>
                <a:latin typeface="Consolas"/>
              </a:rPr>
              <a:t>A competência do SIH é o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850" b="0">
                <a:solidFill>
                  <a:srgbClr val="E2E8F0"/>
                </a:solidFill>
                <a:latin typeface="Consolas"/>
              </a:rPr>
              <a:t>mês de PAGAMENTO, não o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850" b="0">
                <a:solidFill>
                  <a:srgbClr val="E2E8F0"/>
                </a:solidFill>
                <a:latin typeface="Consolas"/>
              </a:rPr>
              <a:t>da internação.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850" b="0">
                <a:solidFill>
                  <a:srgbClr val="E2E8F0"/>
                </a:solidFill>
                <a:latin typeface="Consolas"/>
              </a:rPr>
              <a:t/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850" b="0">
                <a:solidFill>
                  <a:srgbClr val="E2E8F0"/>
                </a:solidFill>
                <a:latin typeface="Consolas"/>
              </a:rPr>
              <a:t>Corrigimos a dimensão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850" b="0">
                <a:solidFill>
                  <a:srgbClr val="E2E8F0"/>
                </a:solidFill>
                <a:latin typeface="Consolas"/>
              </a:rPr>
              <a:t>temporal e ampliamos a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850" b="0">
                <a:solidFill>
                  <a:srgbClr val="E2E8F0"/>
                </a:solidFill>
                <a:latin typeface="Consolas"/>
              </a:rPr>
              <a:t>ingestão até março/2025.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4759452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50" b="0">
                <a:solidFill>
                  <a:srgbClr val="64748B"/>
                </a:solidFill>
                <a:latin typeface="Cambria"/>
              </a:rPr>
              <a:t>SaúdeViz · Challenge FIAP × Oracle 2026 · Sprint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2440" y="4759452"/>
            <a:ext cx="548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750" b="0">
                <a:solidFill>
                  <a:srgbClr val="64748B"/>
                </a:solidFill>
                <a:latin typeface="Cambria"/>
              </a:rPr>
              <a:t>21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81381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Cambria"/>
              </a:rPr>
              <a:t>Análise exploratória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822960" cy="406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69264"/>
            <a:ext cx="8138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64748B"/>
                </a:solidFill>
                <a:latin typeface="Cambria"/>
              </a:rPr>
              <a:t>16 consultas SQL cobrindo as quatro frentes do desafio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396790"/>
            <a:ext cx="3977640" cy="31500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" name="Picture 5" descr="eda_q03_sazonalidade_grafi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" y="1469942"/>
            <a:ext cx="3831336" cy="3003716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4663440" y="1534680"/>
            <a:ext cx="3977640" cy="28742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eda_q07_pressao_grafic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6592" y="1607832"/>
            <a:ext cx="3831336" cy="272793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02920" y="4759452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50" b="0">
                <a:solidFill>
                  <a:srgbClr val="64748B"/>
                </a:solidFill>
                <a:latin typeface="Cambria"/>
              </a:rPr>
              <a:t>SaúdeViz · Challenge FIAP × Oracle 2026 · Sprint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2440" y="4759452"/>
            <a:ext cx="548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750" b="0">
                <a:solidFill>
                  <a:srgbClr val="64748B"/>
                </a:solidFill>
                <a:latin typeface="Cambria"/>
              </a:rPr>
              <a:t>22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81381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Cambria"/>
              </a:rPr>
              <a:t>Técnicas estatísticas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822960" cy="406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69264"/>
            <a:ext cx="8138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64748B"/>
                </a:solidFill>
                <a:latin typeface="Cambria"/>
              </a:rPr>
              <a:t>Outliers por IQR de Tukey e correlação de Pearson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637866"/>
            <a:ext cx="4365345" cy="2667867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" name="Picture 5" descr="eda_q14_outliers_iq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" y="1711018"/>
            <a:ext cx="4219041" cy="2521563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069433" y="1433576"/>
            <a:ext cx="3571647" cy="3076448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270601" y="1579880"/>
            <a:ext cx="3169311" cy="2783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800" b="0">
                <a:solidFill>
                  <a:srgbClr val="E2E8F0"/>
                </a:solidFill>
                <a:latin typeface="Consolas"/>
              </a:rPr>
              <a:t>TUKEY (Q3 + 1,5×IQR)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800" b="0">
                <a:solidFill>
                  <a:srgbClr val="E2E8F0"/>
                </a:solidFill>
                <a:latin typeface="Consolas"/>
              </a:rPr>
              <a:t>limite de outlier: 1,172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800" b="0">
                <a:solidFill>
                  <a:srgbClr val="E2E8F0"/>
                </a:solidFill>
                <a:latin typeface="Consolas"/>
              </a:rPr>
              <a:t/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800" b="0">
                <a:solidFill>
                  <a:srgbClr val="E2E8F0"/>
                </a:solidFill>
                <a:latin typeface="Consolas"/>
              </a:rPr>
              <a:t>O critério estatístico,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800" b="0">
                <a:solidFill>
                  <a:srgbClr val="E2E8F0"/>
                </a:solidFill>
                <a:latin typeface="Consolas"/>
              </a:rPr>
              <a:t>calculado sem referência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800" b="0">
                <a:solidFill>
                  <a:srgbClr val="E2E8F0"/>
                </a:solidFill>
                <a:latin typeface="Consolas"/>
              </a:rPr>
              <a:t>ao nosso limiar, confirma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800" b="0">
                <a:solidFill>
                  <a:srgbClr val="E2E8F0"/>
                </a:solidFill>
                <a:latin typeface="Consolas"/>
              </a:rPr>
              <a:t>que ocupação acima de 1,0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800" b="0">
                <a:solidFill>
                  <a:srgbClr val="E2E8F0"/>
                </a:solidFill>
                <a:latin typeface="Consolas"/>
              </a:rPr>
              <a:t>é anômala nesta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800" b="0">
                <a:solidFill>
                  <a:srgbClr val="E2E8F0"/>
                </a:solidFill>
                <a:latin typeface="Consolas"/>
              </a:rPr>
              <a:t>distribuição.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800" b="0">
                <a:solidFill>
                  <a:srgbClr val="E2E8F0"/>
                </a:solidFill>
                <a:latin typeface="Consolas"/>
              </a:rPr>
              <a:t/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800" b="0">
                <a:solidFill>
                  <a:srgbClr val="14B8A6"/>
                </a:solidFill>
                <a:latin typeface="Consolas"/>
              </a:rPr>
              <a:t>PEARSON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800" b="0">
                <a:solidFill>
                  <a:srgbClr val="E2E8F0"/>
                </a:solidFill>
                <a:latin typeface="Consolas"/>
              </a:rPr>
              <a:t>ocupação × transferência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800" b="0">
                <a:solidFill>
                  <a:srgbClr val="E2E8F0"/>
                </a:solidFill>
                <a:latin typeface="Consolas"/>
              </a:rPr>
              <a:t>        −0,305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800" b="0">
                <a:solidFill>
                  <a:srgbClr val="E2E8F0"/>
                </a:solidFill>
                <a:latin typeface="Consolas"/>
              </a:rPr>
              <a:t/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800" b="0">
                <a:solidFill>
                  <a:srgbClr val="E2E8F0"/>
                </a:solidFill>
                <a:latin typeface="Consolas"/>
              </a:rPr>
              <a:t>Municípios com baixa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800" b="0">
                <a:solidFill>
                  <a:srgbClr val="E2E8F0"/>
                </a:solidFill>
                <a:latin typeface="Consolas"/>
              </a:rPr>
              <a:t>ocupação transferem mais: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800" b="0">
                <a:solidFill>
                  <a:srgbClr val="E2E8F0"/>
                </a:solidFill>
                <a:latin typeface="Consolas"/>
              </a:rPr>
              <a:t>estabilizam e encaminham.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4759452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50" b="0">
                <a:solidFill>
                  <a:srgbClr val="64748B"/>
                </a:solidFill>
                <a:latin typeface="Cambria"/>
              </a:rPr>
              <a:t>SaúdeViz · Challenge FIAP × Oracle 2026 · Sprint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2440" y="4759452"/>
            <a:ext cx="548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750" b="0">
                <a:solidFill>
                  <a:srgbClr val="64748B"/>
                </a:solidFill>
                <a:latin typeface="Cambria"/>
              </a:rPr>
              <a:t>23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81381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Cambria"/>
              </a:rPr>
              <a:t>Modelo de previsão de demanda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822960" cy="406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69264"/>
            <a:ext cx="8138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64748B"/>
                </a:solidFill>
                <a:latin typeface="Cambria"/>
              </a:rPr>
              <a:t>Validação por janela expansível — o modelo mais simples venceu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693552" y="1325880"/>
            <a:ext cx="2380930" cy="32918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" name="Picture 5" descr="modelo_comparativo_horizon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6704" y="1399032"/>
            <a:ext cx="2234626" cy="3145536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466283" y="1689417"/>
            <a:ext cx="3174797" cy="2564765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7451" y="1835721"/>
            <a:ext cx="2772461" cy="227215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850" b="0">
                <a:solidFill>
                  <a:srgbClr val="E2E8F0"/>
                </a:solidFill>
                <a:latin typeface="Consolas"/>
              </a:rPr>
              <a:t>horizonte  semanal  regressão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850" b="0">
                <a:solidFill>
                  <a:srgbClr val="E2E8F0"/>
                </a:solidFill>
                <a:latin typeface="Consolas"/>
              </a:rPr>
              <a:t/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850" b="0">
                <a:solidFill>
                  <a:srgbClr val="E2E8F0"/>
                </a:solidFill>
                <a:latin typeface="Consolas"/>
              </a:rPr>
              <a:t>      7 d    6,32%     6,27%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850" b="0">
                <a:solidFill>
                  <a:srgbClr val="E2E8F0"/>
                </a:solidFill>
                <a:latin typeface="Consolas"/>
              </a:rPr>
              <a:t>     30 d    5,77%     7,67%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850" b="0">
                <a:solidFill>
                  <a:srgbClr val="F59E0B"/>
                </a:solidFill>
                <a:latin typeface="Consolas"/>
              </a:rPr>
              <a:t>     90 d    5,46%    27,12%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850" b="0">
                <a:solidFill>
                  <a:srgbClr val="E2E8F0"/>
                </a:solidFill>
                <a:latin typeface="Consolas"/>
              </a:rPr>
              <a:t/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850" b="0">
                <a:solidFill>
                  <a:srgbClr val="E2E8F0"/>
                </a:solidFill>
                <a:latin typeface="Consolas"/>
              </a:rPr>
              <a:t>Testamos regressão com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850" b="0">
                <a:solidFill>
                  <a:srgbClr val="E2E8F0"/>
                </a:solidFill>
                <a:latin typeface="Consolas"/>
              </a:rPr>
              <a:t>tendência e sazonalidade.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850" b="0">
                <a:solidFill>
                  <a:srgbClr val="E2E8F0"/>
                </a:solidFill>
                <a:latin typeface="Consolas"/>
              </a:rPr>
              <a:t>Perdeu em todos os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850" b="0">
                <a:solidFill>
                  <a:srgbClr val="E2E8F0"/>
                </a:solidFill>
                <a:latin typeface="Consolas"/>
              </a:rPr>
              <a:t>horizontes acima de 7 dias.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850" b="0">
                <a:solidFill>
                  <a:srgbClr val="E2E8F0"/>
                </a:solidFill>
                <a:latin typeface="Consolas"/>
              </a:rPr>
              <a:t/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850" b="0">
                <a:solidFill>
                  <a:srgbClr val="E2E8F0"/>
                </a:solidFill>
                <a:latin typeface="Consolas"/>
              </a:rPr>
              <a:t>A série não tem tendência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850" b="0">
                <a:solidFill>
                  <a:srgbClr val="E2E8F0"/>
                </a:solidFill>
                <a:latin typeface="Consolas"/>
              </a:rPr>
              <a:t>explorável.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4759452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50" b="0">
                <a:solidFill>
                  <a:srgbClr val="64748B"/>
                </a:solidFill>
                <a:latin typeface="Cambria"/>
              </a:rPr>
              <a:t>SaúdeViz · Challenge FIAP × Oracle 2026 · Sprint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2440" y="4759452"/>
            <a:ext cx="548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750" b="0">
                <a:solidFill>
                  <a:srgbClr val="64748B"/>
                </a:solidFill>
                <a:latin typeface="Cambria"/>
              </a:rPr>
              <a:t>24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81381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Cambria"/>
              </a:rPr>
              <a:t>O que move a demanda hospitalar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822960" cy="406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69264"/>
            <a:ext cx="8138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64748B"/>
                </a:solidFill>
                <a:latin typeface="Cambria"/>
              </a:rPr>
              <a:t>Variação percentual frente à segunda-feira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404665"/>
            <a:ext cx="4762195" cy="3134269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" name="Picture 5" descr="modelo_dia_seman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" y="1477817"/>
            <a:ext cx="4615891" cy="2987965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466283" y="1895094"/>
            <a:ext cx="3174797" cy="2153412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7451" y="2041398"/>
            <a:ext cx="2772461" cy="18608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900" b="0">
                <a:solidFill>
                  <a:srgbClr val="F59E0B"/>
                </a:solidFill>
                <a:latin typeface="Consolas"/>
              </a:rPr>
              <a:t>Sábado    −38%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900" b="0">
                <a:solidFill>
                  <a:srgbClr val="F59E0B"/>
                </a:solidFill>
                <a:latin typeface="Consolas"/>
              </a:rPr>
              <a:t>Domingo   −41%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900" b="0">
                <a:solidFill>
                  <a:srgbClr val="F59E0B"/>
                </a:solidFill>
                <a:latin typeface="Consolas"/>
              </a:rPr>
              <a:t>Feriado   −26%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900" b="0">
                <a:solidFill>
                  <a:srgbClr val="E2E8F0"/>
                </a:solidFill>
                <a:latin typeface="Consolas"/>
              </a:rPr>
              <a:t/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900" b="0">
                <a:solidFill>
                  <a:srgbClr val="E2E8F0"/>
                </a:solidFill>
                <a:latin typeface="Consolas"/>
              </a:rPr>
              <a:t>Consistente nos quatro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900" b="0">
                <a:solidFill>
                  <a:srgbClr val="E2E8F0"/>
                </a:solidFill>
                <a:latin typeface="Consolas"/>
              </a:rPr>
              <a:t>estados.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900" b="0">
                <a:solidFill>
                  <a:srgbClr val="E2E8F0"/>
                </a:solidFill>
                <a:latin typeface="Consolas"/>
              </a:rPr>
              <a:t/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900" b="0">
                <a:solidFill>
                  <a:srgbClr val="E2E8F0"/>
                </a:solidFill>
                <a:latin typeface="Consolas"/>
              </a:rPr>
              <a:t>A queda do fim de semana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900" b="0">
                <a:solidFill>
                  <a:srgbClr val="E2E8F0"/>
                </a:solidFill>
                <a:latin typeface="Consolas"/>
              </a:rPr>
              <a:t>não é falta de doente: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900" b="0">
                <a:solidFill>
                  <a:srgbClr val="E2E8F0"/>
                </a:solidFill>
                <a:latin typeface="Consolas"/>
              </a:rPr>
              <a:t>é a rede eletiva parada.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4759452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50" b="0">
                <a:solidFill>
                  <a:srgbClr val="64748B"/>
                </a:solidFill>
                <a:latin typeface="Cambria"/>
              </a:rPr>
              <a:t>SaúdeViz · Challenge FIAP × Oracle 2026 · Sprint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2440" y="4759452"/>
            <a:ext cx="548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750" b="0">
                <a:solidFill>
                  <a:srgbClr val="64748B"/>
                </a:solidFill>
                <a:latin typeface="Cambria"/>
              </a:rPr>
              <a:t>25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874519"/>
            <a:ext cx="146304" cy="13716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1920240"/>
            <a:ext cx="81381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14B8A6"/>
                </a:solidFill>
                <a:latin typeface="Cambria"/>
              </a:rPr>
              <a:t>5ª ENTREGA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286000"/>
            <a:ext cx="81381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Evidências visuais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880360"/>
            <a:ext cx="6858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Cambria"/>
              </a:rPr>
              <a:t>O painel e a camada Gold respondendo às perguntas do desafio.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759452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50" b="0">
                <a:solidFill>
                  <a:srgbClr val="64748B"/>
                </a:solidFill>
                <a:latin typeface="Cambria"/>
              </a:rPr>
              <a:t>SaúdeViz · Challenge FIAP × Oracle 2026 · Sprint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92440" y="4759452"/>
            <a:ext cx="548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750" b="0">
                <a:solidFill>
                  <a:srgbClr val="64748B"/>
                </a:solidFill>
                <a:latin typeface="Cambria"/>
              </a:rPr>
              <a:t>26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81381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Cambria"/>
              </a:rPr>
              <a:t>Previsão de demanda no painel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822960" cy="406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69264"/>
            <a:ext cx="8138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64748B"/>
                </a:solidFill>
                <a:latin typeface="Cambria"/>
              </a:rPr>
              <a:t>Projeção diária de 90 dias, com intervalo de 95%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905923"/>
            <a:ext cx="8138160" cy="2131754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" name="Picture 5" descr="painel_05_previsao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" y="1979075"/>
            <a:ext cx="7991856" cy="19854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4759452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50" b="0">
                <a:solidFill>
                  <a:srgbClr val="64748B"/>
                </a:solidFill>
                <a:latin typeface="Cambria"/>
              </a:rPr>
              <a:t>SaúdeViz · Challenge FIAP × Oracle 2026 · Sprint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92440" y="4759452"/>
            <a:ext cx="548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750" b="0">
                <a:solidFill>
                  <a:srgbClr val="64748B"/>
                </a:solidFill>
                <a:latin typeface="Cambria"/>
              </a:rPr>
              <a:t>27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81381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Cambria"/>
              </a:rPr>
              <a:t>Quantos leitos, e quando abrir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822960" cy="406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69264"/>
            <a:ext cx="8138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64748B"/>
                </a:solidFill>
                <a:latin typeface="Cambria"/>
              </a:rPr>
              <a:t>Consumo observado traduzido em dimensionamento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622513"/>
            <a:ext cx="4762195" cy="2241374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" name="Picture 5" descr="painel_07_dimensionament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" y="1695665"/>
            <a:ext cx="4615891" cy="209507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466283" y="1375537"/>
            <a:ext cx="3174797" cy="2735326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7451" y="1521841"/>
            <a:ext cx="2772461" cy="244271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850" b="0">
                <a:solidFill>
                  <a:srgbClr val="14B8A6"/>
                </a:solidFill>
                <a:latin typeface="Consolas"/>
              </a:rPr>
              <a:t>BELO HORIZONTE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850" b="0">
                <a:solidFill>
                  <a:srgbClr val="E2E8F0"/>
                </a:solidFill>
                <a:latin typeface="Consolas"/>
              </a:rPr>
              <a:t>6.312 leitos cadastrados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850" b="0">
                <a:solidFill>
                  <a:srgbClr val="E2E8F0"/>
                </a:solidFill>
                <a:latin typeface="Consolas"/>
              </a:rPr>
              <a:t/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850" b="0">
                <a:solidFill>
                  <a:srgbClr val="E2E8F0"/>
                </a:solidFill>
                <a:latin typeface="Consolas"/>
              </a:rPr>
              <a:t>Demanda comum      5.107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850" b="0">
                <a:solidFill>
                  <a:srgbClr val="E2E8F0"/>
                </a:solidFill>
                <a:latin typeface="Consolas"/>
              </a:rPr>
              <a:t>  abertos o ano inteiro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850" b="0">
                <a:solidFill>
                  <a:srgbClr val="E2E8F0"/>
                </a:solidFill>
                <a:latin typeface="Consolas"/>
              </a:rPr>
              <a:t/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850" b="0">
                <a:solidFill>
                  <a:srgbClr val="E2E8F0"/>
                </a:solidFill>
                <a:latin typeface="Consolas"/>
              </a:rPr>
              <a:t>Pico (abril)       5.904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850" b="0">
                <a:solidFill>
                  <a:srgbClr val="E2E8F0"/>
                </a:solidFill>
                <a:latin typeface="Consolas"/>
              </a:rPr>
              <a:t>  +797 leitos sazonais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850" b="0">
                <a:solidFill>
                  <a:srgbClr val="E2E8F0"/>
                </a:solidFill>
                <a:latin typeface="Consolas"/>
              </a:rPr>
              <a:t/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850" b="0">
                <a:solidFill>
                  <a:srgbClr val="F59E0B"/>
                </a:solidFill>
                <a:latin typeface="Consolas"/>
              </a:rPr>
              <a:t>Folga no pico        408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850" b="0">
                <a:solidFill>
                  <a:srgbClr val="F59E0B"/>
                </a:solidFill>
                <a:latin typeface="Consolas"/>
              </a:rPr>
              <a:t>  6% da capacidade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850" b="0">
                <a:solidFill>
                  <a:srgbClr val="E2E8F0"/>
                </a:solidFill>
                <a:latin typeface="Consolas"/>
              </a:rPr>
              <a:t/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850" b="0">
                <a:solidFill>
                  <a:srgbClr val="E2E8F0"/>
                </a:solidFill>
                <a:latin typeface="Consolas"/>
              </a:rPr>
              <a:t>Abril é o pico nas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850" b="0">
                <a:solidFill>
                  <a:srgbClr val="E2E8F0"/>
                </a:solidFill>
                <a:latin typeface="Consolas"/>
              </a:rPr>
              <a:t>quatro capitais.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4251960"/>
            <a:ext cx="8138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50" b="0">
                <a:solidFill>
                  <a:srgbClr val="64748B"/>
                </a:solidFill>
                <a:latin typeface="Cambria"/>
              </a:rPr>
              <a:t>Seis por cento de folga no pico é a margem que uma epidemia consome em dias.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759452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50" b="0">
                <a:solidFill>
                  <a:srgbClr val="64748B"/>
                </a:solidFill>
                <a:latin typeface="Cambria"/>
              </a:rPr>
              <a:t>SaúdeViz · Challenge FIAP × Oracle 2026 · Sprint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92440" y="4759452"/>
            <a:ext cx="548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750" b="0">
                <a:solidFill>
                  <a:srgbClr val="64748B"/>
                </a:solidFill>
                <a:latin typeface="Cambria"/>
              </a:rPr>
              <a:t>28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81381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Cambria"/>
              </a:rPr>
              <a:t>Consultas na camada Gold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822960" cy="406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69264"/>
            <a:ext cx="8138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64748B"/>
                </a:solidFill>
                <a:latin typeface="Cambria"/>
              </a:rPr>
              <a:t>Executadas no Oracle 19c da FIAP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529869"/>
            <a:ext cx="5714634" cy="2883861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" name="Picture 5" descr="oracle_top10_hospita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" y="1603021"/>
            <a:ext cx="5568330" cy="2737557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418722" y="1985391"/>
            <a:ext cx="2222358" cy="1972818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619890" y="2131695"/>
            <a:ext cx="1820022" cy="16802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900" b="0">
                <a:solidFill>
                  <a:srgbClr val="E2E8F0"/>
                </a:solidFill>
                <a:latin typeface="Consolas"/>
              </a:rPr>
              <a:t>Santa Casa BH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900" b="0">
                <a:solidFill>
                  <a:srgbClr val="E2E8F0"/>
                </a:solidFill>
                <a:latin typeface="Consolas"/>
              </a:rPr>
              <a:t>  54.406 internações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900" b="0">
                <a:solidFill>
                  <a:srgbClr val="E2E8F0"/>
                </a:solidFill>
                <a:latin typeface="Consolas"/>
              </a:rPr>
              <a:t>  0,21% transferência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900" b="0">
                <a:solidFill>
                  <a:srgbClr val="E2E8F0"/>
                </a:solidFill>
                <a:latin typeface="Consolas"/>
              </a:rPr>
              <a:t/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900" b="0">
                <a:solidFill>
                  <a:srgbClr val="E2E8F0"/>
                </a:solidFill>
                <a:latin typeface="Consolas"/>
              </a:rPr>
              <a:t>HC-FMUSP SP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900" b="0">
                <a:solidFill>
                  <a:srgbClr val="E2E8F0"/>
                </a:solidFill>
                <a:latin typeface="Consolas"/>
              </a:rPr>
              <a:t>  53.161 · 2,66%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900" b="0">
                <a:solidFill>
                  <a:srgbClr val="E2E8F0"/>
                </a:solidFill>
                <a:latin typeface="Consolas"/>
              </a:rPr>
              <a:t/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900" b="0">
                <a:solidFill>
                  <a:srgbClr val="E2E8F0"/>
                </a:solidFill>
                <a:latin typeface="Consolas"/>
              </a:rPr>
              <a:t>Hosp. Base SJRP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900" b="0">
                <a:solidFill>
                  <a:srgbClr val="E2E8F0"/>
                </a:solidFill>
                <a:latin typeface="Consolas"/>
              </a:rPr>
              <a:t>  50.043 · 1,09%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4759452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50" b="0">
                <a:solidFill>
                  <a:srgbClr val="64748B"/>
                </a:solidFill>
                <a:latin typeface="Cambria"/>
              </a:rPr>
              <a:t>SaúdeViz · Challenge FIAP × Oracle 2026 · Sprint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2440" y="4759452"/>
            <a:ext cx="548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750" b="0">
                <a:solidFill>
                  <a:srgbClr val="64748B"/>
                </a:solidFill>
                <a:latin typeface="Cambria"/>
              </a:rPr>
              <a:t>29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81381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Cambria"/>
              </a:rPr>
              <a:t>Onde as internações crescem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822960" cy="406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69264"/>
            <a:ext cx="8138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64748B"/>
                </a:solidFill>
                <a:latin typeface="Cambria"/>
              </a:rPr>
              <a:t>Segundo semestre contra o primeiro, por município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842585" y="1325880"/>
            <a:ext cx="3458829" cy="32918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" name="Picture 5" descr="eda_q05_cresciment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5737" y="1399032"/>
            <a:ext cx="3312525" cy="314553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4759452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50" b="0">
                <a:solidFill>
                  <a:srgbClr val="64748B"/>
                </a:solidFill>
                <a:latin typeface="Cambria"/>
              </a:rPr>
              <a:t>SaúdeViz · Challenge FIAP × Oracle 2026 · Sprint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92440" y="4759452"/>
            <a:ext cx="548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750" b="0">
                <a:solidFill>
                  <a:srgbClr val="64748B"/>
                </a:solidFill>
                <a:latin typeface="Cambria"/>
              </a:rPr>
              <a:t>30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81381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Cambria"/>
              </a:rPr>
              <a:t>Quem exporta paciente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822960" cy="406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69264"/>
            <a:ext cx="8138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64748B"/>
                </a:solidFill>
                <a:latin typeface="Cambria"/>
              </a:rPr>
              <a:t>A taxa de transferência mede resolutividade, não volume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405384"/>
            <a:ext cx="4762195" cy="3132831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" name="Picture 5" descr="eda_q12_transferenci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" y="1478536"/>
            <a:ext cx="4615891" cy="2986527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466283" y="1604137"/>
            <a:ext cx="3174797" cy="2735326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7451" y="1750441"/>
            <a:ext cx="2772461" cy="244271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850" b="0">
                <a:solidFill>
                  <a:srgbClr val="14B8A6"/>
                </a:solidFill>
                <a:latin typeface="Consolas"/>
              </a:rPr>
              <a:t>EMBU-GUAÇU / SP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850" b="0">
                <a:solidFill>
                  <a:srgbClr val="E2E8F0"/>
                </a:solidFill>
                <a:latin typeface="Consolas"/>
              </a:rPr>
              <a:t/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850" b="0">
                <a:solidFill>
                  <a:srgbClr val="E2E8F0"/>
                </a:solidFill>
                <a:latin typeface="Consolas"/>
              </a:rPr>
              <a:t>1.460 internações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850" b="0">
                <a:solidFill>
                  <a:srgbClr val="E2E8F0"/>
                </a:solidFill>
                <a:latin typeface="Consolas"/>
              </a:rPr>
              <a:t>1.082 transferências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850" b="0">
                <a:solidFill>
                  <a:srgbClr val="E2E8F0"/>
                </a:solidFill>
                <a:latin typeface="Consolas"/>
              </a:rPr>
              <a:t>   15 leitos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850" b="0">
                <a:solidFill>
                  <a:srgbClr val="E2E8F0"/>
                </a:solidFill>
                <a:latin typeface="Consolas"/>
              </a:rPr>
              <a:t/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850" b="0">
                <a:solidFill>
                  <a:srgbClr val="F59E0B"/>
                </a:solidFill>
                <a:latin typeface="Consolas"/>
              </a:rPr>
              <a:t>74% dos pacientes seguem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850" b="0">
                <a:solidFill>
                  <a:srgbClr val="F59E0B"/>
                </a:solidFill>
                <a:latin typeface="Consolas"/>
              </a:rPr>
              <a:t>para outro município.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850" b="0">
                <a:solidFill>
                  <a:srgbClr val="E2E8F0"/>
                </a:solidFill>
                <a:latin typeface="Consolas"/>
              </a:rPr>
              <a:t/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850" b="0">
                <a:solidFill>
                  <a:srgbClr val="E2E8F0"/>
                </a:solidFill>
                <a:latin typeface="Consolas"/>
              </a:rPr>
              <a:t>Não é "há muitas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850" b="0">
                <a:solidFill>
                  <a:srgbClr val="E2E8F0"/>
                </a:solidFill>
                <a:latin typeface="Consolas"/>
              </a:rPr>
              <a:t>internações aqui": é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850" b="0">
                <a:solidFill>
                  <a:srgbClr val="E2E8F0"/>
                </a:solidFill>
                <a:latin typeface="Consolas"/>
              </a:rPr>
              <a:t>"pacientes saem daqui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850" b="0">
                <a:solidFill>
                  <a:srgbClr val="E2E8F0"/>
                </a:solidFill>
                <a:latin typeface="Consolas"/>
              </a:rPr>
              <a:t>porque não há como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850" b="0">
                <a:solidFill>
                  <a:srgbClr val="E2E8F0"/>
                </a:solidFill>
                <a:latin typeface="Consolas"/>
              </a:rPr>
              <a:t>tratá-los aqui".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4759452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50" b="0">
                <a:solidFill>
                  <a:srgbClr val="64748B"/>
                </a:solidFill>
                <a:latin typeface="Cambria"/>
              </a:rPr>
              <a:t>SaúdeViz · Challenge FIAP × Oracle 2026 · Sprint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2440" y="4759452"/>
            <a:ext cx="548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750" b="0">
                <a:solidFill>
                  <a:srgbClr val="64748B"/>
                </a:solidFill>
                <a:latin typeface="Cambria"/>
              </a:rPr>
              <a:t>31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874519"/>
            <a:ext cx="146304" cy="13716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1920240"/>
            <a:ext cx="81381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14B8A6"/>
                </a:solidFill>
                <a:latin typeface="Cambria"/>
              </a:rPr>
              <a:t>ANÁLISE COMPLEMENTAR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286000"/>
            <a:ext cx="81381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Clima e internação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880360"/>
            <a:ext cx="6858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Cambria"/>
              </a:rPr>
              <a:t>Não é entrega obrigatória. Três hipóteses testadas — uma refutada, uma confirmada, uma com ressalva.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759452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50" b="0">
                <a:solidFill>
                  <a:srgbClr val="64748B"/>
                </a:solidFill>
                <a:latin typeface="Cambria"/>
              </a:rPr>
              <a:t>SaúdeViz · Challenge FIAP × Oracle 2026 · Sprint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92440" y="4759452"/>
            <a:ext cx="548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750" b="0">
                <a:solidFill>
                  <a:srgbClr val="64748B"/>
                </a:solidFill>
                <a:latin typeface="Cambria"/>
              </a:rPr>
              <a:t>32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81381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Cambria"/>
              </a:rPr>
              <a:t>Uma quarta fonte de dados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822960" cy="406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69264"/>
            <a:ext cx="8138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64748B"/>
                </a:solidFill>
                <a:latin typeface="Cambria"/>
              </a:rPr>
              <a:t>Open-Meteo · clima diário das 4 capitais · 2024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474254"/>
            <a:ext cx="5714634" cy="2995091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" name="Picture 5" descr="clima_01_fon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" y="1547406"/>
            <a:ext cx="5568330" cy="2848787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418722" y="1518856"/>
            <a:ext cx="2222358" cy="2905887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619890" y="1665160"/>
            <a:ext cx="1820022" cy="26132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850" b="0">
                <a:solidFill>
                  <a:srgbClr val="E2E8F0"/>
                </a:solidFill>
                <a:latin typeface="Consolas"/>
              </a:rPr>
              <a:t>1.464 dias-capital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850" b="0">
                <a:solidFill>
                  <a:srgbClr val="E2E8F0"/>
                </a:solidFill>
                <a:latin typeface="Consolas"/>
              </a:rPr>
              <a:t>  526 com chuva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850" b="0">
                <a:solidFill>
                  <a:srgbClr val="E2E8F0"/>
                </a:solidFill>
                <a:latin typeface="Consolas"/>
              </a:rPr>
              <a:t/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850" b="0">
                <a:solidFill>
                  <a:srgbClr val="E2E8F0"/>
                </a:solidFill>
                <a:latin typeface="Consolas"/>
              </a:rPr>
              <a:t>1.421.225 internações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850" b="0">
                <a:solidFill>
                  <a:srgbClr val="E2E8F0"/>
                </a:solidFill>
                <a:latin typeface="Consolas"/>
              </a:rPr>
              <a:t>nas capitais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850" b="0">
                <a:solidFill>
                  <a:srgbClr val="E2E8F0"/>
                </a:solidFill>
                <a:latin typeface="Consolas"/>
              </a:rPr>
              <a:t/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850" b="0">
                <a:solidFill>
                  <a:srgbClr val="14B8A6"/>
                </a:solidFill>
                <a:latin typeface="Consolas"/>
              </a:rPr>
              <a:t>TRÊS HIPÓTESES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850" b="0">
                <a:solidFill>
                  <a:srgbClr val="E2E8F0"/>
                </a:solidFill>
                <a:latin typeface="Consolas"/>
              </a:rPr>
              <a:t/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850" b="0">
                <a:solidFill>
                  <a:srgbClr val="E2E8F0"/>
                </a:solidFill>
                <a:latin typeface="Consolas"/>
              </a:rPr>
              <a:t>chuva aumenta acidentes?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850" b="0">
                <a:solidFill>
                  <a:srgbClr val="E2E8F0"/>
                </a:solidFill>
                <a:latin typeface="Consolas"/>
              </a:rPr>
              <a:t/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850" b="0">
                <a:solidFill>
                  <a:srgbClr val="E2E8F0"/>
                </a:solidFill>
                <a:latin typeface="Consolas"/>
              </a:rPr>
              <a:t>frio aumenta doença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850" b="0">
                <a:solidFill>
                  <a:srgbClr val="E2E8F0"/>
                </a:solidFill>
                <a:latin typeface="Consolas"/>
              </a:rPr>
              <a:t>respiratória?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850" b="0">
                <a:solidFill>
                  <a:srgbClr val="E2E8F0"/>
                </a:solidFill>
                <a:latin typeface="Consolas"/>
              </a:rPr>
              <a:t/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850" b="0">
                <a:solidFill>
                  <a:srgbClr val="E2E8F0"/>
                </a:solidFill>
                <a:latin typeface="Consolas"/>
              </a:rPr>
              <a:t>a estação importa além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850" b="0">
                <a:solidFill>
                  <a:srgbClr val="E2E8F0"/>
                </a:solidFill>
                <a:latin typeface="Consolas"/>
              </a:rPr>
              <a:t>do ciclo semanal?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4759452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50" b="0">
                <a:solidFill>
                  <a:srgbClr val="64748B"/>
                </a:solidFill>
                <a:latin typeface="Cambria"/>
              </a:rPr>
              <a:t>SaúdeViz · Challenge FIAP × Oracle 2026 · Sprint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2440" y="4759452"/>
            <a:ext cx="548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750" b="0">
                <a:solidFill>
                  <a:srgbClr val="64748B"/>
                </a:solidFill>
                <a:latin typeface="Cambria"/>
              </a:rPr>
              <a:t>33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81381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Cambria"/>
              </a:rPr>
              <a:t>Chuva não explica acidentes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822960" cy="406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69264"/>
            <a:ext cx="8138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64748B"/>
                </a:solidFill>
                <a:latin typeface="Cambria"/>
              </a:rPr>
              <a:t>Hipótese refutada — e o teste de gradiente é o que prova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4216" y="1325880"/>
            <a:ext cx="4002752" cy="28346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" name="Picture 5" descr="clima_03_gradiente_chuv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368" y="1399032"/>
            <a:ext cx="3856448" cy="2688336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069433" y="1766824"/>
            <a:ext cx="3571647" cy="1952752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270601" y="1913128"/>
            <a:ext cx="3169311" cy="16601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800" b="0">
                <a:solidFill>
                  <a:srgbClr val="E2E8F0"/>
                </a:solidFill>
                <a:latin typeface="Consolas"/>
              </a:rPr>
              <a:t>Com chuva   104,4 /dia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800" b="0">
                <a:solidFill>
                  <a:srgbClr val="E2E8F0"/>
                </a:solidFill>
                <a:latin typeface="Consolas"/>
              </a:rPr>
              <a:t>Sem chuva   105,1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800" b="0">
                <a:solidFill>
                  <a:srgbClr val="EF4444"/>
                </a:solidFill>
                <a:latin typeface="Consolas"/>
              </a:rPr>
              <a:t>variação     −0,7%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800" b="0">
                <a:solidFill>
                  <a:srgbClr val="E2E8F0"/>
                </a:solidFill>
                <a:latin typeface="Consolas"/>
              </a:rPr>
              <a:t/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800" b="0">
                <a:solidFill>
                  <a:srgbClr val="14B8A6"/>
                </a:solidFill>
                <a:latin typeface="Consolas"/>
              </a:rPr>
              <a:t>SEM GRADIENTE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800" b="0">
                <a:solidFill>
                  <a:srgbClr val="E2E8F0"/>
                </a:solidFill>
                <a:latin typeface="Consolas"/>
              </a:rPr>
              <a:t/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800" b="0">
                <a:solidFill>
                  <a:srgbClr val="E2E8F0"/>
                </a:solidFill>
                <a:latin typeface="Consolas"/>
              </a:rPr>
              <a:t>Sem chuva      693 d  105,4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800" b="0">
                <a:solidFill>
                  <a:srgbClr val="E2E8F0"/>
                </a:solidFill>
                <a:latin typeface="Consolas"/>
              </a:rPr>
              <a:t>Chuva fraca    254    103,0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800" b="0">
                <a:solidFill>
                  <a:srgbClr val="E2E8F0"/>
                </a:solidFill>
                <a:latin typeface="Consolas"/>
              </a:rPr>
              <a:t>Chuva moderada  85    110,4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800" b="0">
                <a:solidFill>
                  <a:srgbClr val="E2E8F0"/>
                </a:solidFill>
                <a:latin typeface="Consolas"/>
              </a:rPr>
              <a:t>Chuva forte     16     83,1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4251960"/>
            <a:ext cx="8138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50" b="0">
                <a:solidFill>
                  <a:srgbClr val="64748B"/>
                </a:solidFill>
                <a:latin typeface="Cambria"/>
              </a:rPr>
              <a:t>Se a chuva causasse acidentes, o efeito cresceria com a intensidade. Sobe e desce sem padrão — e os 83,1 da chuva forte vêm de 16 dias apenas. O planejamento hospitalar não deve reservar capacidade para dias de chuva.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759452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50" b="0">
                <a:solidFill>
                  <a:srgbClr val="64748B"/>
                </a:solidFill>
                <a:latin typeface="Cambria"/>
              </a:rPr>
              <a:t>SaúdeViz · Challenge FIAP × Oracle 2026 · Sprint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92440" y="4759452"/>
            <a:ext cx="548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750" b="0">
                <a:solidFill>
                  <a:srgbClr val="64748B"/>
                </a:solidFill>
                <a:latin typeface="Cambria"/>
              </a:rPr>
              <a:t>34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81381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Cambria"/>
              </a:rPr>
              <a:t>Frio se associa a internação respiratória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822960" cy="406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69264"/>
            <a:ext cx="8138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64748B"/>
                </a:solidFill>
                <a:latin typeface="Cambria"/>
              </a:rPr>
              <a:t>Hipótese confirmada — gradiente monotônico nas quatro capitais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281092" y="1325880"/>
            <a:ext cx="2809001" cy="28346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" name="Picture 5" descr="clima_04_frio_respirator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4244" y="1399032"/>
            <a:ext cx="2662697" cy="2688336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069433" y="1887220"/>
            <a:ext cx="3571647" cy="171196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270601" y="2033524"/>
            <a:ext cx="3169311" cy="1419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850" b="0">
                <a:solidFill>
                  <a:srgbClr val="E2E8F0"/>
                </a:solidFill>
                <a:latin typeface="Consolas"/>
              </a:rPr>
              <a:t>Muito frio  73,7 /dia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850" b="0">
                <a:solidFill>
                  <a:srgbClr val="E2E8F0"/>
                </a:solidFill>
                <a:latin typeface="Consolas"/>
              </a:rPr>
              <a:t>Quente      67,5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850" b="0">
                <a:solidFill>
                  <a:srgbClr val="14B8A6"/>
                </a:solidFill>
                <a:latin typeface="Consolas"/>
              </a:rPr>
              <a:t>variação    +9,2%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850" b="0">
                <a:solidFill>
                  <a:srgbClr val="E2E8F0"/>
                </a:solidFill>
                <a:latin typeface="Consolas"/>
              </a:rPr>
              <a:t/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850" b="0">
                <a:solidFill>
                  <a:srgbClr val="E2E8F0"/>
                </a:solidFill>
                <a:latin typeface="Consolas"/>
              </a:rPr>
              <a:t>Capital      MFrio  Quente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850" b="0">
                <a:solidFill>
                  <a:srgbClr val="E2E8F0"/>
                </a:solidFill>
                <a:latin typeface="Consolas"/>
              </a:rPr>
              <a:t>BH            61,9    50,0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850" b="0">
                <a:solidFill>
                  <a:srgbClr val="E2E8F0"/>
                </a:solidFill>
                <a:latin typeface="Consolas"/>
              </a:rPr>
              <a:t>RJ            50,5    43,6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850" b="0">
                <a:solidFill>
                  <a:srgbClr val="E2E8F0"/>
                </a:solidFill>
                <a:latin typeface="Consolas"/>
              </a:rPr>
              <a:t>SP           175,1   163,9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4251960"/>
            <a:ext cx="8138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50" b="0">
                <a:solidFill>
                  <a:srgbClr val="64748B"/>
                </a:solidFill>
                <a:latin typeface="Cambria"/>
              </a:rPr>
              <a:t>As faixas são quartis calculados dentro de cada capital: 18 °C é frio em Vitória e ameno em São Paulo. Um limiar absoluto compararia climas diferentes como se fossem o mesmo.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759452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50" b="0">
                <a:solidFill>
                  <a:srgbClr val="64748B"/>
                </a:solidFill>
                <a:latin typeface="Cambria"/>
              </a:rPr>
              <a:t>SaúdeViz · Challenge FIAP × Oracle 2026 · Sprint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92440" y="4759452"/>
            <a:ext cx="548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750" b="0">
                <a:solidFill>
                  <a:srgbClr val="64748B"/>
                </a:solidFill>
                <a:latin typeface="Cambria"/>
              </a:rPr>
              <a:t>35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81381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Cambria"/>
              </a:rPr>
              <a:t>Só a temperatura mínima importa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822960" cy="406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69264"/>
            <a:ext cx="8138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64748B"/>
                </a:solidFill>
                <a:latin typeface="Cambria"/>
              </a:rPr>
              <a:t>Correlação de Pearson com internação respiratória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4286" y="1325880"/>
            <a:ext cx="4162613" cy="28346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" name="Picture 5" descr="clima_05_correlaca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438" y="1399032"/>
            <a:ext cx="4016309" cy="2688336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069433" y="2057781"/>
            <a:ext cx="3571647" cy="1370838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270601" y="2204085"/>
            <a:ext cx="3169311" cy="107823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850" b="0">
                <a:solidFill>
                  <a:srgbClr val="E2E8F0"/>
                </a:solidFill>
                <a:latin typeface="Consolas"/>
              </a:rPr>
              <a:t>           tmin   tmax  chuva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850" b="0">
                <a:solidFill>
                  <a:srgbClr val="E2E8F0"/>
                </a:solidFill>
                <a:latin typeface="Consolas"/>
              </a:rPr>
              <a:t/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850" b="0">
                <a:solidFill>
                  <a:srgbClr val="E2E8F0"/>
                </a:solidFill>
                <a:latin typeface="Consolas"/>
              </a:rPr>
              <a:t>BH       −0,306  0,020 −0,244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850" b="0">
                <a:solidFill>
                  <a:srgbClr val="E2E8F0"/>
                </a:solidFill>
                <a:latin typeface="Consolas"/>
              </a:rPr>
              <a:t>RJ       −0,185 −0,001 −0,129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850" b="0">
                <a:solidFill>
                  <a:srgbClr val="E2E8F0"/>
                </a:solidFill>
                <a:latin typeface="Consolas"/>
              </a:rPr>
              <a:t>Vitória  −0,148 −0,055 −0,181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850" b="0">
                <a:solidFill>
                  <a:srgbClr val="E2E8F0"/>
                </a:solidFill>
                <a:latin typeface="Consolas"/>
              </a:rPr>
              <a:t>SP       −0,107  0,062 −0,139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4251960"/>
            <a:ext cx="8138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50" b="0">
                <a:solidFill>
                  <a:srgbClr val="64748B"/>
                </a:solidFill>
                <a:latin typeface="Cambria"/>
              </a:rPr>
              <a:t>A temperatura máxima não tem correlação — ronda zero nas quatro cidades. É o frio da madrugada que se relaciona com internação respiratória, não o calor do dia.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759452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50" b="0">
                <a:solidFill>
                  <a:srgbClr val="64748B"/>
                </a:solidFill>
                <a:latin typeface="Cambria"/>
              </a:rPr>
              <a:t>SaúdeViz · Challenge FIAP × Oracle 2026 · Sprint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92440" y="4759452"/>
            <a:ext cx="548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750" b="0">
                <a:solidFill>
                  <a:srgbClr val="64748B"/>
                </a:solidFill>
                <a:latin typeface="Cambria"/>
              </a:rPr>
              <a:t>36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81381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Cambria"/>
              </a:rPr>
              <a:t>A ressalva que o próprio dado revela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822960" cy="406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69264"/>
            <a:ext cx="8138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64748B"/>
                </a:solidFill>
                <a:latin typeface="Cambria"/>
              </a:rPr>
              <a:t>Por que isto é associação, e não causa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325880"/>
            <a:ext cx="7731252" cy="27432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04088" y="1472184"/>
            <a:ext cx="7328916" cy="2450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950" b="0">
                <a:solidFill>
                  <a:srgbClr val="F59E0B"/>
                </a:solidFill>
                <a:latin typeface="Consolas"/>
              </a:rPr>
              <a:t>A chuva aparece com correlação NEGATIVA: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950" b="0">
                <a:solidFill>
                  <a:srgbClr val="F59E0B"/>
                </a:solidFill>
                <a:latin typeface="Consolas"/>
              </a:rPr>
              <a:t>dias chuvosos têm menos internação respiratória.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950" b="0">
                <a:solidFill>
                  <a:srgbClr val="E2E8F0"/>
                </a:solidFill>
                <a:latin typeface="Consolas"/>
              </a:rPr>
              <a:t/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950" b="0">
                <a:solidFill>
                  <a:srgbClr val="E2E8F0"/>
                </a:solidFill>
                <a:latin typeface="Consolas"/>
              </a:rPr>
              <a:t>Contraintuitivo — até lembrar que no Sudeste chove no verão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950" b="0">
                <a:solidFill>
                  <a:srgbClr val="E2E8F0"/>
                </a:solidFill>
                <a:latin typeface="Consolas"/>
              </a:rPr>
              <a:t>e a seca é no inverno. A chuva está medindo a ESTAÇÃO,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950" b="0">
                <a:solidFill>
                  <a:srgbClr val="E2E8F0"/>
                </a:solidFill>
                <a:latin typeface="Consolas"/>
              </a:rPr>
              <a:t>não a si mesma.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950" b="0">
                <a:solidFill>
                  <a:srgbClr val="E2E8F0"/>
                </a:solidFill>
                <a:latin typeface="Consolas"/>
              </a:rPr>
              <a:t/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950" b="0">
                <a:solidFill>
                  <a:srgbClr val="E2E8F0"/>
                </a:solidFill>
                <a:latin typeface="Consolas"/>
              </a:rPr>
              <a:t>O mesmo confundimento pode valer para o frio: dias frios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950" b="0">
                <a:solidFill>
                  <a:srgbClr val="E2E8F0"/>
                </a:solidFill>
                <a:latin typeface="Consolas"/>
              </a:rPr>
              <a:t>concentram-se no inverno, que também tem mais circulação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950" b="0">
                <a:solidFill>
                  <a:srgbClr val="E2E8F0"/>
                </a:solidFill>
                <a:latin typeface="Consolas"/>
              </a:rPr>
              <a:t>viral. Os 9,2% podem ser efeito da temperatura, da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950" b="0">
                <a:solidFill>
                  <a:srgbClr val="E2E8F0"/>
                </a:solidFill>
                <a:latin typeface="Consolas"/>
              </a:rPr>
              <a:t>sazonalidade viral, ou dos dois.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950" b="0">
                <a:solidFill>
                  <a:srgbClr val="E2E8F0"/>
                </a:solidFill>
                <a:latin typeface="Consolas"/>
              </a:rPr>
              <a:t/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950" b="0">
                <a:solidFill>
                  <a:srgbClr val="14B8A6"/>
                </a:solidFill>
                <a:latin typeface="Consolas"/>
              </a:rPr>
              <a:t>É associação, não causa.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197096"/>
            <a:ext cx="81381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50" b="0">
                <a:solidFill>
                  <a:srgbClr val="64748B"/>
                </a:solidFill>
                <a:latin typeface="Cambria"/>
              </a:rPr>
              <a:t>Separar os dois efeitos exigiria dados de circulação viral por semana epidemiológica — fora do escopo desta sprint, e registrado como próximo passo.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759452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50" b="0">
                <a:solidFill>
                  <a:srgbClr val="64748B"/>
                </a:solidFill>
                <a:latin typeface="Cambria"/>
              </a:rPr>
              <a:t>SaúdeViz · Challenge FIAP × Oracle 2026 · Sprint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92440" y="4759452"/>
            <a:ext cx="548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750" b="0">
                <a:solidFill>
                  <a:srgbClr val="64748B"/>
                </a:solidFill>
                <a:latin typeface="Cambria"/>
              </a:rPr>
              <a:t>37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874519"/>
            <a:ext cx="146304" cy="13716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1920240"/>
            <a:ext cx="81381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14B8A6"/>
                </a:solidFill>
                <a:latin typeface="Cambria"/>
              </a:rPr>
              <a:t>SELECT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286000"/>
            <a:ext cx="81381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Perguntas em português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880360"/>
            <a:ext cx="6858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Cambria"/>
              </a:rPr>
              <a:t>O mecanismo equivalente, sobre os mesmos metadados que o Select AI usaria.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759452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50" b="0">
                <a:solidFill>
                  <a:srgbClr val="64748B"/>
                </a:solidFill>
                <a:latin typeface="Cambria"/>
              </a:rPr>
              <a:t>SaúdeViz · Challenge FIAP × Oracle 2026 · Sprint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92440" y="4759452"/>
            <a:ext cx="548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750" b="0">
                <a:solidFill>
                  <a:srgbClr val="64748B"/>
                </a:solidFill>
                <a:latin typeface="Cambria"/>
              </a:rPr>
              <a:t>38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81381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Cambria"/>
              </a:rPr>
              <a:t>Perguntas em linguagem natural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822960" cy="406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69264"/>
            <a:ext cx="8138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64748B"/>
                </a:solidFill>
                <a:latin typeface="Cambria"/>
              </a:rPr>
              <a:t>Página "Pergunte em português" do painel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622637"/>
            <a:ext cx="8138160" cy="2698325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" name="Picture 5" descr="painel_08_nlsql_exempl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" y="1695789"/>
            <a:ext cx="7991856" cy="255202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4759452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50" b="0">
                <a:solidFill>
                  <a:srgbClr val="64748B"/>
                </a:solidFill>
                <a:latin typeface="Cambria"/>
              </a:rPr>
              <a:t>SaúdeViz · Challenge FIAP × Oracle 2026 · Sprint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92440" y="4759452"/>
            <a:ext cx="548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750" b="0">
                <a:solidFill>
                  <a:srgbClr val="64748B"/>
                </a:solidFill>
                <a:latin typeface="Cambria"/>
              </a:rPr>
              <a:t>39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81381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Cambria"/>
              </a:rPr>
              <a:t>O SQL gerado e executado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822960" cy="406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69264"/>
            <a:ext cx="8138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64748B"/>
                </a:solidFill>
                <a:latin typeface="Cambria"/>
              </a:rPr>
              <a:t>Duas perguntas, duas tabelas diferentes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724772"/>
            <a:ext cx="4762195" cy="2036855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" name="Picture 5" descr="painel_10_nlsql_sq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" y="1797924"/>
            <a:ext cx="4615891" cy="1890551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466283" y="1546098"/>
            <a:ext cx="3174797" cy="2394204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7451" y="1692402"/>
            <a:ext cx="2772461" cy="21015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850" b="0">
                <a:solidFill>
                  <a:srgbClr val="E2E8F0"/>
                </a:solidFill>
                <a:latin typeface="Consolas"/>
              </a:rPr>
              <a:t>"quais hospitais mais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850" b="0">
                <a:solidFill>
                  <a:srgbClr val="E2E8F0"/>
                </a:solidFill>
                <a:latin typeface="Consolas"/>
              </a:rPr>
              <a:t> transferem pacientes?"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850" b="0">
                <a:solidFill>
                  <a:srgbClr val="14B8A6"/>
                </a:solidFill>
                <a:latin typeface="Consolas"/>
              </a:rPr>
              <a:t>  → T_SAUDE_RANK_HOSPITAIS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850" b="0">
                <a:solidFill>
                  <a:srgbClr val="E2E8F0"/>
                </a:solidFill>
                <a:latin typeface="Consolas"/>
              </a:rPr>
              <a:t/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850" b="0">
                <a:solidFill>
                  <a:srgbClr val="E2E8F0"/>
                </a:solidFill>
                <a:latin typeface="Consolas"/>
              </a:rPr>
              <a:t>"onde a capacidade está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850" b="0">
                <a:solidFill>
                  <a:srgbClr val="E2E8F0"/>
                </a:solidFill>
                <a:latin typeface="Consolas"/>
              </a:rPr>
              <a:t> sendo ultrapassada?"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850" b="0">
                <a:solidFill>
                  <a:srgbClr val="14B8A6"/>
                </a:solidFill>
                <a:latin typeface="Consolas"/>
              </a:rPr>
              <a:t>  → T_SAUDE_IND_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850" b="0">
                <a:solidFill>
                  <a:srgbClr val="14B8A6"/>
                </a:solidFill>
                <a:latin typeface="Consolas"/>
              </a:rPr>
              <a:t>    CAPACIDADE_MUNICIPAL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850" b="0">
                <a:solidFill>
                  <a:srgbClr val="E2E8F0"/>
                </a:solidFill>
                <a:latin typeface="Consolas"/>
              </a:rPr>
              <a:t/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850" b="0">
                <a:solidFill>
                  <a:srgbClr val="E2E8F0"/>
                </a:solidFill>
                <a:latin typeface="Consolas"/>
              </a:rPr>
              <a:t>A tabela é escolhida pela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850" b="0">
                <a:solidFill>
                  <a:srgbClr val="E2E8F0"/>
                </a:solidFill>
                <a:latin typeface="Consolas"/>
              </a:rPr>
              <a:t>intenção reconhecida, não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850" b="0">
                <a:solidFill>
                  <a:srgbClr val="E2E8F0"/>
                </a:solidFill>
                <a:latin typeface="Consolas"/>
              </a:rPr>
              <a:t>por uma consulta fixa.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4251960"/>
            <a:ext cx="8138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50" b="0">
                <a:solidFill>
                  <a:srgbClr val="64748B"/>
                </a:solidFill>
                <a:latin typeface="Cambria"/>
              </a:rPr>
              <a:t>O SQL continua sendo gerado e executado no Oracle. O tradutor remove a barreira da sintaxe para quem decide.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759452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50" b="0">
                <a:solidFill>
                  <a:srgbClr val="64748B"/>
                </a:solidFill>
                <a:latin typeface="Cambria"/>
              </a:rPr>
              <a:t>SaúdeViz · Challenge FIAP × Oracle 2026 · Sprint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92440" y="4759452"/>
            <a:ext cx="548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750" b="0">
                <a:solidFill>
                  <a:srgbClr val="64748B"/>
                </a:solidFill>
                <a:latin typeface="Cambria"/>
              </a:rPr>
              <a:t>40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81381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Cambria"/>
              </a:rPr>
              <a:t>Por que não é o Select AI nativo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822960" cy="406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69264"/>
            <a:ext cx="8138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64748B"/>
                </a:solidFill>
                <a:latin typeface="Cambria"/>
              </a:rPr>
              <a:t>Verificado no banco, não presumido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885456"/>
            <a:ext cx="4603455" cy="171548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" name="Picture 5" descr="oracle_comentarios_metadad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" y="1958608"/>
            <a:ext cx="4457151" cy="1569184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307543" y="1375537"/>
            <a:ext cx="3333537" cy="2735326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508711" y="1521841"/>
            <a:ext cx="2931201" cy="244271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850" b="0">
                <a:solidFill>
                  <a:srgbClr val="E2E8F0"/>
                </a:solidFill>
                <a:latin typeface="Consolas"/>
              </a:rPr>
              <a:t>SELECT COUNT(*)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850" b="0">
                <a:solidFill>
                  <a:srgbClr val="E2E8F0"/>
                </a:solidFill>
                <a:latin typeface="Consolas"/>
              </a:rPr>
              <a:t>  FROM all_objects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850" b="0">
                <a:solidFill>
                  <a:srgbClr val="E2E8F0"/>
                </a:solidFill>
                <a:latin typeface="Consolas"/>
              </a:rPr>
              <a:t> WHERE object_name =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850" b="0">
                <a:solidFill>
                  <a:srgbClr val="E2E8F0"/>
                </a:solidFill>
                <a:latin typeface="Consolas"/>
              </a:rPr>
              <a:t>       'DBMS_CLOUD_AI';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850" b="0">
                <a:solidFill>
                  <a:srgbClr val="E2E8F0"/>
                </a:solidFill>
                <a:latin typeface="Consolas"/>
              </a:rPr>
              <a:t/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850" b="0">
                <a:solidFill>
                  <a:srgbClr val="EF4444"/>
                </a:solidFill>
                <a:latin typeface="Consolas"/>
              </a:rPr>
              <a:t>            →  0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850" b="0">
                <a:solidFill>
                  <a:srgbClr val="E2E8F0"/>
                </a:solidFill>
                <a:latin typeface="Consolas"/>
              </a:rPr>
              <a:t/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850" b="0">
                <a:solidFill>
                  <a:srgbClr val="E2E8F0"/>
                </a:solidFill>
                <a:latin typeface="Consolas"/>
              </a:rPr>
              <a:t>O Select AI existe apenas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850" b="0">
                <a:solidFill>
                  <a:srgbClr val="E2E8F0"/>
                </a:solidFill>
                <a:latin typeface="Consolas"/>
              </a:rPr>
              <a:t>no Autonomous Database.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850" b="0">
                <a:solidFill>
                  <a:srgbClr val="E2E8F0"/>
                </a:solidFill>
                <a:latin typeface="Consolas"/>
              </a:rPr>
              <a:t/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850" b="0">
                <a:solidFill>
                  <a:srgbClr val="E2E8F0"/>
                </a:solidFill>
                <a:latin typeface="Consolas"/>
              </a:rPr>
              <a:t>Implementamos o mecanismo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850" b="0">
                <a:solidFill>
                  <a:srgbClr val="E2E8F0"/>
                </a:solidFill>
                <a:latin typeface="Consolas"/>
              </a:rPr>
              <a:t>equivalente sobre OS MESMOS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850" b="0">
                <a:solidFill>
                  <a:srgbClr val="E2E8F0"/>
                </a:solidFill>
                <a:latin typeface="Consolas"/>
              </a:rPr>
              <a:t>metadados: os COMMENT ON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850" b="0">
                <a:solidFill>
                  <a:srgbClr val="E2E8F0"/>
                </a:solidFill>
                <a:latin typeface="Consolas"/>
              </a:rPr>
              <a:t>das tabelas.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4251960"/>
            <a:ext cx="8138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50" b="0">
                <a:solidFill>
                  <a:srgbClr val="64748B"/>
                </a:solidFill>
                <a:latin typeface="Cambria"/>
              </a:rPr>
              <a:t>Migrar para o Autonomous não exige remodelar nada — só trocar o motor de tradução. O script já está entregue.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759452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50" b="0">
                <a:solidFill>
                  <a:srgbClr val="64748B"/>
                </a:solidFill>
                <a:latin typeface="Cambria"/>
              </a:rPr>
              <a:t>SaúdeViz · Challenge FIAP × Oracle 2026 · Sprint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92440" y="4759452"/>
            <a:ext cx="548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750" b="0">
                <a:solidFill>
                  <a:srgbClr val="64748B"/>
                </a:solidFill>
                <a:latin typeface="Cambria"/>
              </a:rPr>
              <a:t>41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874519"/>
            <a:ext cx="146304" cy="13716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1920240"/>
            <a:ext cx="81381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14B8A6"/>
                </a:solidFill>
                <a:latin typeface="Cambria"/>
              </a:rPr>
              <a:t>6ª · 7ª · 8ª ENTREGA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286000"/>
            <a:ext cx="81381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Fechamento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880360"/>
            <a:ext cx="6858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Cambria"/>
              </a:rPr>
              <a:t>Repositório, vídeo pitch e conclusões.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759452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50" b="0">
                <a:solidFill>
                  <a:srgbClr val="64748B"/>
                </a:solidFill>
                <a:latin typeface="Cambria"/>
              </a:rPr>
              <a:t>SaúdeViz · Challenge FIAP × Oracle 2026 · Sprint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92440" y="4759452"/>
            <a:ext cx="548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750" b="0">
                <a:solidFill>
                  <a:srgbClr val="64748B"/>
                </a:solidFill>
                <a:latin typeface="Cambria"/>
              </a:rPr>
              <a:t>42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81381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Cambria"/>
              </a:rPr>
              <a:t>Código-fonte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822960" cy="406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69264"/>
            <a:ext cx="8138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64748B"/>
                </a:solidFill>
                <a:latin typeface="Cambria"/>
              </a:rPr>
              <a:t>github.com/rm569173/saudeviz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77007" y="1325880"/>
            <a:ext cx="4172761" cy="32918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" name="Picture 5" descr="github_repositor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159" y="1399032"/>
            <a:ext cx="4026457" cy="3145536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625023" y="1518856"/>
            <a:ext cx="3016057" cy="2905887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826191" y="1665160"/>
            <a:ext cx="2613721" cy="26132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850" b="0">
                <a:solidFill>
                  <a:srgbClr val="E2E8F0"/>
                </a:solidFill>
                <a:latin typeface="Consolas"/>
              </a:rPr>
              <a:t>6 notebooks Databricks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850" b="0">
                <a:solidFill>
                  <a:srgbClr val="E2E8F0"/>
                </a:solidFill>
                <a:latin typeface="Consolas"/>
              </a:rPr>
              <a:t/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850" b="0">
                <a:solidFill>
                  <a:srgbClr val="E2E8F0"/>
                </a:solidFill>
                <a:latin typeface="Consolas"/>
              </a:rPr>
              <a:t>pipeline de ingestão das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850" b="0">
                <a:solidFill>
                  <a:srgbClr val="E2E8F0"/>
                </a:solidFill>
                <a:latin typeface="Consolas"/>
              </a:rPr>
              <a:t>quatro fontes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850" b="0">
                <a:solidFill>
                  <a:srgbClr val="E2E8F0"/>
                </a:solidFill>
                <a:latin typeface="Consolas"/>
              </a:rPr>
              <a:t/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850" b="0">
                <a:solidFill>
                  <a:srgbClr val="E2E8F0"/>
                </a:solidFill>
                <a:latin typeface="Consolas"/>
              </a:rPr>
              <a:t>DDL do Oracle com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850" b="0">
                <a:solidFill>
                  <a:srgbClr val="E2E8F0"/>
                </a:solidFill>
                <a:latin typeface="Consolas"/>
              </a:rPr>
              <a:t>COMMENT ON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850" b="0">
                <a:solidFill>
                  <a:srgbClr val="E2E8F0"/>
                </a:solidFill>
                <a:latin typeface="Consolas"/>
              </a:rPr>
              <a:t/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850" b="0">
                <a:solidFill>
                  <a:srgbClr val="E2E8F0"/>
                </a:solidFill>
                <a:latin typeface="Consolas"/>
              </a:rPr>
              <a:t>tradutor NL→SQL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850" b="0">
                <a:solidFill>
                  <a:srgbClr val="E2E8F0"/>
                </a:solidFill>
                <a:latin typeface="Consolas"/>
              </a:rPr>
              <a:t/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850" b="0">
                <a:solidFill>
                  <a:srgbClr val="E2E8F0"/>
                </a:solidFill>
                <a:latin typeface="Consolas"/>
              </a:rPr>
              <a:t>painel Streamlit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850" b="0">
                <a:solidFill>
                  <a:srgbClr val="E2E8F0"/>
                </a:solidFill>
                <a:latin typeface="Consolas"/>
              </a:rPr>
              <a:t/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850" b="0">
                <a:solidFill>
                  <a:srgbClr val="E2E8F0"/>
                </a:solidFill>
                <a:latin typeface="Consolas"/>
              </a:rPr>
              <a:t>camada Gold versionada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850" b="0">
                <a:solidFill>
                  <a:srgbClr val="E2E8F0"/>
                </a:solidFill>
                <a:latin typeface="Consolas"/>
              </a:rPr>
              <a:t>para reprodução sem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850" b="0">
                <a:solidFill>
                  <a:srgbClr val="E2E8F0"/>
                </a:solidFill>
                <a:latin typeface="Consolas"/>
              </a:rPr>
              <a:t>acesso ao banco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4759452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50" b="0">
                <a:solidFill>
                  <a:srgbClr val="64748B"/>
                </a:solidFill>
                <a:latin typeface="Cambria"/>
              </a:rPr>
              <a:t>SaúdeViz · Challenge FIAP × Oracle 2026 · Sprint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2440" y="4759452"/>
            <a:ext cx="548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750" b="0">
                <a:solidFill>
                  <a:srgbClr val="64748B"/>
                </a:solidFill>
                <a:latin typeface="Cambria"/>
              </a:rPr>
              <a:t>43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81381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Cambria"/>
              </a:rPr>
              <a:t>Vídeo pitch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822960" cy="406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69264"/>
            <a:ext cx="8138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64748B"/>
                </a:solidFill>
                <a:latin typeface="Cambria"/>
              </a:rPr>
              <a:t>Até 5 minutos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325880"/>
            <a:ext cx="6103620" cy="1671828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04088" y="1472184"/>
            <a:ext cx="5701284" cy="13792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 b="0">
                <a:solidFill>
                  <a:srgbClr val="14B8A6"/>
                </a:solidFill>
                <a:latin typeface="Consolas"/>
              </a:rPr>
              <a:t>youtube.com/watch?v=________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 b="0">
                <a:solidFill>
                  <a:srgbClr val="E2E8F0"/>
                </a:solidFill>
                <a:latin typeface="Consolas"/>
              </a:rPr>
              <a:t/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 b="0">
                <a:solidFill>
                  <a:srgbClr val="E2E8F0"/>
                </a:solidFill>
                <a:latin typeface="Consolas"/>
              </a:rPr>
              <a:t>Preencher o link após o upload.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 b="0">
                <a:solidFill>
                  <a:srgbClr val="E2E8F0"/>
                </a:solidFill>
                <a:latin typeface="Consolas"/>
              </a:rPr>
              <a:t/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 b="0">
                <a:solidFill>
                  <a:srgbClr val="E2E8F0"/>
                </a:solidFill>
                <a:latin typeface="Consolas"/>
              </a:rPr>
              <a:t>Publicar como NÃO LISTADO ou público — vídeo privado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 b="0">
                <a:solidFill>
                  <a:srgbClr val="E2E8F0"/>
                </a:solidFill>
                <a:latin typeface="Consolas"/>
              </a:rPr>
              <a:t>não abre para o avaliador.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759452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50" b="0">
                <a:solidFill>
                  <a:srgbClr val="64748B"/>
                </a:solidFill>
                <a:latin typeface="Cambria"/>
              </a:rPr>
              <a:t>SaúdeViz · Challenge FIAP × Oracle 2026 · Sprint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92440" y="4759452"/>
            <a:ext cx="548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750" b="0">
                <a:solidFill>
                  <a:srgbClr val="64748B"/>
                </a:solidFill>
                <a:latin typeface="Cambria"/>
              </a:rPr>
              <a:t>44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81381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Cambria"/>
              </a:rPr>
              <a:t>O que aprendemos com os dados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822960" cy="406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1325880"/>
            <a:ext cx="7731252" cy="2634996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04088" y="1472184"/>
            <a:ext cx="7328916" cy="23423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950" b="0">
                <a:solidFill>
                  <a:srgbClr val="14B8A6"/>
                </a:solidFill>
                <a:latin typeface="Consolas"/>
              </a:rPr>
              <a:t>1. A competência do SIH não é a data da internação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950" b="0">
                <a:solidFill>
                  <a:srgbClr val="E2E8F0"/>
                </a:solidFill>
                <a:latin typeface="Consolas"/>
              </a:rPr>
              <a:t>   42% dos registros de um mês são de meses anteriores.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950" b="0">
                <a:solidFill>
                  <a:srgbClr val="E2E8F0"/>
                </a:solidFill>
                <a:latin typeface="Consolas"/>
              </a:rPr>
              <a:t>   Sem corrigir isso, toda série temporal do projeto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950" b="0">
                <a:solidFill>
                  <a:srgbClr val="E2E8F0"/>
                </a:solidFill>
                <a:latin typeface="Consolas"/>
              </a:rPr>
              <a:t>   estaria errada.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950" b="0">
                <a:solidFill>
                  <a:srgbClr val="E2E8F0"/>
                </a:solidFill>
                <a:latin typeface="Consolas"/>
              </a:rPr>
              <a:t/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950" b="0">
                <a:solidFill>
                  <a:srgbClr val="14B8A6"/>
                </a:solidFill>
                <a:latin typeface="Consolas"/>
              </a:rPr>
              <a:t>2. A coluna COBRANCA revela transferência de paciente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950" b="0">
                <a:solidFill>
                  <a:srgbClr val="E2E8F0"/>
                </a:solidFill>
                <a:latin typeface="Consolas"/>
              </a:rPr>
              <a:t>   Muda "há muitas internações aqui" para "pacientes saem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950" b="0">
                <a:solidFill>
                  <a:srgbClr val="E2E8F0"/>
                </a:solidFill>
                <a:latin typeface="Consolas"/>
              </a:rPr>
              <a:t>   daqui porque não há como tratá-los aqui".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950" b="0">
                <a:solidFill>
                  <a:srgbClr val="E2E8F0"/>
                </a:solidFill>
                <a:latin typeface="Consolas"/>
              </a:rPr>
              <a:t/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950" b="0">
                <a:solidFill>
                  <a:srgbClr val="14B8A6"/>
                </a:solidFill>
                <a:latin typeface="Consolas"/>
              </a:rPr>
              <a:t>3. A demanda hospitalar não tem tendência explorável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950" b="0">
                <a:solidFill>
                  <a:srgbClr val="E2E8F0"/>
                </a:solidFill>
                <a:latin typeface="Consolas"/>
              </a:rPr>
              <a:t>   O sinal previsível está no ciclo semanal e nos feriados.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950" b="0">
                <a:solidFill>
                  <a:srgbClr val="E2E8F0"/>
                </a:solidFill>
                <a:latin typeface="Consolas"/>
              </a:rPr>
              <a:t>   O modelo simples venceu o sofisticado por 5x em 90 dias.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759452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50" b="0">
                <a:solidFill>
                  <a:srgbClr val="64748B"/>
                </a:solidFill>
                <a:latin typeface="Cambria"/>
              </a:rPr>
              <a:t>SaúdeViz · Challenge FIAP × Oracle 2026 · Sprint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92440" y="4759452"/>
            <a:ext cx="548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750" b="0">
                <a:solidFill>
                  <a:srgbClr val="64748B"/>
                </a:solidFill>
                <a:latin typeface="Cambria"/>
              </a:rPr>
              <a:t>45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81381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Cambria"/>
              </a:rPr>
              <a:t>Limitações declaradas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822960" cy="406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69264"/>
            <a:ext cx="8138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64748B"/>
                </a:solidFill>
                <a:latin typeface="Cambria"/>
              </a:rPr>
              <a:t>O que este painel não pode afirmar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325880"/>
            <a:ext cx="7324344" cy="2354072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04088" y="1472184"/>
            <a:ext cx="6922008" cy="20614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 b="0">
                <a:solidFill>
                  <a:srgbClr val="E2E8F0"/>
                </a:solidFill>
                <a:latin typeface="Consolas"/>
              </a:rPr>
              <a:t>·  Recorte no Sudeste — o pipeline é parametrizado por UF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 b="0">
                <a:solidFill>
                  <a:srgbClr val="E2E8F0"/>
                </a:solidFill>
                <a:latin typeface="Consolas"/>
              </a:rPr>
              <a:t/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 b="0">
                <a:solidFill>
                  <a:srgbClr val="E2E8F0"/>
                </a:solidFill>
                <a:latin typeface="Consolas"/>
              </a:rPr>
              <a:t>·  Dezembro/2024 com cobertura de 99,4%, não 100%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 b="0">
                <a:solidFill>
                  <a:srgbClr val="E2E8F0"/>
                </a:solidFill>
                <a:latin typeface="Consolas"/>
              </a:rPr>
              <a:t/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 b="0">
                <a:solidFill>
                  <a:srgbClr val="E2E8F0"/>
                </a:solidFill>
                <a:latin typeface="Consolas"/>
              </a:rPr>
              <a:t>·  Ocupação acima de 1,0 é alerta, não diagnóstico de colapso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 b="0">
                <a:solidFill>
                  <a:srgbClr val="E2E8F0"/>
                </a:solidFill>
                <a:latin typeface="Consolas"/>
              </a:rPr>
              <a:t/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 b="0">
                <a:solidFill>
                  <a:srgbClr val="E2E8F0"/>
                </a:solidFill>
                <a:latin typeface="Consolas"/>
              </a:rPr>
              <a:t>·  Pacientes internados antes de 2024 não entram na contagem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 b="0">
                <a:solidFill>
                  <a:srgbClr val="E2E8F0"/>
                </a:solidFill>
                <a:latin typeface="Consolas"/>
              </a:rPr>
              <a:t>   (medido: menos de 1% dos leitos-dia)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 b="0">
                <a:solidFill>
                  <a:srgbClr val="E2E8F0"/>
                </a:solidFill>
                <a:latin typeface="Consolas"/>
              </a:rPr>
              <a:t/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 b="0">
                <a:solidFill>
                  <a:srgbClr val="E2E8F0"/>
                </a:solidFill>
                <a:latin typeface="Consolas"/>
              </a:rPr>
              <a:t>·  O efeito do frio é associação, não causa comprovada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759452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50" b="0">
                <a:solidFill>
                  <a:srgbClr val="64748B"/>
                </a:solidFill>
                <a:latin typeface="Cambria"/>
              </a:rPr>
              <a:t>SaúdeViz · Challenge FIAP × Oracle 2026 · Sprint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92440" y="4759452"/>
            <a:ext cx="548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750" b="0">
                <a:solidFill>
                  <a:srgbClr val="64748B"/>
                </a:solidFill>
                <a:latin typeface="Cambria"/>
              </a:rPr>
              <a:t>46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81381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Cambria"/>
              </a:rPr>
              <a:t>Próximos passos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822960" cy="406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1325880"/>
            <a:ext cx="7324344" cy="2554732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04088" y="1472184"/>
            <a:ext cx="6922008" cy="22621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 b="0">
                <a:solidFill>
                  <a:srgbClr val="E2E8F0"/>
                </a:solidFill>
                <a:latin typeface="Consolas"/>
              </a:rPr>
              <a:t>·  Separar o efeito do frio do efeito da sazonalidade viral,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 b="0">
                <a:solidFill>
                  <a:srgbClr val="E2E8F0"/>
                </a:solidFill>
                <a:latin typeface="Consolas"/>
              </a:rPr>
              <a:t>   cruzando com circulação respiratória por semana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 b="0">
                <a:solidFill>
                  <a:srgbClr val="E2E8F0"/>
                </a:solidFill>
                <a:latin typeface="Consolas"/>
              </a:rPr>
              <a:t>   epidemiológica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 b="0">
                <a:solidFill>
                  <a:srgbClr val="E2E8F0"/>
                </a:solidFill>
                <a:latin typeface="Consolas"/>
              </a:rPr>
              <a:t/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 b="0">
                <a:solidFill>
                  <a:srgbClr val="E2E8F0"/>
                </a:solidFill>
                <a:latin typeface="Consolas"/>
              </a:rPr>
              <a:t>·  Estender ao Brasil inteiro — o pipeline já é parametrizado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 b="0">
                <a:solidFill>
                  <a:srgbClr val="E2E8F0"/>
                </a:solidFill>
                <a:latin typeface="Consolas"/>
              </a:rPr>
              <a:t>   por UF, é trocar uma lista em config.py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 b="0">
                <a:solidFill>
                  <a:srgbClr val="E2E8F0"/>
                </a:solidFill>
                <a:latin typeface="Consolas"/>
              </a:rPr>
              <a:t/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 b="0">
                <a:solidFill>
                  <a:srgbClr val="E2E8F0"/>
                </a:solidFill>
                <a:latin typeface="Consolas"/>
              </a:rPr>
              <a:t>·  Migrar para o Autonomous Database e ativar o Select AI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 b="0">
                <a:solidFill>
                  <a:srgbClr val="E2E8F0"/>
                </a:solidFill>
                <a:latin typeface="Consolas"/>
              </a:rPr>
              <a:t>   nativo — o script de configuração já está entregue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 b="0">
                <a:solidFill>
                  <a:srgbClr val="E2E8F0"/>
                </a:solidFill>
                <a:latin typeface="Consolas"/>
              </a:rPr>
              <a:t/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 b="0">
                <a:solidFill>
                  <a:srgbClr val="E2E8F0"/>
                </a:solidFill>
                <a:latin typeface="Consolas"/>
              </a:rPr>
              <a:t>·  Retomar a clusterização de municípios por perfil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759452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50" b="0">
                <a:solidFill>
                  <a:srgbClr val="64748B"/>
                </a:solidFill>
                <a:latin typeface="Cambria"/>
              </a:rPr>
              <a:t>SaúdeViz · Challenge FIAP × Oracle 2026 · Sprint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92440" y="4759452"/>
            <a:ext cx="548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750" b="0">
                <a:solidFill>
                  <a:srgbClr val="64748B"/>
                </a:solidFill>
                <a:latin typeface="Cambria"/>
              </a:rPr>
              <a:t>47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1600200"/>
            <a:ext cx="73152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2600" b="1">
                <a:solidFill>
                  <a:srgbClr val="FFFFFF"/>
                </a:solidFill>
                <a:latin typeface="Cambria"/>
              </a:rPr>
              <a:t>Dados que salvam vidas.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2600" b="1">
                <a:solidFill>
                  <a:srgbClr val="FFFFFF"/>
                </a:solidFill>
                <a:latin typeface="Cambria"/>
              </a:rPr>
              <a:t>Decisões que transformam o sistema de saúde.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2971800"/>
            <a:ext cx="1280160" cy="3175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3291840"/>
            <a:ext cx="73152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00" b="0">
                <a:solidFill>
                  <a:srgbClr val="14B8A6"/>
                </a:solidFill>
                <a:latin typeface="Cambria"/>
              </a:rPr>
              <a:t>saudeviz.streamlit.app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00" b="0">
                <a:solidFill>
                  <a:srgbClr val="14B8A6"/>
                </a:solidFill>
                <a:latin typeface="Cambria"/>
              </a:rPr>
              <a:t>github.com/rm569173/saudeviz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759452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50" b="0">
                <a:solidFill>
                  <a:srgbClr val="64748B"/>
                </a:solidFill>
                <a:latin typeface="Cambria"/>
              </a:rPr>
              <a:t>SaúdeViz · Challenge FIAP × Oracle 2026 · Sprint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92440" y="4759452"/>
            <a:ext cx="548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750" b="0">
                <a:solidFill>
                  <a:srgbClr val="64748B"/>
                </a:solidFill>
                <a:latin typeface="Cambria"/>
              </a:rPr>
              <a:t>48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