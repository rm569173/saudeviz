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Bom dia. SaudeViz: um painel que transforma microdados publicos de saude em resposta que um gestor consegue usar.</a:t>
            </a:r>
          </a:p>
          <a:p>
            <a:r>
              <a:t>Vou mostrar de onde os dados vieram, o que precisou ser feito com eles, e como viraram informacao. O produto final esta no ar e eu demonstro ao vivo no fim.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Bom dia. SaudeViz: um painel que transforma microdados publicos de saude em resposta que um gestor consegue usar.</a:t>
            </a:r>
          </a:p>
          <a:p>
            <a:r>
              <a:t>Vou mostrar de onde os dados vieram, o que precisou ser feito com eles, e como viraram informacao. O produto final esta no ar e eu demonstro ao vivo no fim.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Trabalho individual. Lucas Colen, RM 569173, turma 1TSCOA.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Esses numeros sao o resultado da camada Ouro ja carregada no Oracle.</a:t>
            </a:r>
          </a:p>
          <a:p>
            <a:r>
              <a:t>Cinco milhoes e meio de internacoes e o numero DEPOIS do tratamento. O bruto que baixei do DATASUS foi sete milhoes. A diferenca de um milhao e meio nao e perda: sao internacoes de 2023 e de 2025 que vieram junto, porque o SIH publica por mes de pagamento, nao por mes de internacao. Volto nesse ponto, porque foi ele que reorientou o projeto.</a:t>
            </a:r>
          </a:p>
          <a:p>
            <a:r>
              <a:t>A consulta que gera esta tela e um SELECT com SUM de internacoes, SUM de dias_permanencia e SUM de valor_total sobre a tabela fato, agrupando nada: e o total geral.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Primeira entrega: o que prometi na Sprint 1 e o que de fato saiu.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Quatro itens entregues como prometido, dois entregues de forma diferente, dois substituidos.</a:t>
            </a:r>
          </a:p>
          <a:p>
            <a:r>
              <a:t>Os dois amarelos sao limitacao do ambiente, nao minha: o Select AI exige Autonomous Database e a conta academica nao tem privilegio de criar diretorio. Nos dois casos eu entreguei o script pronto e um substituto funcional.</a:t>
            </a:r>
          </a:p>
          <a:p>
            <a:r>
              <a:t>Os dois cinzas sao decisao minha, e eu defendo cada uma na hora certa.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Quadro publico no Trello, 44 cartoes.</a:t>
            </a:r>
          </a:p>
          <a:p>
            <a:r>
              <a:t>A quinta lista e a que interessa numa apresentacao academica: "nao implementado, com justificativa". Um quadro todo verde esconde as decisoes de escopo, que sao parte do trabalho. Cada cartao dessa lista tem o motivo tecnico e o que foi entregue no lugar.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Segunda entrega: o MVP funcionando.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 o painel, publicado e conectado ao Oracle da FIAP.</a:t>
            </a:r>
          </a:p>
          <a:p>
            <a:r>
              <a:t>Cada numero desta tela vem de uma consulta com agregacao empurrada para o banco. Eu nao carrego a tabela e somo no Python: mando SUM e COUNT para o Oracle e trago so o resultado. Isso importa porque a tabela fato tem centenas de milhares de linhas, e trazer tudo para o cliente travava a tela.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pergunta e "onde a capacidade foi ultrapassada".</a:t>
            </a:r>
          </a:p>
          <a:p>
            <a:r>
              <a:t>Para responder eu precisei cruzar duas fontes que nao se conhecem: as internacoes do SIH e os leitos do CNES. O join e por codigo IBGE de seis digitos do municipio. Somo os leitos SUS de todos os estabelecimentos de cada municipio, somo os dias de permanencia consumidos naquele mes, divido um pelo outro e pelo numero de dias do mes. Isso da a taxa de ocupacao.</a:t>
            </a:r>
          </a:p>
          <a:p>
            <a:r>
              <a:t>Repare nos dois numeros lado a lado: media simples e ponderada. A simples trata um municipio de tres leitos igual a Sao Paulo. A distancia entre as barras e o tamanho do erro que eu teria cometido se usasse a media ingenua.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lista de municipios criticos sai de um filtro sobre a tabela de indicador: situacao igual a 'Critica', ordenado por taxa de ocupacao decrescente.</a:t>
            </a:r>
          </a:p>
          <a:p>
            <a:r>
              <a:t>E eu declaro na tela que ocupacao acima de um e alerta para investigar, nao prova de colapso. Pode ser leito desatualizado no CNES, ou municipio-polo atendendo a regiao inteira. A ferramenta reduz mil seiscentos e sessenta e oito municipios a uma lista de dezenas. A decisao continua humana.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tela responde "quais perfis pressionam mais".</a:t>
            </a:r>
          </a:p>
          <a:p>
            <a:r>
              <a:t>O perfil de atendimento nao existe no dado bruto: eu derivei do CID principal, pegando os tres primeiros caracteres e classificando por faixa. J00 a J99 vira respiratorio, S00 a T98 vira causa externa, F00 a F99 vira saude mental.</a:t>
            </a:r>
          </a:p>
          <a:p>
            <a:r>
              <a:t>E o ranking nao e por volume. Eu ordeno por pressao relativa: a participacao no total de leitos-dia dividida pela participacao no total de internacoes. Saude mental fica no topo com 2,15 — ocupa o dobro de leito por internacao que a media. Num painel ordenado por volume ela nem apareceria.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Terceira entrega: a arquitetura que de fato foi implementada.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caminho completo do dado.</a:t>
            </a:r>
          </a:p>
          <a:p>
            <a:r>
              <a:t>Quatro fontes publicas. A ingestao baixa e converte, o Databricks processa em tres camadas, o Oracle guarda a camada de consumo, o Streamlit consulta.</a:t>
            </a:r>
          </a:p>
          <a:p>
            <a:r>
              <a:t>A conversao do .dbc roda fora do Databricks de proposito: e formato proprietario do DATASUS que exige extensao compilada em C e acesso FTP, os dois pouco praticos em compute serverless.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etapa esta onde esta por um motivo, e vale explicar a escolha.</a:t>
            </a:r>
          </a:p>
          <a:p>
            <a:r>
              <a:t>O download local e por causa da biblioteca compilada. O processamento no Databricks e porque sao sete milhoes de linhas — em pandas na minha maquina isso daria quatorze giga de memoria e eu tenho cinco livres. Medi antes de migrar.</a:t>
            </a:r>
          </a:p>
          <a:p>
            <a:r>
              <a:t>O Oracle e a camada de servico: e dele que o painel consulta, e e nele que estao os COMMENT ON que alimentam o tradutor de linguagem natural.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Isto nao e diagrama, e o catalogo real do Databricks.</a:t>
            </a:r>
          </a:p>
          <a:p>
            <a:r>
              <a:t>As tres camadas existem como schemas separados. Bronze guarda o dado cru sem transformar nada — se eu errar na Prata, reprocesso sem baixar sessenta arquivos do DATASUS de novo. Essa e a razao de existir da camada Bronze.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camada Ouro no Oracle: onze tabelas T_SAUDE.</a:t>
            </a:r>
          </a:p>
          <a:p>
            <a:r>
              <a:t>Fatos, dimensoes e tabelas de indicador ja agregadas. O painel nao calcula nada em tempo de tela: ele consulta indicador pronto. Isso e o que faz a tela responder em segundos.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 a prova de que o modelo esta integro.</a:t>
            </a:r>
          </a:p>
          <a:p>
            <a:r>
              <a:t>Eu tenho tres tabelas construidas por caminhos diferentes: o fato agregado por municipio e mes, o indicador de capacidade que faz join com os leitos, e o ranking de hospitais agregado por CNES. Sao tres agregacoes independentes, partindo de granularidades diferentes.</a:t>
            </a:r>
          </a:p>
          <a:p>
            <a:r>
              <a:t>As tres somam exatamente cinco milhoes quinhentos e quarenta e seis mil oitocentos e dezessete. Se eu tivesse duplicado linha num join ou perdido registro num filtro, esses numeros divergiriam.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que nao foi implementado, e por que.</a:t>
            </a:r>
          </a:p>
          <a:p>
            <a:r>
              <a:t>Nos dois primeiros eu verifiquei no banco antes de desistir — nao presumi. No Select AI, consultei o all_objects. Na External Table, consultei o all_directories. Os dois retornaram vazio, e eu entreguei o DDL documentado junto com a consulta que comprova.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Quarta entrega: como os dados foram obtidos, tratados e transformados.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fontes, e como cada uma e lida.</a:t>
            </a:r>
          </a:p>
          <a:p>
            <a:r>
              <a:t>O SIH vem por FTP, em arquivo .dbc, um por estado e por mes: sessenta arquivos. O CNES vem por API REST em JSON — e aqui teve armadilha: o parametro de UF da API e silenciosamente ignorado. Eu recebia trinta e dois mil registros com apenas mil e duzentos unicos, repetidos vinte e sete vezes. Descobri contando distintos, e troquei para busca dirigida por codigo de estabelecimento.</a:t>
            </a:r>
          </a:p>
          <a:p>
            <a:r>
              <a:t>O IBGE vem em CSV, e cumpre a exigencia do terceiro formato. A quarta fonte, de clima, eu acrescentei por conta.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.dbc do DATASUS e um DBF comprimido com um algoritmo antigo, o PKWare DCL. Nenhuma biblioteca padrao le.</a:t>
            </a:r>
          </a:p>
          <a:p>
            <a:r>
              <a:t>E teve um detalhe que custou tempo: a extensao C nao aceita acento no caminho do arquivo. O projeto mora numa pasta chamada "Educacao/Ciencia de Dados", com cedilha e acento. A solucao foi copiar cada arquivo para um diretorio temporario de nome ASCII, converter la, e devolver.</a:t>
            </a:r>
          </a:p>
          <a:p>
            <a:r>
              <a:t>E o tipo de problema que nao aparece em tutorial.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 a descoberta que reorientou o projeto inteiro.</a:t>
            </a:r>
          </a:p>
          <a:p>
            <a:r>
              <a:t>Eu criei uma coluna calculada chamada defasagem_faturamento: a diferenca em meses entre a competencia do arquivo e o mes real da internacao. Agrupei por ela e contei.</a:t>
            </a:r>
          </a:p>
          <a:p>
            <a:r>
              <a:t>Sessenta por cento no mesmo mes. Quarenta por cento espalhados nos tres meses seguintes. Ou seja: a competencia do SIH e o mes de PAGAMENTO da AIH, nao o da internacao.</a:t>
            </a:r>
          </a:p>
          <a:p>
            <a:r>
              <a:t>Se eu tivesse usado a competencia como eixo de tempo, meu painel responderia uma pergunta financeira prometendo uma assistencial. Troquei a dimensao temporal para a data de internacao e ampliei a ingestao ate marco de 2025, para recuperar dezembro faturado com atraso.</a:t>
            </a:r>
          </a:p>
          <a:p>
            <a:r>
              <a:t>Aqui tambem entram os filtros de qualidade: deduplicacao por numero de AIH mantendo a versao mais recente, via row_number sobre uma janela particionada por n_aih; descarte de permanencia fora de zero a trezentos e sessenta e cinco dias; e descarte de valor negativo.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Dezesseis consultas SQL documentadas, cobrindo as quatro frentes do desafio.</a:t>
            </a:r>
          </a:p>
          <a:p>
            <a:r>
              <a:t>Cada uma tem a pergunta de negocio escrita antes do SQL, e a leitura do resultado escrita depois. Nao e SQL solto: e pergunta, consulta, resposta.</a:t>
            </a:r>
          </a:p>
          <a:p>
            <a:r>
              <a:t>Uma delas eu precisei reescrever depois de revisar: a Q11 calculava media simples de leitos por cem mil habitantes entre municipios, o que da o mesmo peso a uma cidade de cinco mil e a uma de doze milhoes. Reescrevi com CTE por municipio, e a conclusao mudou: o Rio passou a ser o pior estado, nao Sao Paulo.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Duas tecnicas estatisticas, e as duas com proposito.</a:t>
            </a:r>
          </a:p>
          <a:p>
            <a:r>
              <a:t>O IQR de Tukey define o limite de outlier em 1,172. Eu tinha escolhido 1,0 como limiar de alerta por raciocinio de negocio, antes de calcular isso. O criterio estatistico, que nao sabe do meu limiar, confirma que ocupacao acima de um e anomala nesta distribuicao.</a:t>
            </a:r>
          </a:p>
          <a:p>
            <a:r>
              <a:t>A correlacao de Pearson entre ocupacao e transferencia da menos 0,305. Negativa: municipios com baixa ocupacao transferem MAIS. Nao e contradicao — e a assinatura de quem nao tem capacidade resolutiva, estabiliza o paciente e encaminha.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eu testei duas abordagens e deixei o dado escolher.</a:t>
            </a:r>
          </a:p>
          <a:p>
            <a:r>
              <a:t>A primeira: regressao com tendencia linear, sazonalidade em termos de Fourier e variavel de feriado. A segunda: perfil semanal simples, que so aprende quanto cada dia da semana desvia da media.</a:t>
            </a:r>
          </a:p>
          <a:p>
            <a:r>
              <a:t>Validei com janela expansivel — treino no passado, teste no futuro, avancando. Nunca com dado aleatorio, porque em serie temporal isso vaza o futuro para o treino.</a:t>
            </a:r>
          </a:p>
          <a:p>
            <a:r>
              <a:t>A regressao perdeu. O erro dela sobe de seis para vinte e sete por cento conforme o horizonte cresce, porque a tendencia linear extrapola. O modelo simples fica estavel em cinco e meio.</a:t>
            </a:r>
          </a:p>
          <a:p>
            <a:r>
              <a:t>Reconhecer que a serie nao tem tendencia explorável valeu mais do que forcar complexidade.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sinal previsivel esta no calendario.</a:t>
            </a:r>
          </a:p>
          <a:p>
            <a:r>
              <a:t>Sabado cai trinta e oito por cento, domingo quarenta e um, feriado vinte e seis. E consistente nos quatro estados, com variacao de tres pontos entre eles.</a:t>
            </a:r>
          </a:p>
          <a:p>
            <a:r>
              <a:t>E a leitura importa: isso nao e menos gente doente no fim de semana. E a rede eletiva parada. Cirurgia programada nao acontece no domingo.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Quinta entrega: as evidencias visuais do que foi construido.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previsao no painel, com intervalo de noventa e cinco por cento.</a:t>
            </a:r>
          </a:p>
          <a:p>
            <a:r>
              <a:t>O intervalo vem do desvio dos residuos por dia da semana — nao e uma faixa arbitraria: cada dia tem a sua propria incerteza histórica.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 o slide onde o painel deixa de descrever e passa a decidir.</a:t>
            </a:r>
          </a:p>
          <a:p>
            <a:r>
              <a:t>O calculo: dias de permanencia consumidos no mes, divididos pelos dias do mes, da o numero medio de leitos ocupados. Divido isso pela taxa de ocupacao alvo — oitenta e cinco por cento — e tenho quantos leitos precisam estar abertos.</a:t>
            </a:r>
          </a:p>
          <a:p>
            <a:r>
              <a:t>O mes de menor necessidade vira a demanda comum: o piso que a rede nao pode desmobilizar. O que passa disso e capacidade sazonal.</a:t>
            </a:r>
          </a:p>
          <a:p>
            <a:r>
              <a:t>Belo Horizonte: piso de 5.107, pico em abril de 5.904, e so 408 leitos de folga. Seis por cento. O painel dispara o alerta sozinho.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Consultas de negocio rodando no Oracle, nao em parquet.</a:t>
            </a:r>
          </a:p>
          <a:p>
            <a:r>
              <a:t>Este e o top dez de hospitais por volume, com a taxa de transferencia ao lado. A Santa Casa de BH tem cinquenta e quatro mil internacoes e transfere zero virgula dois por cento. E o perfil de quem resolve dentro de casa.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Onde as internacoes crescem: comparacao do segundo semestre contra o primeiro, por municipio.</a:t>
            </a:r>
          </a:p>
          <a:p>
            <a:r>
              <a:t>Usei CTE com SUM condicional — soma quando o mes e menor ou igual a seis, soma quando e maior — e filtrei municipios com pelo menos quinhentas internacoes no primeiro semestre. Sem esse filtro, uma cidade que saiu de duas para dez internacoes apareceria com quatrocentos por cento de crescimento e lideraria o ranking.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Quem exporta paciente.</a:t>
            </a:r>
          </a:p>
          <a:p>
            <a:r>
              <a:t>Embu-Guacu tem mil quatrocentas e sessenta internacoes, mil e oitenta e duas transferencias e quinze leitos. Setenta e quatro por cento dos pacientes seguem para outro municipio.</a:t>
            </a:r>
          </a:p>
          <a:p>
            <a:r>
              <a:t>Esse numero so existe porque eu incluí a coluna COBRANCA, que nao estava na minha selecao inicial de vinte e quatro colunas. E antes de usar, validei o mapeamento: os codigos quarenta e um a quarenta e tres somaram exatamente o total da coluna MORTE. Confirmei o bloco de obito empiricamente, em vez de confiar na documentacao.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parte nao era exigida. Entrou para responder o criterio de inovacao.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quarta fonte publica: clima diario das quatro capitais, via Open-Meteo.</a:t>
            </a:r>
          </a:p>
          <a:p>
            <a:r>
              <a:t>Recorte nas capitais porque clima e local: a media do estado misturaria o litoral capixaba com a serra mineira e apagaria qualquer sinal.</a:t>
            </a:r>
          </a:p>
          <a:p>
            <a:r>
              <a:t>E as faixas de temperatura sao quartis calculados DENTRO de cada capital. Dezoito graus e frio em Vitoria e ameno em Sao Paulo — um limiar absoluto compararia climas diferentes como se fossem o mesmo.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Primeira hipotese: chuva aumenta internacao por acidente.</a:t>
            </a:r>
          </a:p>
          <a:p>
            <a:r>
              <a:t>Refutada. Menos de um por cento de diferenca.</a:t>
            </a:r>
          </a:p>
          <a:p>
            <a:r>
              <a:t>Mas o que sustenta a conclusao nao e a media: e o teste de gradiente. Se a chuva causasse acidentes, o efeito cresceria de chuva fraca para forte. Ele sobe e desce sem padrao, e o valor mais baixo vem de dezesseis dias apenas.</a:t>
            </a:r>
          </a:p>
          <a:p>
            <a:r>
              <a:t>Resultado nulo bem medido tambem e resultado. A consequencia pratica: o planejamento hospitalar nao deve reservar capacidade para dia de chuva.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Segunda hipotese: frio aumenta internacao respiratoria.</a:t>
            </a:r>
          </a:p>
          <a:p>
            <a:r>
              <a:t>Confirmada. Nove por cento, e com gradiente monotonico nas quatro capitais, cada uma calculada de forma independente. Quatro replicacoes do mesmo padrao e mais forte que um numero agregado.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um detalhe que reforca: a temperatura MAXIMA nao tem correlacao nenhuma, ronda zero nas quatro cidades. Só a minima correlaciona.</a:t>
            </a:r>
          </a:p>
          <a:p>
            <a:r>
              <a:t>E o frio da madrugada que se relaciona com internacao respiratoria, nao o calor do dia. Se fosse ruido, as duas variaveis se moveriam juntas.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aqui eu declaro o limite da propria analise.</a:t>
            </a:r>
          </a:p>
          <a:p>
            <a:r>
              <a:t>A chuva aparece com correlacao negativa: dia chuvoso tem MENOS internacao respiratoria. Contraintuitivo, ate lembrar que no Sudeste chove no verao e a seca e no inverno. A chuva esta medindo a estacao, nao a si mesma.</a:t>
            </a:r>
          </a:p>
          <a:p>
            <a:r>
              <a:t>O mesmo confundimento pode valer para o frio. Os nove por cento podem ser efeito da temperatura, da sazonalidade viral, ou dos dois. E associacao, nao causa.</a:t>
            </a:r>
          </a:p>
          <a:p>
            <a:r>
              <a:t>Separar exigiria dado de circulacao viral por semana epidemiologica. Esta registrado como proximo passo.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parte de linguagem natural do desafio.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pagina "Pergunte em portugues". Oito exemplos, e campo livre.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Duas perguntas diferentes gerando SQL sobre tabelas diferentes.</a:t>
            </a:r>
          </a:p>
          <a:p>
            <a:r>
              <a:t>O tradutor pontua a pergunta contra um vocabulario de radicais com peso, escolhe a intencao de maior pontuacao, extrai as entidades — estado, mes, quantidade — e monta o SQL a partir de um modelo parametrizado.</a:t>
            </a:r>
          </a:p>
          <a:p>
            <a:r>
              <a:t>E ele MOSTRA o SQL antes de executar. Isso e deliberado: num painel de saude publica, quem decide precisa poder conferir de onde veio o numero.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que nao e o Select AI nativo.</a:t>
            </a:r>
          </a:p>
          <a:p>
            <a:r>
              <a:t>Eu consultei o all_objects procurando o DBMS_CLOUD_AI. Retornou zero. O Select AI so existe no Autonomous Database, e a instancia academica da FIAP e uma 19c Enterprise.</a:t>
            </a:r>
          </a:p>
          <a:p>
            <a:r>
              <a:t>Entao implementei o equivalente sobre exatamente os mesmos metadados: os COMMENT ON das tabelas. Eu escrevi esses comentarios em linguagem de negocio de proposito, desde o DDL, sabendo que seriam o dicionario do tradutor.</a:t>
            </a:r>
          </a:p>
          <a:p>
            <a:r>
              <a:t>Migrar para o Autonomous nao exige remodelar nada. O script ja esta entregue.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Fechamento: repositorio, video e conclusoes.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codigo esta todo publico no GitHub. Notebooks, pipeline de ingestao, DDL, tradutor e painel.</a:t>
            </a:r>
          </a:p>
          <a:p>
            <a:r>
              <a:t>E a camada Ouro esta versionada junto — cerca de seis mega de parquet. Isso permite que qualquer pessoa reproduza o painel sem ter acesso ao Oracle da FIAP.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video de cinco minutos com a demonstracao ao vivo.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coisas que os dados me ensinaram, e que eu nao sabia quando comecei.</a:t>
            </a:r>
          </a:p>
          <a:p>
            <a:r>
              <a:t>A primeira mudou a dimensao temporal do projeto inteiro. A segunda mudou a pergunta que o painel responde. A terceira me fez descartar o modelo mais sofisticado em favor do mais simples.</a:t>
            </a:r>
          </a:p>
          <a:p>
            <a:r>
              <a:t>Nenhuma das tres estava no plano da Sprint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o que este painel NAO pode afirmar.</a:t>
            </a:r>
          </a:p>
          <a:p>
            <a:r>
              <a:t>Declarar limite nao enfraquece o trabalho: e o que separa analise de opiniao com grafico. Cada um desses itens eu medi antes de declarar — inclusive o menos de um por cento dos leitos-dia de pacientes internados antes de 2024.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proximos passos saem direto das limitacoes do slide anterior.</a:t>
            </a:r>
          </a:p>
          <a:p>
            <a:r>
              <a:t>Nenhum deles exige refazer o que esta feito: o pipeline ja e parametrizado por estado, e a migracao para o Autonomous e troca de motor, nao de modelo.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0"/>
            <a:ext cx="182880" cy="51435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417320"/>
            <a:ext cx="7315200" cy="914400"/>
          </a:xfrm>
          <a:prstGeom prst="rect">
            <a:avLst/>
          </a:prstGeom>
          <a:noFill/>
        </p:spPr>
        <p:txBody>
          <a:bodyPr wrap="square" lIns="0" rIns="0" tIns="0" bIns="0">
            <a:spAutoFit/>
          </a:bodyPr>
          <a:lstStyle/>
          <a:p>
            <a:pPr algn="l">
              <a:lnSpc>
                <a:spcPct val="115000"/>
              </a:lnSpc>
              <a:spcAft>
                <a:spcPts val="400"/>
              </a:spcAft>
            </a:pPr>
            <a:r>
              <a:rPr sz="5200" b="1">
                <a:solidFill>
                  <a:srgbClr val="FFFFFF"/>
                </a:solidFill>
                <a:latin typeface="Cambria"/>
              </a:rPr>
              <a:t>SaúdeViz</a:t>
            </a:r>
          </a:p>
        </p:txBody>
      </p:sp>
      <p:sp>
        <p:nvSpPr>
          <p:cNvPr id="4" name="TextBox 3"/>
          <p:cNvSpPr txBox="1"/>
          <p:nvPr/>
        </p:nvSpPr>
        <p:spPr>
          <a:xfrm>
            <a:off x="868680" y="2395728"/>
            <a:ext cx="7315200" cy="457200"/>
          </a:xfrm>
          <a:prstGeom prst="rect">
            <a:avLst/>
          </a:prstGeom>
          <a:noFill/>
        </p:spPr>
        <p:txBody>
          <a:bodyPr wrap="square" lIns="0" rIns="0" tIns="0" bIns="0">
            <a:spAutoFit/>
          </a:bodyPr>
          <a:lstStyle/>
          <a:p>
            <a:pPr algn="l">
              <a:lnSpc>
                <a:spcPct val="115000"/>
              </a:lnSpc>
              <a:spcAft>
                <a:spcPts val="400"/>
              </a:spcAft>
            </a:pPr>
            <a:r>
              <a:rPr sz="1500" b="0">
                <a:solidFill>
                  <a:srgbClr val="14B8A6"/>
                </a:solidFill>
                <a:latin typeface="Cambria"/>
              </a:rPr>
              <a:t>Painel inteligente de acesso hospitalar e perfil de atendimento</a:t>
            </a:r>
          </a:p>
        </p:txBody>
      </p:sp>
      <p:sp>
        <p:nvSpPr>
          <p:cNvPr id="5" name="Rectangle 4"/>
          <p:cNvSpPr/>
          <p:nvPr/>
        </p:nvSpPr>
        <p:spPr>
          <a:xfrm>
            <a:off x="868680" y="2971800"/>
            <a:ext cx="1280160" cy="3175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246120"/>
            <a:ext cx="7315200" cy="1005840"/>
          </a:xfrm>
          <a:prstGeom prst="rect">
            <a:avLst/>
          </a:prstGeom>
          <a:noFill/>
        </p:spPr>
        <p:txBody>
          <a:bodyPr wrap="square" lIns="0" rIns="0" tIns="0" bIns="0">
            <a:spAutoFit/>
          </a:bodyPr>
          <a:lstStyle/>
          <a:p>
            <a:pPr algn="l">
              <a:lnSpc>
                <a:spcPct val="115000"/>
              </a:lnSpc>
              <a:spcAft>
                <a:spcPts val="400"/>
              </a:spcAft>
            </a:pPr>
            <a:r>
              <a:rPr sz="1150" b="0">
                <a:solidFill>
                  <a:srgbClr val="E2E8F0"/>
                </a:solidFill>
                <a:latin typeface="Cambria"/>
              </a:rPr>
              <a:t>Challenge FIAP × Oracle 2026 · Sprint 2</a:t>
            </a:r>
          </a:p>
          <a:p>
            <a:pPr algn="l">
              <a:lnSpc>
                <a:spcPct val="115000"/>
              </a:lnSpc>
              <a:spcAft>
                <a:spcPts val="400"/>
              </a:spcAft>
            </a:pPr>
            <a:r>
              <a:rPr sz="1150" b="0">
                <a:solidFill>
                  <a:srgbClr val="E2E8F0"/>
                </a:solidFill>
                <a:latin typeface="Cambria"/>
              </a:rPr>
              <a:t>Turma 1TSCOA</a:t>
            </a:r>
          </a:p>
          <a:p>
            <a:pPr algn="l">
              <a:lnSpc>
                <a:spcPct val="115000"/>
              </a:lnSpc>
              <a:spcAft>
                <a:spcPts val="400"/>
              </a:spcAft>
            </a:pPr>
            <a:r>
              <a:rPr sz="1150" b="0">
                <a:solidFill>
                  <a:srgbClr val="E2E8F0"/>
                </a:solidFill>
                <a:latin typeface="Cambria"/>
              </a:rPr>
              <a:t>Lucas Ventura Araujo Ribas Colen — RM 569173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Identificação do grupo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17320"/>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INTEGRANTE DO GRUPO</a:t>
            </a:r>
          </a:p>
        </p:txBody>
      </p:sp>
      <p:sp>
        <p:nvSpPr>
          <p:cNvPr id="5" name="TextBox 4"/>
          <p:cNvSpPr txBox="1"/>
          <p:nvPr/>
        </p:nvSpPr>
        <p:spPr>
          <a:xfrm>
            <a:off x="3017520" y="1389888"/>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Lucas Ventura Araujo Ribas Colen</a:t>
            </a:r>
          </a:p>
        </p:txBody>
      </p:sp>
      <p:sp>
        <p:nvSpPr>
          <p:cNvPr id="6" name="TextBox 5"/>
          <p:cNvSpPr txBox="1"/>
          <p:nvPr/>
        </p:nvSpPr>
        <p:spPr>
          <a:xfrm>
            <a:off x="502920" y="1984248"/>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RM</a:t>
            </a:r>
          </a:p>
        </p:txBody>
      </p:sp>
      <p:sp>
        <p:nvSpPr>
          <p:cNvPr id="7" name="TextBox 6"/>
          <p:cNvSpPr txBox="1"/>
          <p:nvPr/>
        </p:nvSpPr>
        <p:spPr>
          <a:xfrm>
            <a:off x="3017520" y="1956816"/>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569173</a:t>
            </a:r>
          </a:p>
        </p:txBody>
      </p:sp>
      <p:sp>
        <p:nvSpPr>
          <p:cNvPr id="8" name="TextBox 7"/>
          <p:cNvSpPr txBox="1"/>
          <p:nvPr/>
        </p:nvSpPr>
        <p:spPr>
          <a:xfrm>
            <a:off x="502920" y="2551176"/>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TURMA</a:t>
            </a:r>
          </a:p>
        </p:txBody>
      </p:sp>
      <p:sp>
        <p:nvSpPr>
          <p:cNvPr id="9" name="TextBox 8"/>
          <p:cNvSpPr txBox="1"/>
          <p:nvPr/>
        </p:nvSpPr>
        <p:spPr>
          <a:xfrm>
            <a:off x="3017520" y="2523744"/>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1TSCOA</a:t>
            </a:r>
          </a:p>
        </p:txBody>
      </p:sp>
      <p:sp>
        <p:nvSpPr>
          <p:cNvPr id="10" name="TextBox 9"/>
          <p:cNvSpPr txBox="1"/>
          <p:nvPr/>
        </p:nvSpPr>
        <p:spPr>
          <a:xfrm>
            <a:off x="502920" y="3118104"/>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INSTITUIÇÃO</a:t>
            </a:r>
          </a:p>
        </p:txBody>
      </p:sp>
      <p:sp>
        <p:nvSpPr>
          <p:cNvPr id="11" name="TextBox 10"/>
          <p:cNvSpPr txBox="1"/>
          <p:nvPr/>
        </p:nvSpPr>
        <p:spPr>
          <a:xfrm>
            <a:off x="3017520" y="3090672"/>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FIAP</a:t>
            </a:r>
          </a:p>
        </p:txBody>
      </p:sp>
      <p:sp>
        <p:nvSpPr>
          <p:cNvPr id="12" name="TextBox 11"/>
          <p:cNvSpPr txBox="1"/>
          <p:nvPr/>
        </p:nvSpPr>
        <p:spPr>
          <a:xfrm>
            <a:off x="502920" y="3685032"/>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ANO</a:t>
            </a:r>
          </a:p>
        </p:txBody>
      </p:sp>
      <p:sp>
        <p:nvSpPr>
          <p:cNvPr id="13" name="TextBox 12"/>
          <p:cNvSpPr txBox="1"/>
          <p:nvPr/>
        </p:nvSpPr>
        <p:spPr>
          <a:xfrm>
            <a:off x="3017520" y="3657600"/>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2026</a:t>
            </a:r>
          </a:p>
        </p:txBody>
      </p:sp>
      <p:sp>
        <p:nvSpPr>
          <p:cNvPr id="14" name="TextBox 13"/>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5" name="TextBox 14"/>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Os números da entrega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Camada Ouro carregada no Oracle 19c da FIAP</a:t>
            </a:r>
          </a:p>
        </p:txBody>
      </p:sp>
      <p:sp>
        <p:nvSpPr>
          <p:cNvPr id="5" name="Rounded Rectangle 4"/>
          <p:cNvSpPr/>
          <p:nvPr/>
        </p:nvSpPr>
        <p:spPr>
          <a:xfrm>
            <a:off x="502920"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0936"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5.546.817</a:t>
            </a:r>
          </a:p>
        </p:txBody>
      </p:sp>
      <p:sp>
        <p:nvSpPr>
          <p:cNvPr id="7" name="TextBox 6"/>
          <p:cNvSpPr txBox="1"/>
          <p:nvPr/>
        </p:nvSpPr>
        <p:spPr>
          <a:xfrm>
            <a:off x="612648"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internações do SIH/SUS</a:t>
            </a:r>
          </a:p>
          <a:p>
            <a:pPr algn="ctr">
              <a:lnSpc>
                <a:spcPct val="110000"/>
              </a:lnSpc>
              <a:spcAft>
                <a:spcPts val="100"/>
              </a:spcAft>
            </a:pPr>
            <a:r>
              <a:rPr sz="850" b="0">
                <a:solidFill>
                  <a:srgbClr val="64748B"/>
                </a:solidFill>
                <a:latin typeface="Cambria"/>
              </a:rPr>
              <a:t>ocorridas em 2024</a:t>
            </a:r>
          </a:p>
        </p:txBody>
      </p:sp>
      <p:sp>
        <p:nvSpPr>
          <p:cNvPr id="8" name="Rounded Rectangle 7"/>
          <p:cNvSpPr/>
          <p:nvPr/>
        </p:nvSpPr>
        <p:spPr>
          <a:xfrm>
            <a:off x="2156155"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284171"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R$ 10,03 bi</a:t>
            </a:r>
          </a:p>
        </p:txBody>
      </p:sp>
      <p:sp>
        <p:nvSpPr>
          <p:cNvPr id="10" name="TextBox 9"/>
          <p:cNvSpPr txBox="1"/>
          <p:nvPr/>
        </p:nvSpPr>
        <p:spPr>
          <a:xfrm>
            <a:off x="2265883"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pagos pelo SUS</a:t>
            </a:r>
          </a:p>
          <a:p>
            <a:pPr algn="ctr">
              <a:lnSpc>
                <a:spcPct val="110000"/>
              </a:lnSpc>
              <a:spcAft>
                <a:spcPts val="100"/>
              </a:spcAft>
            </a:pPr>
            <a:r>
              <a:rPr sz="850" b="0">
                <a:solidFill>
                  <a:srgbClr val="64748B"/>
                </a:solidFill>
                <a:latin typeface="Cambria"/>
              </a:rPr>
              <a:t>no período</a:t>
            </a:r>
          </a:p>
        </p:txBody>
      </p:sp>
      <p:sp>
        <p:nvSpPr>
          <p:cNvPr id="11" name="Rounded Rectangle 10"/>
          <p:cNvSpPr/>
          <p:nvPr/>
        </p:nvSpPr>
        <p:spPr>
          <a:xfrm>
            <a:off x="3809390"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937406"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4 estados</a:t>
            </a:r>
          </a:p>
        </p:txBody>
      </p:sp>
      <p:sp>
        <p:nvSpPr>
          <p:cNvPr id="13" name="TextBox 12"/>
          <p:cNvSpPr txBox="1"/>
          <p:nvPr/>
        </p:nvSpPr>
        <p:spPr>
          <a:xfrm>
            <a:off x="3919118"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ES · MG · RJ · SP</a:t>
            </a:r>
          </a:p>
          <a:p>
            <a:pPr algn="ctr">
              <a:lnSpc>
                <a:spcPct val="110000"/>
              </a:lnSpc>
              <a:spcAft>
                <a:spcPts val="100"/>
              </a:spcAft>
            </a:pPr>
            <a:r>
              <a:rPr sz="850" b="0">
                <a:solidFill>
                  <a:srgbClr val="64748B"/>
                </a:solidFill>
                <a:latin typeface="Cambria"/>
              </a:rPr>
              <a:t>89 milhões de habitantes</a:t>
            </a:r>
          </a:p>
        </p:txBody>
      </p:sp>
      <p:sp>
        <p:nvSpPr>
          <p:cNvPr id="14" name="Rounded Rectangle 13"/>
          <p:cNvSpPr/>
          <p:nvPr/>
        </p:nvSpPr>
        <p:spPr>
          <a:xfrm>
            <a:off x="5462625"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90641"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3.131</a:t>
            </a:r>
          </a:p>
        </p:txBody>
      </p:sp>
      <p:sp>
        <p:nvSpPr>
          <p:cNvPr id="16" name="TextBox 15"/>
          <p:cNvSpPr txBox="1"/>
          <p:nvPr/>
        </p:nvSpPr>
        <p:spPr>
          <a:xfrm>
            <a:off x="5572353"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estabelecimentos</a:t>
            </a:r>
          </a:p>
          <a:p>
            <a:pPr algn="ctr">
              <a:lnSpc>
                <a:spcPct val="110000"/>
              </a:lnSpc>
              <a:spcAft>
                <a:spcPts val="100"/>
              </a:spcAft>
            </a:pPr>
            <a:r>
              <a:rPr sz="850" b="0">
                <a:solidFill>
                  <a:srgbClr val="64748B"/>
                </a:solidFill>
                <a:latin typeface="Cambria"/>
              </a:rPr>
              <a:t>com leito</a:t>
            </a:r>
          </a:p>
        </p:txBody>
      </p:sp>
      <p:sp>
        <p:nvSpPr>
          <p:cNvPr id="17" name="Rounded Rectangle 16"/>
          <p:cNvSpPr/>
          <p:nvPr/>
        </p:nvSpPr>
        <p:spPr>
          <a:xfrm>
            <a:off x="7115860"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3876"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11</a:t>
            </a:r>
          </a:p>
        </p:txBody>
      </p:sp>
      <p:sp>
        <p:nvSpPr>
          <p:cNvPr id="19" name="TextBox 18"/>
          <p:cNvSpPr txBox="1"/>
          <p:nvPr/>
        </p:nvSpPr>
        <p:spPr>
          <a:xfrm>
            <a:off x="7225588"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tabelas na camada</a:t>
            </a:r>
          </a:p>
          <a:p>
            <a:pPr algn="ctr">
              <a:lnSpc>
                <a:spcPct val="110000"/>
              </a:lnSpc>
              <a:spcAft>
                <a:spcPts val="100"/>
              </a:spcAft>
            </a:pPr>
            <a:r>
              <a:rPr sz="850" b="0">
                <a:solidFill>
                  <a:srgbClr val="64748B"/>
                </a:solidFill>
                <a:latin typeface="Cambria"/>
              </a:rPr>
              <a:t>Gold do Oracle</a:t>
            </a:r>
          </a:p>
        </p:txBody>
      </p:sp>
      <p:sp>
        <p:nvSpPr>
          <p:cNvPr id="20" name="Rounded Rectangle 19"/>
          <p:cNvSpPr/>
          <p:nvPr/>
        </p:nvSpPr>
        <p:spPr>
          <a:xfrm>
            <a:off x="2023518" y="2898648"/>
            <a:ext cx="5096964" cy="16002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da_resumo_executivo.png"/>
          <p:cNvPicPr>
            <a:picLocks noChangeAspect="1"/>
          </p:cNvPicPr>
          <p:nvPr/>
        </p:nvPicPr>
        <p:blipFill>
          <a:blip r:embed="rId2"/>
          <a:stretch>
            <a:fillRect/>
          </a:stretch>
        </p:blipFill>
        <p:spPr>
          <a:xfrm>
            <a:off x="2096670" y="2971800"/>
            <a:ext cx="4950660" cy="1453896"/>
          </a:xfrm>
          <a:prstGeom prst="rect">
            <a:avLst/>
          </a:prstGeom>
        </p:spPr>
      </p:pic>
      <p:sp>
        <p:nvSpPr>
          <p:cNvPr id="22" name="TextBox 21"/>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23" name="TextBox 22"/>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1ª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Sprint 1 atualizada</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O que foi prometido, o que foi entregue e o que mudou de rota — com o motivo.</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mudou desde a Sprint 1</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02920" y="1325880"/>
          <a:ext cx="8138159" cy="2487168"/>
        </p:xfrm>
        <a:graphic>
          <a:graphicData uri="http://schemas.openxmlformats.org/drawingml/2006/table">
            <a:tbl>
              <a:tblPr firstRow="1" bandRow="1">
                <a:tableStyleId>{5C22544A-7EE6-4342-B048-85BDC9FD1C3A}</a:tableStyleId>
              </a:tblPr>
              <a:tblGrid>
                <a:gridCol w="3418027"/>
                <a:gridCol w="4720132"/>
              </a:tblGrid>
              <a:tr h="276352">
                <a:tc>
                  <a:txBody>
                    <a:bodyPr wrap="square"/>
                    <a:lstStyle/>
                    <a:p>
                      <a:pPr algn="l">
                        <a:lnSpc>
                          <a:spcPct val="115000"/>
                        </a:lnSpc>
                        <a:spcAft>
                          <a:spcPts val="0"/>
                        </a:spcAft>
                      </a:pPr>
                      <a:r>
                        <a:rPr sz="950" b="1">
                          <a:solidFill>
                            <a:srgbClr val="FFFFFF"/>
                          </a:solidFill>
                          <a:latin typeface="Cambria"/>
                        </a:rPr>
                        <a:t>Prometido na Sprint 1</a:t>
                      </a:r>
                    </a:p>
                  </a:txBody>
                  <a:tcPr anchor="ctr" marL="73152" marR="73152">
                    <a:solidFill>
                      <a:srgbClr val="0D9488"/>
                    </a:solidFill>
                  </a:tcPr>
                </a:tc>
                <a:tc>
                  <a:txBody>
                    <a:bodyPr wrap="square"/>
                    <a:lstStyle/>
                    <a:p>
                      <a:pPr algn="l">
                        <a:lnSpc>
                          <a:spcPct val="115000"/>
                        </a:lnSpc>
                        <a:spcAft>
                          <a:spcPts val="0"/>
                        </a:spcAft>
                      </a:pPr>
                      <a:r>
                        <a:rPr sz="950" b="1">
                          <a:solidFill>
                            <a:srgbClr val="FFFFFF"/>
                          </a:solidFill>
                          <a:latin typeface="Cambria"/>
                        </a:rPr>
                        <a:t>Situação</a:t>
                      </a:r>
                    </a:p>
                  </a:txBody>
                  <a:tcPr anchor="ctr" marL="73152" marR="73152">
                    <a:solidFill>
                      <a:srgbClr val="0D9488"/>
                    </a:solidFill>
                  </a:tcPr>
                </a:tc>
              </a:tr>
              <a:tr h="276352">
                <a:tc>
                  <a:txBody>
                    <a:bodyPr wrap="square"/>
                    <a:lstStyle/>
                    <a:p>
                      <a:pPr algn="l">
                        <a:lnSpc>
                          <a:spcPct val="115000"/>
                        </a:lnSpc>
                        <a:spcAft>
                          <a:spcPts val="0"/>
                        </a:spcAft>
                      </a:pPr>
                      <a:r>
                        <a:rPr sz="950" b="0">
                          <a:solidFill>
                            <a:srgbClr val="E2E8F0"/>
                          </a:solidFill>
                          <a:latin typeface="Cambria"/>
                        </a:rPr>
                        <a:t>3 fontes: SQL, JSON e CSV</a:t>
                      </a:r>
                    </a:p>
                  </a:txBody>
                  <a:tcPr anchor="ctr" marL="73152" marR="73152">
                    <a:solidFill>
                      <a:srgbClr val="1E293B"/>
                    </a:solidFill>
                  </a:tcPr>
                </a:tc>
                <a:tc>
                  <a:txBody>
                    <a:bodyPr wrap="square"/>
                    <a:lstStyle/>
                    <a:p>
                      <a:pPr algn="l">
                        <a:lnSpc>
                          <a:spcPct val="115000"/>
                        </a:lnSpc>
                        <a:spcAft>
                          <a:spcPts val="0"/>
                        </a:spcAft>
                      </a:pPr>
                      <a:r>
                        <a:rPr sz="950" b="0">
                          <a:solidFill>
                            <a:srgbClr val="14B8A6"/>
                          </a:solidFill>
                          <a:latin typeface="Cambria"/>
                        </a:rPr>
                        <a:t>✅ Entregue — e uma quarta, de clima</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Medallion Bronze → Prata → Ouro</a:t>
                      </a:r>
                    </a:p>
                  </a:txBody>
                  <a:tcPr anchor="ctr" marL="73152" marR="73152">
                    <a:solidFill>
                      <a:srgbClr val="1E3A5F"/>
                    </a:solidFill>
                  </a:tcPr>
                </a:tc>
                <a:tc>
                  <a:txBody>
                    <a:bodyPr wrap="square"/>
                    <a:lstStyle/>
                    <a:p>
                      <a:pPr algn="l">
                        <a:lnSpc>
                          <a:spcPct val="115000"/>
                        </a:lnSpc>
                        <a:spcAft>
                          <a:spcPts val="0"/>
                        </a:spcAft>
                      </a:pPr>
                      <a:r>
                        <a:rPr sz="950" b="0">
                          <a:solidFill>
                            <a:srgbClr val="14B8A6"/>
                          </a:solidFill>
                          <a:latin typeface="Cambria"/>
                        </a:rPr>
                        <a:t>✅ Entregue, em PySpark no Databricks</a:t>
                      </a:r>
                    </a:p>
                  </a:txBody>
                  <a:tcPr anchor="ctr" marL="73152" marR="73152">
                    <a:solidFill>
                      <a:srgbClr val="1E3A5F"/>
                    </a:solidFill>
                  </a:tcPr>
                </a:tc>
              </a:tr>
              <a:tr h="276352">
                <a:tc>
                  <a:txBody>
                    <a:bodyPr wrap="square"/>
                    <a:lstStyle/>
                    <a:p>
                      <a:pPr algn="l">
                        <a:lnSpc>
                          <a:spcPct val="115000"/>
                        </a:lnSpc>
                        <a:spcAft>
                          <a:spcPts val="0"/>
                        </a:spcAft>
                      </a:pPr>
                      <a:r>
                        <a:rPr sz="950" b="0">
                          <a:solidFill>
                            <a:srgbClr val="E2E8F0"/>
                          </a:solidFill>
                          <a:latin typeface="Cambria"/>
                        </a:rPr>
                        <a:t>Oracle como camada Gold</a:t>
                      </a:r>
                    </a:p>
                  </a:txBody>
                  <a:tcPr anchor="ctr" marL="73152" marR="73152">
                    <a:solidFill>
                      <a:srgbClr val="1E293B"/>
                    </a:solidFill>
                  </a:tcPr>
                </a:tc>
                <a:tc>
                  <a:txBody>
                    <a:bodyPr wrap="square"/>
                    <a:lstStyle/>
                    <a:p>
                      <a:pPr algn="l">
                        <a:lnSpc>
                          <a:spcPct val="115000"/>
                        </a:lnSpc>
                        <a:spcAft>
                          <a:spcPts val="0"/>
                        </a:spcAft>
                      </a:pPr>
                      <a:r>
                        <a:rPr sz="950" b="0">
                          <a:solidFill>
                            <a:srgbClr val="14B8A6"/>
                          </a:solidFill>
                          <a:latin typeface="Cambria"/>
                        </a:rPr>
                        <a:t>✅ Entregue, 11 tabelas T_SAUDE_*</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Análise preditiva</a:t>
                      </a:r>
                    </a:p>
                  </a:txBody>
                  <a:tcPr anchor="ctr" marL="73152" marR="73152">
                    <a:solidFill>
                      <a:srgbClr val="1E3A5F"/>
                    </a:solidFill>
                  </a:tcPr>
                </a:tc>
                <a:tc>
                  <a:txBody>
                    <a:bodyPr wrap="square"/>
                    <a:lstStyle/>
                    <a:p>
                      <a:pPr algn="l">
                        <a:lnSpc>
                          <a:spcPct val="115000"/>
                        </a:lnSpc>
                        <a:spcAft>
                          <a:spcPts val="0"/>
                        </a:spcAft>
                      </a:pPr>
                      <a:r>
                        <a:rPr sz="950" b="0">
                          <a:solidFill>
                            <a:srgbClr val="14B8A6"/>
                          </a:solidFill>
                          <a:latin typeface="Cambria"/>
                        </a:rPr>
                        <a:t>✅ Entregue, com validação temporal</a:t>
                      </a:r>
                    </a:p>
                  </a:txBody>
                  <a:tcPr anchor="ctr" marL="73152" marR="73152">
                    <a:solidFill>
                      <a:srgbClr val="1E3A5F"/>
                    </a:solidFill>
                  </a:tcPr>
                </a:tc>
              </a:tr>
              <a:tr h="276352">
                <a:tc>
                  <a:txBody>
                    <a:bodyPr wrap="square"/>
                    <a:lstStyle/>
                    <a:p>
                      <a:pPr algn="l">
                        <a:lnSpc>
                          <a:spcPct val="115000"/>
                        </a:lnSpc>
                        <a:spcAft>
                          <a:spcPts val="0"/>
                        </a:spcAft>
                      </a:pPr>
                      <a:r>
                        <a:rPr sz="950" b="0">
                          <a:solidFill>
                            <a:srgbClr val="E2E8F0"/>
                          </a:solidFill>
                          <a:latin typeface="Cambria"/>
                        </a:rPr>
                        <a:t>Oracle Select AI</a:t>
                      </a:r>
                    </a:p>
                  </a:txBody>
                  <a:tcPr anchor="ctr" marL="73152" marR="73152">
                    <a:solidFill>
                      <a:srgbClr val="1E293B"/>
                    </a:solidFill>
                  </a:tcPr>
                </a:tc>
                <a:tc>
                  <a:txBody>
                    <a:bodyPr wrap="square"/>
                    <a:lstStyle/>
                    <a:p>
                      <a:pPr algn="l">
                        <a:lnSpc>
                          <a:spcPct val="115000"/>
                        </a:lnSpc>
                        <a:spcAft>
                          <a:spcPts val="0"/>
                        </a:spcAft>
                      </a:pPr>
                      <a:r>
                        <a:rPr sz="950" b="0">
                          <a:solidFill>
                            <a:srgbClr val="F59E0B"/>
                          </a:solidFill>
                          <a:latin typeface="Cambria"/>
                        </a:rPr>
                        <a:t>⚠️ Indisponível no 19c — equivalente implementado</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External Table do CSV</a:t>
                      </a:r>
                    </a:p>
                  </a:txBody>
                  <a:tcPr anchor="ctr" marL="73152" marR="73152">
                    <a:solidFill>
                      <a:srgbClr val="1E3A5F"/>
                    </a:solidFill>
                  </a:tcPr>
                </a:tc>
                <a:tc>
                  <a:txBody>
                    <a:bodyPr wrap="square"/>
                    <a:lstStyle/>
                    <a:p>
                      <a:pPr algn="l">
                        <a:lnSpc>
                          <a:spcPct val="115000"/>
                        </a:lnSpc>
                        <a:spcAft>
                          <a:spcPts val="0"/>
                        </a:spcAft>
                      </a:pPr>
                      <a:r>
                        <a:rPr sz="950" b="0">
                          <a:solidFill>
                            <a:srgbClr val="F59E0B"/>
                          </a:solidFill>
                          <a:latin typeface="Cambria"/>
                        </a:rPr>
                        <a:t>⚠️ Sem privilégio na conta acadêmica — DDL entregue</a:t>
                      </a:r>
                    </a:p>
                  </a:txBody>
                  <a:tcPr anchor="ctr" marL="73152" marR="73152">
                    <a:solidFill>
                      <a:srgbClr val="1E3A5F"/>
                    </a:solidFill>
                  </a:tcPr>
                </a:tc>
              </a:tr>
              <a:tr h="276352">
                <a:tc>
                  <a:txBody>
                    <a:bodyPr wrap="square"/>
                    <a:lstStyle/>
                    <a:p>
                      <a:pPr algn="l">
                        <a:lnSpc>
                          <a:spcPct val="115000"/>
                        </a:lnSpc>
                        <a:spcAft>
                          <a:spcPts val="0"/>
                        </a:spcAft>
                      </a:pPr>
                      <a:r>
                        <a:rPr sz="950" b="0">
                          <a:solidFill>
                            <a:srgbClr val="E2E8F0"/>
                          </a:solidFill>
                          <a:latin typeface="Cambria"/>
                        </a:rPr>
                        <a:t>Power BI</a:t>
                      </a:r>
                    </a:p>
                  </a:txBody>
                  <a:tcPr anchor="ctr" marL="73152" marR="73152">
                    <a:solidFill>
                      <a:srgbClr val="1E293B"/>
                    </a:solidFill>
                  </a:tcPr>
                </a:tc>
                <a:tc>
                  <a:txBody>
                    <a:bodyPr wrap="square"/>
                    <a:lstStyle/>
                    <a:p>
                      <a:pPr algn="l">
                        <a:lnSpc>
                          <a:spcPct val="115000"/>
                        </a:lnSpc>
                        <a:spcAft>
                          <a:spcPts val="0"/>
                        </a:spcAft>
                      </a:pPr>
                      <a:r>
                        <a:rPr sz="950" b="0">
                          <a:solidFill>
                            <a:srgbClr val="64748B"/>
                          </a:solidFill>
                          <a:latin typeface="Cambria"/>
                        </a:rPr>
                        <a:t>🔄 Substituído por Streamlit</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Cobertura nacional</a:t>
                      </a:r>
                    </a:p>
                  </a:txBody>
                  <a:tcPr anchor="ctr" marL="73152" marR="73152">
                    <a:solidFill>
                      <a:srgbClr val="1E3A5F"/>
                    </a:solidFill>
                  </a:tcPr>
                </a:tc>
                <a:tc>
                  <a:txBody>
                    <a:bodyPr wrap="square"/>
                    <a:lstStyle/>
                    <a:p>
                      <a:pPr algn="l">
                        <a:lnSpc>
                          <a:spcPct val="115000"/>
                        </a:lnSpc>
                        <a:spcAft>
                          <a:spcPts val="0"/>
                        </a:spcAft>
                      </a:pPr>
                      <a:r>
                        <a:rPr sz="950" b="0">
                          <a:solidFill>
                            <a:srgbClr val="64748B"/>
                          </a:solidFill>
                          <a:latin typeface="Cambria"/>
                        </a:rPr>
                        <a:t>🔄 Recorte no Sudeste para o MVP</a:t>
                      </a:r>
                    </a:p>
                  </a:txBody>
                  <a:tcPr anchor="ctr" marL="73152" marR="73152">
                    <a:solidFill>
                      <a:srgbClr val="1E3A5F"/>
                    </a:solidFill>
                  </a:tcPr>
                </a:tc>
              </a:tr>
            </a:tbl>
          </a:graphicData>
        </a:graphic>
      </p:graphicFrame>
      <p:sp>
        <p:nvSpPr>
          <p:cNvPr id="5" name="TextBox 4"/>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6" name="TextBox 5"/>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Quadro de gestão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Kanban público, com o que ficou por fazer no status real</a:t>
            </a:r>
          </a:p>
        </p:txBody>
      </p:sp>
      <p:sp>
        <p:nvSpPr>
          <p:cNvPr id="5" name="Rounded Rectangle 4"/>
          <p:cNvSpPr/>
          <p:nvPr/>
        </p:nvSpPr>
        <p:spPr>
          <a:xfrm>
            <a:off x="502920" y="1608162"/>
            <a:ext cx="4920935" cy="272727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trello.png"/>
          <p:cNvPicPr>
            <a:picLocks noChangeAspect="1"/>
          </p:cNvPicPr>
          <p:nvPr/>
        </p:nvPicPr>
        <p:blipFill>
          <a:blip r:embed="rId2"/>
          <a:stretch>
            <a:fillRect/>
          </a:stretch>
        </p:blipFill>
        <p:spPr>
          <a:xfrm>
            <a:off x="576072" y="1681314"/>
            <a:ext cx="4774631" cy="2580971"/>
          </a:xfrm>
          <a:prstGeom prst="rect">
            <a:avLst/>
          </a:prstGeom>
        </p:spPr>
      </p:pic>
      <p:sp>
        <p:nvSpPr>
          <p:cNvPr id="7" name="Rounded Rectangle 6"/>
          <p:cNvSpPr/>
          <p:nvPr/>
        </p:nvSpPr>
        <p:spPr>
          <a:xfrm>
            <a:off x="5625023" y="1604137"/>
            <a:ext cx="301605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26191" y="1750441"/>
            <a:ext cx="2613721" cy="2442718"/>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QUADRO</a:t>
            </a:r>
          </a:p>
          <a:p>
            <a:pPr algn="l">
              <a:lnSpc>
                <a:spcPct val="110000"/>
              </a:lnSpc>
              <a:spcAft>
                <a:spcPts val="200"/>
              </a:spcAft>
            </a:pPr>
            <a:r>
              <a:rPr sz="850" b="0">
                <a:solidFill>
                  <a:srgbClr val="E2E8F0"/>
                </a:solidFill>
                <a:latin typeface="Consolas"/>
              </a:rPr>
              <a:t>trello.com/b/3XTAInGQ</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44 cartões · 5 listas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Sprint 1              8</a:t>
            </a:r>
          </a:p>
          <a:p>
            <a:pPr algn="l">
              <a:lnSpc>
                <a:spcPct val="110000"/>
              </a:lnSpc>
              <a:spcAft>
                <a:spcPts val="200"/>
              </a:spcAft>
            </a:pPr>
            <a:r>
              <a:rPr sz="850" b="0">
                <a:solidFill>
                  <a:srgbClr val="E2E8F0"/>
                </a:solidFill>
                <a:latin typeface="Consolas"/>
              </a:rPr>
              <a:t>Concluído           23</a:t>
            </a:r>
          </a:p>
          <a:p>
            <a:pPr algn="l">
              <a:lnSpc>
                <a:spcPct val="110000"/>
              </a:lnSpc>
              <a:spcAft>
                <a:spcPts val="200"/>
              </a:spcAft>
            </a:pPr>
            <a:r>
              <a:rPr sz="850" b="0">
                <a:solidFill>
                  <a:srgbClr val="E2E8F0"/>
                </a:solidFill>
                <a:latin typeface="Consolas"/>
              </a:rPr>
              <a:t>Em andamento         2</a:t>
            </a:r>
          </a:p>
          <a:p>
            <a:pPr algn="l">
              <a:lnSpc>
                <a:spcPct val="110000"/>
              </a:lnSpc>
              <a:spcAft>
                <a:spcPts val="200"/>
              </a:spcAft>
            </a:pPr>
            <a:r>
              <a:rPr sz="850" b="0">
                <a:solidFill>
                  <a:srgbClr val="E2E8F0"/>
                </a:solidFill>
                <a:latin typeface="Consolas"/>
              </a:rPr>
              <a:t>A fazer              5</a:t>
            </a:r>
          </a:p>
          <a:p>
            <a:pPr algn="l">
              <a:lnSpc>
                <a:spcPct val="110000"/>
              </a:lnSpc>
              <a:spcAft>
                <a:spcPts val="200"/>
              </a:spcAft>
            </a:pPr>
            <a:r>
              <a:rPr sz="850" b="0">
                <a:solidFill>
                  <a:srgbClr val="E2E8F0"/>
                </a:solidFill>
                <a:latin typeface="Consolas"/>
              </a:rPr>
              <a:t>Não implementado     5</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quinta lista é a que</a:t>
            </a:r>
          </a:p>
          <a:p>
            <a:pPr algn="l">
              <a:lnSpc>
                <a:spcPct val="110000"/>
              </a:lnSpc>
              <a:spcAft>
                <a:spcPts val="200"/>
              </a:spcAft>
            </a:pPr>
            <a:r>
              <a:rPr sz="850" b="0">
                <a:solidFill>
                  <a:srgbClr val="E2E8F0"/>
                </a:solidFill>
                <a:latin typeface="Consolas"/>
              </a:rPr>
              <a:t>mostra decisão de escopo</a:t>
            </a:r>
          </a:p>
          <a:p>
            <a:pPr algn="l">
              <a:lnSpc>
                <a:spcPct val="110000"/>
              </a:lnSpc>
              <a:spcAft>
                <a:spcPts val="200"/>
              </a:spcAft>
            </a:pPr>
            <a:r>
              <a:rPr sz="850" b="0">
                <a:solidFill>
                  <a:srgbClr val="E2E8F0"/>
                </a:solidFill>
                <a:latin typeface="Consolas"/>
              </a:rPr>
              <a:t>em vez de esquecimento.</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2ª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MVP implementado</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Painel público conectado ao Oracle da FIAP em tempo real.</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painel</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saudeviz.streamlit.app</a:t>
            </a:r>
          </a:p>
        </p:txBody>
      </p:sp>
      <p:sp>
        <p:nvSpPr>
          <p:cNvPr id="5" name="Rounded Rectangle 4"/>
          <p:cNvSpPr/>
          <p:nvPr/>
        </p:nvSpPr>
        <p:spPr>
          <a:xfrm>
            <a:off x="1297547" y="1325880"/>
            <a:ext cx="6548906"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1_visao_geral.png"/>
          <p:cNvPicPr>
            <a:picLocks noChangeAspect="1"/>
          </p:cNvPicPr>
          <p:nvPr/>
        </p:nvPicPr>
        <p:blipFill>
          <a:blip r:embed="rId2"/>
          <a:stretch>
            <a:fillRect/>
          </a:stretch>
        </p:blipFill>
        <p:spPr>
          <a:xfrm>
            <a:off x="1370699" y="1399032"/>
            <a:ext cx="6402602" cy="2642616"/>
          </a:xfrm>
          <a:prstGeom prst="rect">
            <a:avLst/>
          </a:prstGeom>
        </p:spPr>
      </p:pic>
      <p:sp>
        <p:nvSpPr>
          <p:cNvPr id="7" name="TextBox 6"/>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Cinco páginas. O selo na barra lateral mostra se o dado veio do Oracle ou do retrato local — resultado de contingência nunca se passa por dado ao vivo.</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Onde a capacidade foi ultrapassada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Classificação por município e mês</a:t>
            </a:r>
          </a:p>
        </p:txBody>
      </p:sp>
      <p:sp>
        <p:nvSpPr>
          <p:cNvPr id="5" name="Rounded Rectangle 4"/>
          <p:cNvSpPr/>
          <p:nvPr/>
        </p:nvSpPr>
        <p:spPr>
          <a:xfrm>
            <a:off x="502920" y="1670767"/>
            <a:ext cx="5714634" cy="260206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2_capacidade_status.png"/>
          <p:cNvPicPr>
            <a:picLocks noChangeAspect="1"/>
          </p:cNvPicPr>
          <p:nvPr/>
        </p:nvPicPr>
        <p:blipFill>
          <a:blip r:embed="rId2"/>
          <a:stretch>
            <a:fillRect/>
          </a:stretch>
        </p:blipFill>
        <p:spPr>
          <a:xfrm>
            <a:off x="576072" y="1743919"/>
            <a:ext cx="5568330" cy="2455761"/>
          </a:xfrm>
          <a:prstGeom prst="rect">
            <a:avLst/>
          </a:prstGeom>
        </p:spPr>
      </p:pic>
      <p:sp>
        <p:nvSpPr>
          <p:cNvPr id="7" name="Rounded Rectangle 6"/>
          <p:cNvSpPr/>
          <p:nvPr/>
        </p:nvSpPr>
        <p:spPr>
          <a:xfrm>
            <a:off x="6418722" y="2075688"/>
            <a:ext cx="2222358" cy="1792224"/>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19890" y="2221992"/>
            <a:ext cx="1820022" cy="1499616"/>
          </a:xfrm>
          <a:prstGeom prst="rect">
            <a:avLst/>
          </a:prstGeom>
          <a:noFill/>
        </p:spPr>
        <p:txBody>
          <a:bodyPr wrap="square" lIns="0" rIns="0" tIns="0" bIns="0">
            <a:spAutoFit/>
          </a:bodyPr>
          <a:lstStyle/>
          <a:p>
            <a:pPr algn="l">
              <a:lnSpc>
                <a:spcPct val="110000"/>
              </a:lnSpc>
              <a:spcAft>
                <a:spcPts val="200"/>
              </a:spcAft>
            </a:pPr>
            <a:r>
              <a:rPr sz="900" b="0">
                <a:solidFill>
                  <a:srgbClr val="E2E8F0"/>
                </a:solidFill>
                <a:latin typeface="Consolas"/>
              </a:rPr>
              <a:t>Folga           8.466</a:t>
            </a:r>
          </a:p>
          <a:p>
            <a:pPr algn="l">
              <a:lnSpc>
                <a:spcPct val="110000"/>
              </a:lnSpc>
              <a:spcAft>
                <a:spcPts val="200"/>
              </a:spcAft>
            </a:pPr>
            <a:r>
              <a:rPr sz="900" b="0">
                <a:solidFill>
                  <a:srgbClr val="E2E8F0"/>
                </a:solidFill>
                <a:latin typeface="Consolas"/>
              </a:rPr>
              <a:t>Adequada        1.043</a:t>
            </a:r>
          </a:p>
          <a:p>
            <a:pPr algn="l">
              <a:lnSpc>
                <a:spcPct val="110000"/>
              </a:lnSpc>
              <a:spcAft>
                <a:spcPts val="200"/>
              </a:spcAft>
            </a:pPr>
            <a:r>
              <a:rPr sz="900" b="0">
                <a:solidFill>
                  <a:srgbClr val="E2E8F0"/>
                </a:solidFill>
                <a:latin typeface="Consolas"/>
              </a:rPr>
              <a:t>Atenção           223</a:t>
            </a:r>
          </a:p>
          <a:p>
            <a:pPr algn="l">
              <a:lnSpc>
                <a:spcPct val="110000"/>
              </a:lnSpc>
              <a:spcAft>
                <a:spcPts val="200"/>
              </a:spcAft>
            </a:pPr>
            <a:r>
              <a:rPr sz="900" b="0">
                <a:solidFill>
                  <a:srgbClr val="E2E8F0"/>
                </a:solidFill>
                <a:latin typeface="Consolas"/>
              </a:rPr>
              <a:t>Crítica            16</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município-mês, em 823</a:t>
            </a:r>
          </a:p>
          <a:p>
            <a:pPr algn="l">
              <a:lnSpc>
                <a:spcPct val="110000"/>
              </a:lnSpc>
              <a:spcAft>
                <a:spcPts val="200"/>
              </a:spcAft>
            </a:pPr>
            <a:r>
              <a:rPr sz="900" b="0">
                <a:solidFill>
                  <a:srgbClr val="E2E8F0"/>
                </a:solidFill>
                <a:latin typeface="Consolas"/>
              </a:rPr>
              <a:t>municípios com internação</a:t>
            </a:r>
          </a:p>
          <a:p>
            <a:pPr algn="l">
              <a:lnSpc>
                <a:spcPct val="110000"/>
              </a:lnSpc>
              <a:spcAft>
                <a:spcPts val="200"/>
              </a:spcAft>
            </a:pPr>
            <a:r>
              <a:rPr sz="900" b="0">
                <a:solidFill>
                  <a:srgbClr val="E2E8F0"/>
                </a:solidFill>
                <a:latin typeface="Consolas"/>
              </a:rPr>
              <a:t>registrada em 2024</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Municípios sob pressão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23855" y="1325880"/>
            <a:ext cx="6696289"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painel_03_capacidade_criticos.png"/>
          <p:cNvPicPr>
            <a:picLocks noChangeAspect="1"/>
          </p:cNvPicPr>
          <p:nvPr/>
        </p:nvPicPr>
        <p:blipFill>
          <a:blip r:embed="rId2"/>
          <a:stretch>
            <a:fillRect/>
          </a:stretch>
        </p:blipFill>
        <p:spPr>
          <a:xfrm>
            <a:off x="1297007" y="1399032"/>
            <a:ext cx="6549985" cy="2642616"/>
          </a:xfrm>
          <a:prstGeom prst="rect">
            <a:avLst/>
          </a:prstGeom>
        </p:spPr>
      </p:pic>
      <p:sp>
        <p:nvSpPr>
          <p:cNvPr id="6" name="TextBox 5"/>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Ocupação acima de 1,0 é alerta para investigar, não prova de colapso: pode ser sobrecarga real, leito desatualizado no CNES ou município-polo atendendo toda uma região.</a:t>
            </a:r>
          </a:p>
        </p:txBody>
      </p:sp>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Quais perfis pressionam mais o sistema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Pressão relativa: participação nos leitos-dia ÷ participação nas internações</a:t>
            </a:r>
          </a:p>
        </p:txBody>
      </p:sp>
      <p:sp>
        <p:nvSpPr>
          <p:cNvPr id="5" name="Rounded Rectangle 4"/>
          <p:cNvSpPr/>
          <p:nvPr/>
        </p:nvSpPr>
        <p:spPr>
          <a:xfrm>
            <a:off x="502920" y="1935345"/>
            <a:ext cx="4920935" cy="207290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4_perfis_pressao.png"/>
          <p:cNvPicPr>
            <a:picLocks noChangeAspect="1"/>
          </p:cNvPicPr>
          <p:nvPr/>
        </p:nvPicPr>
        <p:blipFill>
          <a:blip r:embed="rId2"/>
          <a:stretch>
            <a:fillRect/>
          </a:stretch>
        </p:blipFill>
        <p:spPr>
          <a:xfrm>
            <a:off x="576072" y="2008497"/>
            <a:ext cx="4774631" cy="1926605"/>
          </a:xfrm>
          <a:prstGeom prst="rect">
            <a:avLst/>
          </a:prstGeom>
        </p:spPr>
      </p:pic>
      <p:sp>
        <p:nvSpPr>
          <p:cNvPr id="7" name="Rounded Rectangle 6"/>
          <p:cNvSpPr/>
          <p:nvPr/>
        </p:nvSpPr>
        <p:spPr>
          <a:xfrm>
            <a:off x="5625023" y="1689417"/>
            <a:ext cx="3016057" cy="2564765"/>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26191" y="1835721"/>
            <a:ext cx="2613721" cy="2272157"/>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TRANSTORNOS MENTAIS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1,9% das internações</a:t>
            </a:r>
          </a:p>
          <a:p>
            <a:pPr algn="l">
              <a:lnSpc>
                <a:spcPct val="110000"/>
              </a:lnSpc>
              <a:spcAft>
                <a:spcPts val="200"/>
              </a:spcAft>
            </a:pPr>
            <a:r>
              <a:rPr sz="850" b="0">
                <a:solidFill>
                  <a:srgbClr val="E2E8F0"/>
                </a:solidFill>
                <a:latin typeface="Consolas"/>
              </a:rPr>
              <a:t>4,1% dos leitos-dia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pressão relativa  2,15</a:t>
            </a:r>
          </a:p>
          <a:p>
            <a:pPr algn="l">
              <a:lnSpc>
                <a:spcPct val="110000"/>
              </a:lnSpc>
              <a:spcAft>
                <a:spcPts val="200"/>
              </a:spcAft>
            </a:pPr>
            <a:r>
              <a:rPr sz="850" b="0">
                <a:solidFill>
                  <a:srgbClr val="E2E8F0"/>
                </a:solidFill>
                <a:latin typeface="Consolas"/>
              </a:rPr>
              <a:t>permanência      10,4 d</a:t>
            </a:r>
          </a:p>
          <a:p>
            <a:pPr algn="l">
              <a:lnSpc>
                <a:spcPct val="110000"/>
              </a:lnSpc>
              <a:spcAft>
                <a:spcPts val="200"/>
              </a:spcAft>
            </a:pPr>
            <a:r>
              <a:rPr sz="850" b="0">
                <a:solidFill>
                  <a:srgbClr val="E2E8F0"/>
                </a:solidFill>
                <a:latin typeface="Consolas"/>
              </a:rPr>
              <a:t>custo médio      R$ 521</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Ocupa leito e não consome</a:t>
            </a:r>
          </a:p>
          <a:p>
            <a:pPr algn="l">
              <a:lnSpc>
                <a:spcPct val="110000"/>
              </a:lnSpc>
              <a:spcAft>
                <a:spcPts val="200"/>
              </a:spcAft>
            </a:pPr>
            <a:r>
              <a:rPr sz="850" b="0">
                <a:solidFill>
                  <a:srgbClr val="E2E8F0"/>
                </a:solidFill>
                <a:latin typeface="Consolas"/>
              </a:rPr>
              <a:t>orçamento. Invisível num</a:t>
            </a:r>
          </a:p>
          <a:p>
            <a:pPr algn="l">
              <a:lnSpc>
                <a:spcPct val="110000"/>
              </a:lnSpc>
              <a:spcAft>
                <a:spcPts val="200"/>
              </a:spcAft>
            </a:pPr>
            <a:r>
              <a:rPr sz="850" b="0">
                <a:solidFill>
                  <a:srgbClr val="E2E8F0"/>
                </a:solidFill>
                <a:latin typeface="Consolas"/>
              </a:rPr>
              <a:t>painel que só conta</a:t>
            </a:r>
          </a:p>
          <a:p>
            <a:pPr algn="l">
              <a:lnSpc>
                <a:spcPct val="110000"/>
              </a:lnSpc>
              <a:spcAft>
                <a:spcPts val="200"/>
              </a:spcAft>
            </a:pPr>
            <a:r>
              <a:rPr sz="850" b="0">
                <a:solidFill>
                  <a:srgbClr val="E2E8F0"/>
                </a:solidFill>
                <a:latin typeface="Consolas"/>
              </a:rPr>
              <a:t>atendimentos.</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3ª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Arquitetura final</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Quatro fontes públicas, Medallion no Databricks, camada de consumo no Oracle.</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arquitetura_solucao.png"/>
          <p:cNvPicPr>
            <a:picLocks noChangeAspect="1"/>
          </p:cNvPicPr>
          <p:nvPr/>
        </p:nvPicPr>
        <p:blipFill>
          <a:blip r:embed="rId2"/>
          <a:stretch>
            <a:fillRect/>
          </a:stretch>
        </p:blipFill>
        <p:spPr>
          <a:xfrm>
            <a:off x="215365" y="137160"/>
            <a:ext cx="8713269" cy="4869180"/>
          </a:xfrm>
          <a:prstGeom prst="rect">
            <a:avLst/>
          </a:prstGeom>
        </p:spPr>
      </p:pic>
      <p:sp>
        <p:nvSpPr>
          <p:cNvPr id="3" name="TextBox 2"/>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4" name="TextBox 3"/>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roda onde, e por quê</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02920" y="1325880"/>
          <a:ext cx="8138159" cy="1389888"/>
        </p:xfrm>
        <a:graphic>
          <a:graphicData uri="http://schemas.openxmlformats.org/drawingml/2006/table">
            <a:tbl>
              <a:tblPr firstRow="1" bandRow="1">
                <a:tableStyleId>{5C22544A-7EE6-4342-B048-85BDC9FD1C3A}</a:tableStyleId>
              </a:tblPr>
              <a:tblGrid>
                <a:gridCol w="2115921"/>
                <a:gridCol w="1627632"/>
                <a:gridCol w="4394606"/>
              </a:tblGrid>
              <a:tr h="277977">
                <a:tc>
                  <a:txBody>
                    <a:bodyPr wrap="square"/>
                    <a:lstStyle/>
                    <a:p>
                      <a:pPr algn="l">
                        <a:lnSpc>
                          <a:spcPct val="115000"/>
                        </a:lnSpc>
                        <a:spcAft>
                          <a:spcPts val="0"/>
                        </a:spcAft>
                      </a:pPr>
                      <a:r>
                        <a:rPr sz="950" b="1">
                          <a:solidFill>
                            <a:srgbClr val="FFFFFF"/>
                          </a:solidFill>
                          <a:latin typeface="Cambria"/>
                        </a:rPr>
                        <a:t>Etapa</a:t>
                      </a:r>
                    </a:p>
                  </a:txBody>
                  <a:tcPr anchor="ctr" marL="73152" marR="73152">
                    <a:solidFill>
                      <a:srgbClr val="0D9488"/>
                    </a:solidFill>
                  </a:tcPr>
                </a:tc>
                <a:tc>
                  <a:txBody>
                    <a:bodyPr wrap="square"/>
                    <a:lstStyle/>
                    <a:p>
                      <a:pPr algn="l">
                        <a:lnSpc>
                          <a:spcPct val="115000"/>
                        </a:lnSpc>
                        <a:spcAft>
                          <a:spcPts val="0"/>
                        </a:spcAft>
                      </a:pPr>
                      <a:r>
                        <a:rPr sz="950" b="1">
                          <a:solidFill>
                            <a:srgbClr val="FFFFFF"/>
                          </a:solidFill>
                          <a:latin typeface="Cambria"/>
                        </a:rPr>
                        <a:t>Onde</a:t>
                      </a:r>
                    </a:p>
                  </a:txBody>
                  <a:tcPr anchor="ctr" marL="73152" marR="73152">
                    <a:solidFill>
                      <a:srgbClr val="0D9488"/>
                    </a:solidFill>
                  </a:tcPr>
                </a:tc>
                <a:tc>
                  <a:txBody>
                    <a:bodyPr wrap="square"/>
                    <a:lstStyle/>
                    <a:p>
                      <a:pPr algn="l">
                        <a:lnSpc>
                          <a:spcPct val="115000"/>
                        </a:lnSpc>
                        <a:spcAft>
                          <a:spcPts val="0"/>
                        </a:spcAft>
                      </a:pPr>
                      <a:r>
                        <a:rPr sz="950" b="1">
                          <a:solidFill>
                            <a:srgbClr val="FFFFFF"/>
                          </a:solidFill>
                          <a:latin typeface="Cambria"/>
                        </a:rPr>
                        <a:t>Motivo</a:t>
                      </a:r>
                    </a:p>
                  </a:txBody>
                  <a:tcPr anchor="ctr" marL="73152" marR="73152">
                    <a:solidFill>
                      <a:srgbClr val="0D9488"/>
                    </a:solidFill>
                  </a:tcPr>
                </a:tc>
              </a:tr>
              <a:tr h="277977">
                <a:tc>
                  <a:txBody>
                    <a:bodyPr wrap="square"/>
                    <a:lstStyle/>
                    <a:p>
                      <a:pPr algn="l">
                        <a:lnSpc>
                          <a:spcPct val="115000"/>
                        </a:lnSpc>
                        <a:spcAft>
                          <a:spcPts val="0"/>
                        </a:spcAft>
                      </a:pPr>
                      <a:r>
                        <a:rPr sz="950" b="0">
                          <a:solidFill>
                            <a:srgbClr val="E2E8F0"/>
                          </a:solidFill>
                          <a:latin typeface="Cambria"/>
                        </a:rPr>
                        <a:t>Download e decode .dbc</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Estação local</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Formato proprietário do DATASUS, exige extensão C e FTP</a:t>
                      </a:r>
                    </a:p>
                  </a:txBody>
                  <a:tcPr anchor="ctr" marL="73152" marR="73152">
                    <a:solidFill>
                      <a:srgbClr val="1E293B"/>
                    </a:solidFill>
                  </a:tcPr>
                </a:tc>
              </a:tr>
              <a:tr h="277977">
                <a:tc>
                  <a:txBody>
                    <a:bodyPr wrap="square"/>
                    <a:lstStyle/>
                    <a:p>
                      <a:pPr algn="l">
                        <a:lnSpc>
                          <a:spcPct val="115000"/>
                        </a:lnSpc>
                        <a:spcAft>
                          <a:spcPts val="0"/>
                        </a:spcAft>
                      </a:pPr>
                      <a:r>
                        <a:rPr sz="950" b="0">
                          <a:solidFill>
                            <a:srgbClr val="E2E8F0"/>
                          </a:solidFill>
                          <a:latin typeface="Cambria"/>
                        </a:rPr>
                        <a:t>Bronze, Prata, Ouro</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Databricks</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PySpark sobre tabelas Delta</a:t>
                      </a:r>
                    </a:p>
                  </a:txBody>
                  <a:tcPr anchor="ctr" marL="73152" marR="73152">
                    <a:solidFill>
                      <a:srgbClr val="1E3A5F"/>
                    </a:solidFill>
                  </a:tcPr>
                </a:tc>
              </a:tr>
              <a:tr h="277977">
                <a:tc>
                  <a:txBody>
                    <a:bodyPr wrap="square"/>
                    <a:lstStyle/>
                    <a:p>
                      <a:pPr algn="l">
                        <a:lnSpc>
                          <a:spcPct val="115000"/>
                        </a:lnSpc>
                        <a:spcAft>
                          <a:spcPts val="0"/>
                        </a:spcAft>
                      </a:pPr>
                      <a:r>
                        <a:rPr sz="950" b="0">
                          <a:solidFill>
                            <a:srgbClr val="E2E8F0"/>
                          </a:solidFill>
                          <a:latin typeface="Cambria"/>
                        </a:rPr>
                        <a:t>Camada Gold</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Oracle 19c FIAP</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Camada de serviço consultada pelo painel</a:t>
                      </a:r>
                    </a:p>
                  </a:txBody>
                  <a:tcPr anchor="ctr" marL="73152" marR="73152">
                    <a:solidFill>
                      <a:srgbClr val="1E293B"/>
                    </a:solidFill>
                  </a:tcPr>
                </a:tc>
              </a:tr>
              <a:tr h="277980">
                <a:tc>
                  <a:txBody>
                    <a:bodyPr wrap="square"/>
                    <a:lstStyle/>
                    <a:p>
                      <a:pPr algn="l">
                        <a:lnSpc>
                          <a:spcPct val="115000"/>
                        </a:lnSpc>
                        <a:spcAft>
                          <a:spcPts val="0"/>
                        </a:spcAft>
                      </a:pPr>
                      <a:r>
                        <a:rPr sz="950" b="0">
                          <a:solidFill>
                            <a:srgbClr val="E2E8F0"/>
                          </a:solidFill>
                          <a:latin typeface="Cambria"/>
                        </a:rPr>
                        <a:t>Painel e NL→SQL</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Streamlit Cloud</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Link público, código versionado</a:t>
                      </a:r>
                    </a:p>
                  </a:txBody>
                  <a:tcPr anchor="ctr" marL="73152" marR="73152">
                    <a:solidFill>
                      <a:srgbClr val="1E3A5F"/>
                    </a:solidFill>
                  </a:tcPr>
                </a:tc>
              </a:tr>
            </a:tbl>
          </a:graphicData>
        </a:graphic>
      </p:graphicFrame>
      <p:sp>
        <p:nvSpPr>
          <p:cNvPr id="5" name="TextBox 4"/>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6" name="TextBox 5"/>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Medallion materializada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Catálogo do Unity Catalog, não desenho</a:t>
            </a:r>
          </a:p>
        </p:txBody>
      </p:sp>
      <p:sp>
        <p:nvSpPr>
          <p:cNvPr id="5" name="Rounded Rectangle 4"/>
          <p:cNvSpPr/>
          <p:nvPr/>
        </p:nvSpPr>
        <p:spPr>
          <a:xfrm>
            <a:off x="3863972" y="1325880"/>
            <a:ext cx="1416055"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atabricks_catalog_medallion.png"/>
          <p:cNvPicPr>
            <a:picLocks noChangeAspect="1"/>
          </p:cNvPicPr>
          <p:nvPr/>
        </p:nvPicPr>
        <p:blipFill>
          <a:blip r:embed="rId2"/>
          <a:stretch>
            <a:fillRect/>
          </a:stretch>
        </p:blipFill>
        <p:spPr>
          <a:xfrm>
            <a:off x="3937124" y="1399032"/>
            <a:ext cx="1269751" cy="2642616"/>
          </a:xfrm>
          <a:prstGeom prst="rect">
            <a:avLst/>
          </a:prstGeom>
        </p:spPr>
      </p:pic>
      <p:sp>
        <p:nvSpPr>
          <p:cNvPr id="7" name="TextBox 6"/>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As três camadas existem como schemas reais no Databricks.</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 camada Gold no Oracle</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353193"/>
            <a:ext cx="3977640" cy="323721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oracle_contagem_tabelas.png"/>
          <p:cNvPicPr>
            <a:picLocks noChangeAspect="1"/>
          </p:cNvPicPr>
          <p:nvPr/>
        </p:nvPicPr>
        <p:blipFill>
          <a:blip r:embed="rId2"/>
          <a:stretch>
            <a:fillRect/>
          </a:stretch>
        </p:blipFill>
        <p:spPr>
          <a:xfrm>
            <a:off x="576072" y="1426345"/>
            <a:ext cx="3831336" cy="3090909"/>
          </a:xfrm>
          <a:prstGeom prst="rect">
            <a:avLst/>
          </a:prstGeom>
        </p:spPr>
      </p:pic>
      <p:sp>
        <p:nvSpPr>
          <p:cNvPr id="6" name="Rounded Rectangle 5"/>
          <p:cNvSpPr/>
          <p:nvPr/>
        </p:nvSpPr>
        <p:spPr>
          <a:xfrm>
            <a:off x="4663440" y="2007296"/>
            <a:ext cx="3977640" cy="192900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racle_arvore_tabelas.png"/>
          <p:cNvPicPr>
            <a:picLocks noChangeAspect="1"/>
          </p:cNvPicPr>
          <p:nvPr/>
        </p:nvPicPr>
        <p:blipFill>
          <a:blip r:embed="rId3"/>
          <a:stretch>
            <a:fillRect/>
          </a:stretch>
        </p:blipFill>
        <p:spPr>
          <a:xfrm>
            <a:off x="4736592" y="2080448"/>
            <a:ext cx="3831336" cy="1782703"/>
          </a:xfrm>
          <a:prstGeom prst="rect">
            <a:avLst/>
          </a:prstGeom>
        </p:spPr>
      </p:pic>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Integridade do modelo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Três tabelas construídas por caminhos diferentes</a:t>
            </a:r>
          </a:p>
        </p:txBody>
      </p:sp>
      <p:sp>
        <p:nvSpPr>
          <p:cNvPr id="5" name="Rounded Rectangle 4"/>
          <p:cNvSpPr/>
          <p:nvPr/>
        </p:nvSpPr>
        <p:spPr>
          <a:xfrm>
            <a:off x="502920" y="1662528"/>
            <a:ext cx="4762195" cy="26185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racle_integridade_totais.png"/>
          <p:cNvPicPr>
            <a:picLocks noChangeAspect="1"/>
          </p:cNvPicPr>
          <p:nvPr/>
        </p:nvPicPr>
        <p:blipFill>
          <a:blip r:embed="rId2"/>
          <a:stretch>
            <a:fillRect/>
          </a:stretch>
        </p:blipFill>
        <p:spPr>
          <a:xfrm>
            <a:off x="576072" y="1735680"/>
            <a:ext cx="4615891" cy="2472239"/>
          </a:xfrm>
          <a:prstGeom prst="rect">
            <a:avLst/>
          </a:prstGeom>
        </p:spPr>
      </p:pic>
      <p:sp>
        <p:nvSpPr>
          <p:cNvPr id="7" name="Rounded Rectangle 6"/>
          <p:cNvSpPr/>
          <p:nvPr/>
        </p:nvSpPr>
        <p:spPr>
          <a:xfrm>
            <a:off x="5466283" y="1714500"/>
            <a:ext cx="3174797" cy="251460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860804"/>
            <a:ext cx="2772461" cy="2221992"/>
          </a:xfrm>
          <a:prstGeom prst="rect">
            <a:avLst/>
          </a:prstGeom>
          <a:noFill/>
        </p:spPr>
        <p:txBody>
          <a:bodyPr wrap="square" lIns="0" rIns="0" tIns="0" bIns="0">
            <a:spAutoFit/>
          </a:bodyPr>
          <a:lstStyle/>
          <a:p>
            <a:pPr algn="l">
              <a:lnSpc>
                <a:spcPct val="110000"/>
              </a:lnSpc>
              <a:spcAft>
                <a:spcPts val="200"/>
              </a:spcAft>
            </a:pPr>
            <a:r>
              <a:rPr sz="900" b="0">
                <a:solidFill>
                  <a:srgbClr val="E2E8F0"/>
                </a:solidFill>
                <a:latin typeface="Consolas"/>
              </a:rPr>
              <a:t>Fato de internações</a:t>
            </a:r>
          </a:p>
          <a:p>
            <a:pPr algn="l">
              <a:lnSpc>
                <a:spcPct val="110000"/>
              </a:lnSpc>
              <a:spcAft>
                <a:spcPts val="200"/>
              </a:spcAft>
            </a:pPr>
            <a:r>
              <a:rPr sz="900" b="0">
                <a:solidFill>
                  <a:srgbClr val="E2E8F0"/>
                </a:solidFill>
                <a:latin typeface="Consolas"/>
              </a:rPr>
              <a:t>         5.546.817</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Indicador de capacidade</a:t>
            </a:r>
          </a:p>
          <a:p>
            <a:pPr algn="l">
              <a:lnSpc>
                <a:spcPct val="110000"/>
              </a:lnSpc>
              <a:spcAft>
                <a:spcPts val="200"/>
              </a:spcAft>
            </a:pPr>
            <a:r>
              <a:rPr sz="900" b="0">
                <a:solidFill>
                  <a:srgbClr val="E2E8F0"/>
                </a:solidFill>
                <a:latin typeface="Consolas"/>
              </a:rPr>
              <a:t>         5.546.817</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Ranking de hospitais</a:t>
            </a:r>
          </a:p>
          <a:p>
            <a:pPr algn="l">
              <a:lnSpc>
                <a:spcPct val="110000"/>
              </a:lnSpc>
              <a:spcAft>
                <a:spcPts val="200"/>
              </a:spcAft>
            </a:pPr>
            <a:r>
              <a:rPr sz="900" b="0">
                <a:solidFill>
                  <a:srgbClr val="E2E8F0"/>
                </a:solidFill>
                <a:latin typeface="Consolas"/>
              </a:rPr>
              <a:t>         5.546.817</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Mesmo total.</a:t>
            </a:r>
          </a:p>
          <a:p>
            <a:pPr algn="l">
              <a:lnSpc>
                <a:spcPct val="110000"/>
              </a:lnSpc>
              <a:spcAft>
                <a:spcPts val="200"/>
              </a:spcAft>
            </a:pPr>
            <a:r>
              <a:rPr sz="900" b="0">
                <a:solidFill>
                  <a:srgbClr val="E2E8F0"/>
                </a:solidFill>
                <a:latin typeface="Consolas"/>
              </a:rPr>
              <a:t>Nenhuma internação</a:t>
            </a:r>
          </a:p>
          <a:p>
            <a:pPr algn="l">
              <a:lnSpc>
                <a:spcPct val="110000"/>
              </a:lnSpc>
              <a:spcAft>
                <a:spcPts val="200"/>
              </a:spcAft>
            </a:pPr>
            <a:r>
              <a:rPr sz="900" b="0">
                <a:solidFill>
                  <a:srgbClr val="E2E8F0"/>
                </a:solidFill>
                <a:latin typeface="Consolas"/>
              </a:rPr>
              <a:t>perdida ou duplicada.</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não foi implementado, e por quê</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Decisão registrada, não omissão</a:t>
            </a:r>
          </a:p>
        </p:txBody>
      </p:sp>
      <p:graphicFrame>
        <p:nvGraphicFramePr>
          <p:cNvPr id="5" name="Table 4"/>
          <p:cNvGraphicFramePr>
            <a:graphicFrameLocks noGrp="1"/>
          </p:cNvGraphicFramePr>
          <p:nvPr/>
        </p:nvGraphicFramePr>
        <p:xfrm>
          <a:off x="502920" y="1325880"/>
          <a:ext cx="8138159" cy="1389888"/>
        </p:xfrm>
        <a:graphic>
          <a:graphicData uri="http://schemas.openxmlformats.org/drawingml/2006/table">
            <a:tbl>
              <a:tblPr firstRow="1" bandRow="1">
                <a:tableStyleId>{5C22544A-7EE6-4342-B048-85BDC9FD1C3A}</a:tableStyleId>
              </a:tblPr>
              <a:tblGrid>
                <a:gridCol w="1627632"/>
                <a:gridCol w="3418027"/>
                <a:gridCol w="3092500"/>
              </a:tblGrid>
              <a:tr h="277977">
                <a:tc>
                  <a:txBody>
                    <a:bodyPr wrap="square"/>
                    <a:lstStyle/>
                    <a:p>
                      <a:pPr algn="l">
                        <a:lnSpc>
                          <a:spcPct val="115000"/>
                        </a:lnSpc>
                        <a:spcAft>
                          <a:spcPts val="0"/>
                        </a:spcAft>
                      </a:pPr>
                      <a:r>
                        <a:rPr sz="850" b="1">
                          <a:solidFill>
                            <a:srgbClr val="FFFFFF"/>
                          </a:solidFill>
                          <a:latin typeface="Cambria"/>
                        </a:rPr>
                        <a:t>Item</a:t>
                      </a:r>
                    </a:p>
                  </a:txBody>
                  <a:tcPr anchor="ctr" marL="73152" marR="73152">
                    <a:solidFill>
                      <a:srgbClr val="0D9488"/>
                    </a:solidFill>
                  </a:tcPr>
                </a:tc>
                <a:tc>
                  <a:txBody>
                    <a:bodyPr wrap="square"/>
                    <a:lstStyle/>
                    <a:p>
                      <a:pPr algn="l">
                        <a:lnSpc>
                          <a:spcPct val="115000"/>
                        </a:lnSpc>
                        <a:spcAft>
                          <a:spcPts val="0"/>
                        </a:spcAft>
                      </a:pPr>
                      <a:r>
                        <a:rPr sz="850" b="1">
                          <a:solidFill>
                            <a:srgbClr val="FFFFFF"/>
                          </a:solidFill>
                          <a:latin typeface="Cambria"/>
                        </a:rPr>
                        <a:t>Motivo</a:t>
                      </a:r>
                    </a:p>
                  </a:txBody>
                  <a:tcPr anchor="ctr" marL="73152" marR="73152">
                    <a:solidFill>
                      <a:srgbClr val="0D9488"/>
                    </a:solidFill>
                  </a:tcPr>
                </a:tc>
                <a:tc>
                  <a:txBody>
                    <a:bodyPr wrap="square"/>
                    <a:lstStyle/>
                    <a:p>
                      <a:pPr algn="l">
                        <a:lnSpc>
                          <a:spcPct val="115000"/>
                        </a:lnSpc>
                        <a:spcAft>
                          <a:spcPts val="0"/>
                        </a:spcAft>
                      </a:pPr>
                      <a:r>
                        <a:rPr sz="850" b="1">
                          <a:solidFill>
                            <a:srgbClr val="FFFFFF"/>
                          </a:solidFill>
                          <a:latin typeface="Cambria"/>
                        </a:rPr>
                        <a:t>O que foi entregue</a:t>
                      </a:r>
                    </a:p>
                  </a:txBody>
                  <a:tcPr anchor="ctr" marL="73152" marR="73152">
                    <a:solidFill>
                      <a:srgbClr val="0D9488"/>
                    </a:solidFill>
                  </a:tcPr>
                </a:tc>
              </a:tr>
              <a:tr h="277977">
                <a:tc>
                  <a:txBody>
                    <a:bodyPr wrap="square"/>
                    <a:lstStyle/>
                    <a:p>
                      <a:pPr algn="l">
                        <a:lnSpc>
                          <a:spcPct val="115000"/>
                        </a:lnSpc>
                        <a:spcAft>
                          <a:spcPts val="0"/>
                        </a:spcAft>
                      </a:pPr>
                      <a:r>
                        <a:rPr sz="850" b="0">
                          <a:solidFill>
                            <a:srgbClr val="E2E8F0"/>
                          </a:solidFill>
                          <a:latin typeface="Cambria"/>
                        </a:rPr>
                        <a:t>Oracle Select AI</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Exige Autonomous. Verificado em all_objects: o 19c da FIAP não tem DBMS_CLOUD_AI</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Tradutor NL→SQL sobre os mesmos metadados + script pronto</a:t>
                      </a:r>
                    </a:p>
                  </a:txBody>
                  <a:tcPr anchor="ctr" marL="73152" marR="73152">
                    <a:solidFill>
                      <a:srgbClr val="1E293B"/>
                    </a:solidFill>
                  </a:tcPr>
                </a:tc>
              </a:tr>
              <a:tr h="277977">
                <a:tc>
                  <a:txBody>
                    <a:bodyPr wrap="square"/>
                    <a:lstStyle/>
                    <a:p>
                      <a:pPr algn="l">
                        <a:lnSpc>
                          <a:spcPct val="115000"/>
                        </a:lnSpc>
                        <a:spcAft>
                          <a:spcPts val="0"/>
                        </a:spcAft>
                      </a:pPr>
                      <a:r>
                        <a:rPr sz="850" b="0">
                          <a:solidFill>
                            <a:srgbClr val="E2E8F0"/>
                          </a:solidFill>
                          <a:latin typeface="Cambria"/>
                        </a:rPr>
                        <a:t>External Table</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Conta acadêmica sem CREATE ANY DIRECTORY</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CSV como tabela comum; DDL documentado</a:t>
                      </a:r>
                    </a:p>
                  </a:txBody>
                  <a:tcPr anchor="ctr" marL="73152" marR="73152">
                    <a:solidFill>
                      <a:srgbClr val="1E3A5F"/>
                    </a:solidFill>
                  </a:tcPr>
                </a:tc>
              </a:tr>
              <a:tr h="277977">
                <a:tc>
                  <a:txBody>
                    <a:bodyPr wrap="square"/>
                    <a:lstStyle/>
                    <a:p>
                      <a:pPr algn="l">
                        <a:lnSpc>
                          <a:spcPct val="115000"/>
                        </a:lnSpc>
                        <a:spcAft>
                          <a:spcPts val="0"/>
                        </a:spcAft>
                      </a:pPr>
                      <a:r>
                        <a:rPr sz="850" b="0">
                          <a:solidFill>
                            <a:srgbClr val="E2E8F0"/>
                          </a:solidFill>
                          <a:latin typeface="Cambria"/>
                        </a:rPr>
                        <a:t>Cobertura nacional</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Recorte no Sudeste para viabilizar o MVP</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Pipeline parametrizado por UF</a:t>
                      </a:r>
                    </a:p>
                  </a:txBody>
                  <a:tcPr anchor="ctr" marL="73152" marR="73152">
                    <a:solidFill>
                      <a:srgbClr val="1E293B"/>
                    </a:solidFill>
                  </a:tcPr>
                </a:tc>
              </a:tr>
              <a:tr h="277980">
                <a:tc>
                  <a:txBody>
                    <a:bodyPr wrap="square"/>
                    <a:lstStyle/>
                    <a:p>
                      <a:pPr algn="l">
                        <a:lnSpc>
                          <a:spcPct val="115000"/>
                        </a:lnSpc>
                        <a:spcAft>
                          <a:spcPts val="0"/>
                        </a:spcAft>
                      </a:pPr>
                      <a:r>
                        <a:rPr sz="850" b="0">
                          <a:solidFill>
                            <a:srgbClr val="E2E8F0"/>
                          </a:solidFill>
                          <a:latin typeface="Cambria"/>
                        </a:rPr>
                        <a:t>Clusterização K-Means</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Cortada por prazo</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Código de referência no repositório</a:t>
                      </a:r>
                    </a:p>
                  </a:txBody>
                  <a:tcPr anchor="ctr" marL="73152" marR="73152">
                    <a:solidFill>
                      <a:srgbClr val="1E3A5F"/>
                    </a:solidFill>
                  </a:tcPr>
                </a:tc>
              </a:tr>
            </a:tbl>
          </a:graphicData>
        </a:graphic>
      </p:graphicFrame>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4ª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Modelos e técnicas</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Ingestão das fontes, a descoberta que reorientou o projeto, estatística e previsão.</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As fontes e seus formatos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Três formatos exigidos pelo desafio, mais uma quarta fonte</a:t>
            </a:r>
          </a:p>
        </p:txBody>
      </p:sp>
      <p:sp>
        <p:nvSpPr>
          <p:cNvPr id="5" name="Rounded Rectangle 4"/>
          <p:cNvSpPr/>
          <p:nvPr/>
        </p:nvSpPr>
        <p:spPr>
          <a:xfrm>
            <a:off x="502920" y="1325880"/>
            <a:ext cx="7487107" cy="255473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7084771" cy="2262124"/>
          </a:xfrm>
          <a:prstGeom prst="rect">
            <a:avLst/>
          </a:prstGeom>
          <a:noFill/>
        </p:spPr>
        <p:txBody>
          <a:bodyPr wrap="square" lIns="0" rIns="0" tIns="0" bIns="0">
            <a:spAutoFit/>
          </a:bodyPr>
          <a:lstStyle/>
          <a:p>
            <a:pPr algn="l">
              <a:lnSpc>
                <a:spcPct val="110000"/>
              </a:lnSpc>
              <a:spcAft>
                <a:spcPts val="200"/>
              </a:spcAft>
            </a:pPr>
            <a:r>
              <a:rPr sz="1000" b="0">
                <a:solidFill>
                  <a:srgbClr val="14B8A6"/>
                </a:solidFill>
                <a:latin typeface="Consolas"/>
              </a:rPr>
              <a:t>FONTE 1 — SIH/SUS       relacional (.dbc)</a:t>
            </a:r>
          </a:p>
          <a:p>
            <a:pPr algn="l">
              <a:lnSpc>
                <a:spcPct val="110000"/>
              </a:lnSpc>
              <a:spcAft>
                <a:spcPts val="200"/>
              </a:spcAft>
            </a:pPr>
            <a:r>
              <a:rPr sz="1000" b="0">
                <a:solidFill>
                  <a:srgbClr val="E2E8F0"/>
                </a:solidFill>
                <a:latin typeface="Consolas"/>
              </a:rPr>
              <a:t>  ftp.retrbinary(...)              7.015.106 internações</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14B8A6"/>
                </a:solidFill>
                <a:latin typeface="Consolas"/>
              </a:rPr>
              <a:t>FONTE 2 — CNES          JSON via API REST</a:t>
            </a:r>
          </a:p>
          <a:p>
            <a:pPr algn="l">
              <a:lnSpc>
                <a:spcPct val="110000"/>
              </a:lnSpc>
              <a:spcAft>
                <a:spcPts val="200"/>
              </a:spcAft>
            </a:pPr>
            <a:r>
              <a:rPr sz="1000" b="0">
                <a:solidFill>
                  <a:srgbClr val="E2E8F0"/>
                </a:solidFill>
                <a:latin typeface="Consolas"/>
              </a:rPr>
              <a:t>  _get_json(...)                   4.481 estabelecimentos</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14B8A6"/>
                </a:solidFill>
                <a:latin typeface="Consolas"/>
              </a:rPr>
              <a:t>FONTE 3 — IBGE          CSV</a:t>
            </a:r>
          </a:p>
          <a:p>
            <a:pPr algn="l">
              <a:lnSpc>
                <a:spcPct val="110000"/>
              </a:lnSpc>
              <a:spcAft>
                <a:spcPts val="200"/>
              </a:spcAft>
            </a:pPr>
            <a:r>
              <a:rPr sz="1000" b="0">
                <a:solidFill>
                  <a:srgbClr val="E2E8F0"/>
                </a:solidFill>
                <a:latin typeface="Consolas"/>
              </a:rPr>
              <a:t>  df.to_csv(...)                   5.571 municípios</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F59E0B"/>
                </a:solidFill>
                <a:latin typeface="Consolas"/>
              </a:rPr>
              <a:t>FONTE 4 — Open-Meteo    JSON via API REST</a:t>
            </a:r>
          </a:p>
          <a:p>
            <a:pPr algn="l">
              <a:lnSpc>
                <a:spcPct val="110000"/>
              </a:lnSpc>
              <a:spcAft>
                <a:spcPts val="200"/>
              </a:spcAft>
            </a:pPr>
            <a:r>
              <a:rPr sz="1000" b="0">
                <a:solidFill>
                  <a:srgbClr val="E2E8F0"/>
                </a:solidFill>
                <a:latin typeface="Consolas"/>
              </a:rPr>
              <a:t>  archive-api.open-meteo.com       366 dias × 4 capitais</a:t>
            </a:r>
          </a:p>
        </p:txBody>
      </p:sp>
      <p:sp>
        <p:nvSpPr>
          <p:cNvPr id="7" name="TextBox 6"/>
          <p:cNvSpPr txBox="1"/>
          <p:nvPr/>
        </p:nvSpPr>
        <p:spPr>
          <a:xfrm>
            <a:off x="502920" y="4008628"/>
            <a:ext cx="8138160" cy="45720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 quarta fonte não era exigida. Entrou para testar hipóteses que os dados de saúde sozinhos não respondem.</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Tratamento do formato proprietário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 .dbc do DATASUS é um DBF comprimido com PKWare DCL</a:t>
            </a:r>
          </a:p>
        </p:txBody>
      </p:sp>
      <p:sp>
        <p:nvSpPr>
          <p:cNvPr id="5" name="Rounded Rectangle 4"/>
          <p:cNvSpPr/>
          <p:nvPr/>
        </p:nvSpPr>
        <p:spPr>
          <a:xfrm>
            <a:off x="2440607" y="1325880"/>
            <a:ext cx="4262786"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xtrai_sih_py_69.jpeg"/>
          <p:cNvPicPr>
            <a:picLocks noChangeAspect="1"/>
          </p:cNvPicPr>
          <p:nvPr/>
        </p:nvPicPr>
        <p:blipFill>
          <a:blip r:embed="rId2"/>
          <a:stretch>
            <a:fillRect/>
          </a:stretch>
        </p:blipFill>
        <p:spPr>
          <a:xfrm>
            <a:off x="2513759" y="1399032"/>
            <a:ext cx="4116482" cy="2642616"/>
          </a:xfrm>
          <a:prstGeom prst="rect">
            <a:avLst/>
          </a:prstGeom>
        </p:spPr>
      </p:pic>
      <p:sp>
        <p:nvSpPr>
          <p:cNvPr id="7" name="TextBox 6"/>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 conversão roda em diretório temporário com caminho ASCII: a extensão C não aceita acento no caminho, e o projeto mora em "Educação/Ciência de Dados".</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 descoberta que reorientou o projeto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Defasagem entre internar e ser faturado</a:t>
            </a:r>
          </a:p>
        </p:txBody>
      </p:sp>
      <p:sp>
        <p:nvSpPr>
          <p:cNvPr id="5" name="Rounded Rectangle 4"/>
          <p:cNvSpPr/>
          <p:nvPr/>
        </p:nvSpPr>
        <p:spPr>
          <a:xfrm>
            <a:off x="535441" y="1325880"/>
            <a:ext cx="4697152"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peline_prata_defasagem.png"/>
          <p:cNvPicPr>
            <a:picLocks noChangeAspect="1"/>
          </p:cNvPicPr>
          <p:nvPr/>
        </p:nvPicPr>
        <p:blipFill>
          <a:blip r:embed="rId2"/>
          <a:stretch>
            <a:fillRect/>
          </a:stretch>
        </p:blipFill>
        <p:spPr>
          <a:xfrm>
            <a:off x="608593" y="1399032"/>
            <a:ext cx="4550848" cy="3145536"/>
          </a:xfrm>
          <a:prstGeom prst="rect">
            <a:avLst/>
          </a:prstGeom>
        </p:spPr>
      </p:pic>
      <p:sp>
        <p:nvSpPr>
          <p:cNvPr id="7" name="Rounded Rectangle 6"/>
          <p:cNvSpPr/>
          <p:nvPr/>
        </p:nvSpPr>
        <p:spPr>
          <a:xfrm>
            <a:off x="5466283" y="1604137"/>
            <a:ext cx="317479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750441"/>
            <a:ext cx="2772461" cy="2442718"/>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0 meses  4.214.705  60,8%</a:t>
            </a:r>
          </a:p>
          <a:p>
            <a:pPr algn="l">
              <a:lnSpc>
                <a:spcPct val="110000"/>
              </a:lnSpc>
              <a:spcAft>
                <a:spcPts val="200"/>
              </a:spcAft>
            </a:pPr>
            <a:r>
              <a:rPr sz="850" b="0">
                <a:solidFill>
                  <a:srgbClr val="E2E8F0"/>
                </a:solidFill>
                <a:latin typeface="Consolas"/>
              </a:rPr>
              <a:t>1 mês    1.789.226  25,8%</a:t>
            </a:r>
          </a:p>
          <a:p>
            <a:pPr algn="l">
              <a:lnSpc>
                <a:spcPct val="110000"/>
              </a:lnSpc>
              <a:spcAft>
                <a:spcPts val="200"/>
              </a:spcAft>
            </a:pPr>
            <a:r>
              <a:rPr sz="850" b="0">
                <a:solidFill>
                  <a:srgbClr val="E2E8F0"/>
                </a:solidFill>
                <a:latin typeface="Consolas"/>
              </a:rPr>
              <a:t>2 meses    587.295   8,5%</a:t>
            </a:r>
          </a:p>
          <a:p>
            <a:pPr algn="l">
              <a:lnSpc>
                <a:spcPct val="110000"/>
              </a:lnSpc>
              <a:spcAft>
                <a:spcPts val="200"/>
              </a:spcAft>
            </a:pPr>
            <a:r>
              <a:rPr sz="850" b="0">
                <a:solidFill>
                  <a:srgbClr val="E2E8F0"/>
                </a:solidFill>
                <a:latin typeface="Consolas"/>
              </a:rPr>
              <a:t>3 meses    297.454   4,3%</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14B8A6"/>
                </a:solidFill>
                <a:latin typeface="Consolas"/>
              </a:rPr>
              <a:t>acumulado em M+3: 99,4%</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competência do SIH é o</a:t>
            </a:r>
          </a:p>
          <a:p>
            <a:pPr algn="l">
              <a:lnSpc>
                <a:spcPct val="110000"/>
              </a:lnSpc>
              <a:spcAft>
                <a:spcPts val="200"/>
              </a:spcAft>
            </a:pPr>
            <a:r>
              <a:rPr sz="850" b="0">
                <a:solidFill>
                  <a:srgbClr val="E2E8F0"/>
                </a:solidFill>
                <a:latin typeface="Consolas"/>
              </a:rPr>
              <a:t>mês de PAGAMENTO, não o</a:t>
            </a:r>
          </a:p>
          <a:p>
            <a:pPr algn="l">
              <a:lnSpc>
                <a:spcPct val="110000"/>
              </a:lnSpc>
              <a:spcAft>
                <a:spcPts val="200"/>
              </a:spcAft>
            </a:pPr>
            <a:r>
              <a:rPr sz="850" b="0">
                <a:solidFill>
                  <a:srgbClr val="E2E8F0"/>
                </a:solidFill>
                <a:latin typeface="Consolas"/>
              </a:rPr>
              <a:t>da internação.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Corrigimos a dimensão</a:t>
            </a:r>
          </a:p>
          <a:p>
            <a:pPr algn="l">
              <a:lnSpc>
                <a:spcPct val="110000"/>
              </a:lnSpc>
              <a:spcAft>
                <a:spcPts val="200"/>
              </a:spcAft>
            </a:pPr>
            <a:r>
              <a:rPr sz="850" b="0">
                <a:solidFill>
                  <a:srgbClr val="E2E8F0"/>
                </a:solidFill>
                <a:latin typeface="Consolas"/>
              </a:rPr>
              <a:t>temporal e ampliamos a</a:t>
            </a:r>
          </a:p>
          <a:p>
            <a:pPr algn="l">
              <a:lnSpc>
                <a:spcPct val="110000"/>
              </a:lnSpc>
              <a:spcAft>
                <a:spcPts val="200"/>
              </a:spcAft>
            </a:pPr>
            <a:r>
              <a:rPr sz="850" b="0">
                <a:solidFill>
                  <a:srgbClr val="E2E8F0"/>
                </a:solidFill>
                <a:latin typeface="Consolas"/>
              </a:rPr>
              <a:t>ingestão até março/2025.</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Análise exploratória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16 consultas SQL cobrindo as quatro frentes do desafio</a:t>
            </a:r>
          </a:p>
        </p:txBody>
      </p:sp>
      <p:sp>
        <p:nvSpPr>
          <p:cNvPr id="5" name="Rounded Rectangle 4"/>
          <p:cNvSpPr/>
          <p:nvPr/>
        </p:nvSpPr>
        <p:spPr>
          <a:xfrm>
            <a:off x="502920" y="1396790"/>
            <a:ext cx="3977640" cy="31500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03_sazonalidade_grafico.png"/>
          <p:cNvPicPr>
            <a:picLocks noChangeAspect="1"/>
          </p:cNvPicPr>
          <p:nvPr/>
        </p:nvPicPr>
        <p:blipFill>
          <a:blip r:embed="rId2"/>
          <a:stretch>
            <a:fillRect/>
          </a:stretch>
        </p:blipFill>
        <p:spPr>
          <a:xfrm>
            <a:off x="576072" y="1469942"/>
            <a:ext cx="3831336" cy="3003716"/>
          </a:xfrm>
          <a:prstGeom prst="rect">
            <a:avLst/>
          </a:prstGeom>
        </p:spPr>
      </p:pic>
      <p:sp>
        <p:nvSpPr>
          <p:cNvPr id="7" name="Rounded Rectangle 6"/>
          <p:cNvSpPr/>
          <p:nvPr/>
        </p:nvSpPr>
        <p:spPr>
          <a:xfrm>
            <a:off x="4663440" y="1534680"/>
            <a:ext cx="3977640" cy="28742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eda_q07_pressao_grafico.png"/>
          <p:cNvPicPr>
            <a:picLocks noChangeAspect="1"/>
          </p:cNvPicPr>
          <p:nvPr/>
        </p:nvPicPr>
        <p:blipFill>
          <a:blip r:embed="rId3"/>
          <a:stretch>
            <a:fillRect/>
          </a:stretch>
        </p:blipFill>
        <p:spPr>
          <a:xfrm>
            <a:off x="4736592" y="1607832"/>
            <a:ext cx="3831336" cy="2727936"/>
          </a:xfrm>
          <a:prstGeom prst="rect">
            <a:avLst/>
          </a:prstGeom>
        </p:spPr>
      </p:pic>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Técnicas estatísticas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Outliers por IQR de Tukey e correlação de Pearson</a:t>
            </a:r>
          </a:p>
        </p:txBody>
      </p:sp>
      <p:sp>
        <p:nvSpPr>
          <p:cNvPr id="5" name="Rounded Rectangle 4"/>
          <p:cNvSpPr/>
          <p:nvPr/>
        </p:nvSpPr>
        <p:spPr>
          <a:xfrm>
            <a:off x="502920" y="1637866"/>
            <a:ext cx="4365345" cy="266786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14_outliers_iqr.png"/>
          <p:cNvPicPr>
            <a:picLocks noChangeAspect="1"/>
          </p:cNvPicPr>
          <p:nvPr/>
        </p:nvPicPr>
        <p:blipFill>
          <a:blip r:embed="rId2"/>
          <a:stretch>
            <a:fillRect/>
          </a:stretch>
        </p:blipFill>
        <p:spPr>
          <a:xfrm>
            <a:off x="576072" y="1711018"/>
            <a:ext cx="4219041" cy="2521563"/>
          </a:xfrm>
          <a:prstGeom prst="rect">
            <a:avLst/>
          </a:prstGeom>
        </p:spPr>
      </p:pic>
      <p:sp>
        <p:nvSpPr>
          <p:cNvPr id="7" name="Rounded Rectangle 6"/>
          <p:cNvSpPr/>
          <p:nvPr/>
        </p:nvSpPr>
        <p:spPr>
          <a:xfrm>
            <a:off x="5069433" y="1433576"/>
            <a:ext cx="3571647" cy="307644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1579880"/>
            <a:ext cx="3169311" cy="2783840"/>
          </a:xfrm>
          <a:prstGeom prst="rect">
            <a:avLst/>
          </a:prstGeom>
          <a:noFill/>
        </p:spPr>
        <p:txBody>
          <a:bodyPr wrap="square" lIns="0" rIns="0" tIns="0" bIns="0">
            <a:spAutoFit/>
          </a:bodyPr>
          <a:lstStyle/>
          <a:p>
            <a:pPr algn="l">
              <a:lnSpc>
                <a:spcPct val="110000"/>
              </a:lnSpc>
              <a:spcAft>
                <a:spcPts val="200"/>
              </a:spcAft>
            </a:pPr>
            <a:r>
              <a:rPr sz="800" b="0">
                <a:solidFill>
                  <a:srgbClr val="E2E8F0"/>
                </a:solidFill>
                <a:latin typeface="Consolas"/>
              </a:rPr>
              <a:t>TUKEY (Q3 + 1,5×IQR)</a:t>
            </a:r>
          </a:p>
          <a:p>
            <a:pPr algn="l">
              <a:lnSpc>
                <a:spcPct val="110000"/>
              </a:lnSpc>
              <a:spcAft>
                <a:spcPts val="200"/>
              </a:spcAft>
            </a:pPr>
            <a:r>
              <a:rPr sz="800" b="0">
                <a:solidFill>
                  <a:srgbClr val="E2E8F0"/>
                </a:solidFill>
                <a:latin typeface="Consolas"/>
              </a:rPr>
              <a:t>limite de outlier: 1,172</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E2E8F0"/>
                </a:solidFill>
                <a:latin typeface="Consolas"/>
              </a:rPr>
              <a:t>O critério estatístico,</a:t>
            </a:r>
          </a:p>
          <a:p>
            <a:pPr algn="l">
              <a:lnSpc>
                <a:spcPct val="110000"/>
              </a:lnSpc>
              <a:spcAft>
                <a:spcPts val="200"/>
              </a:spcAft>
            </a:pPr>
            <a:r>
              <a:rPr sz="800" b="0">
                <a:solidFill>
                  <a:srgbClr val="E2E8F0"/>
                </a:solidFill>
                <a:latin typeface="Consolas"/>
              </a:rPr>
              <a:t>calculado sem referência</a:t>
            </a:r>
          </a:p>
          <a:p>
            <a:pPr algn="l">
              <a:lnSpc>
                <a:spcPct val="110000"/>
              </a:lnSpc>
              <a:spcAft>
                <a:spcPts val="200"/>
              </a:spcAft>
            </a:pPr>
            <a:r>
              <a:rPr sz="800" b="0">
                <a:solidFill>
                  <a:srgbClr val="E2E8F0"/>
                </a:solidFill>
                <a:latin typeface="Consolas"/>
              </a:rPr>
              <a:t>ao nosso limiar, confirma</a:t>
            </a:r>
          </a:p>
          <a:p>
            <a:pPr algn="l">
              <a:lnSpc>
                <a:spcPct val="110000"/>
              </a:lnSpc>
              <a:spcAft>
                <a:spcPts val="200"/>
              </a:spcAft>
            </a:pPr>
            <a:r>
              <a:rPr sz="800" b="0">
                <a:solidFill>
                  <a:srgbClr val="E2E8F0"/>
                </a:solidFill>
                <a:latin typeface="Consolas"/>
              </a:rPr>
              <a:t>que ocupação acima de 1,0</a:t>
            </a:r>
          </a:p>
          <a:p>
            <a:pPr algn="l">
              <a:lnSpc>
                <a:spcPct val="110000"/>
              </a:lnSpc>
              <a:spcAft>
                <a:spcPts val="200"/>
              </a:spcAft>
            </a:pPr>
            <a:r>
              <a:rPr sz="800" b="0">
                <a:solidFill>
                  <a:srgbClr val="E2E8F0"/>
                </a:solidFill>
                <a:latin typeface="Consolas"/>
              </a:rPr>
              <a:t>é anômala nesta</a:t>
            </a:r>
          </a:p>
          <a:p>
            <a:pPr algn="l">
              <a:lnSpc>
                <a:spcPct val="110000"/>
              </a:lnSpc>
              <a:spcAft>
                <a:spcPts val="200"/>
              </a:spcAft>
            </a:pPr>
            <a:r>
              <a:rPr sz="800" b="0">
                <a:solidFill>
                  <a:srgbClr val="E2E8F0"/>
                </a:solidFill>
                <a:latin typeface="Consolas"/>
              </a:rPr>
              <a:t>distribuição.</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14B8A6"/>
                </a:solidFill>
                <a:latin typeface="Consolas"/>
              </a:rPr>
              <a:t>PEARSON</a:t>
            </a:r>
          </a:p>
          <a:p>
            <a:pPr algn="l">
              <a:lnSpc>
                <a:spcPct val="110000"/>
              </a:lnSpc>
              <a:spcAft>
                <a:spcPts val="200"/>
              </a:spcAft>
            </a:pPr>
            <a:r>
              <a:rPr sz="800" b="0">
                <a:solidFill>
                  <a:srgbClr val="E2E8F0"/>
                </a:solidFill>
                <a:latin typeface="Consolas"/>
              </a:rPr>
              <a:t>ocupação × transferência</a:t>
            </a:r>
          </a:p>
          <a:p>
            <a:pPr algn="l">
              <a:lnSpc>
                <a:spcPct val="110000"/>
              </a:lnSpc>
              <a:spcAft>
                <a:spcPts val="200"/>
              </a:spcAft>
            </a:pPr>
            <a:r>
              <a:rPr sz="800" b="0">
                <a:solidFill>
                  <a:srgbClr val="E2E8F0"/>
                </a:solidFill>
                <a:latin typeface="Consolas"/>
              </a:rPr>
              <a:t>        −0,305</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E2E8F0"/>
                </a:solidFill>
                <a:latin typeface="Consolas"/>
              </a:rPr>
              <a:t>Municípios com baixa</a:t>
            </a:r>
          </a:p>
          <a:p>
            <a:pPr algn="l">
              <a:lnSpc>
                <a:spcPct val="110000"/>
              </a:lnSpc>
              <a:spcAft>
                <a:spcPts val="200"/>
              </a:spcAft>
            </a:pPr>
            <a:r>
              <a:rPr sz="800" b="0">
                <a:solidFill>
                  <a:srgbClr val="E2E8F0"/>
                </a:solidFill>
                <a:latin typeface="Consolas"/>
              </a:rPr>
              <a:t>ocupação transferem mais:</a:t>
            </a:r>
          </a:p>
          <a:p>
            <a:pPr algn="l">
              <a:lnSpc>
                <a:spcPct val="110000"/>
              </a:lnSpc>
              <a:spcAft>
                <a:spcPts val="200"/>
              </a:spcAft>
            </a:pPr>
            <a:r>
              <a:rPr sz="800" b="0">
                <a:solidFill>
                  <a:srgbClr val="E2E8F0"/>
                </a:solidFill>
                <a:latin typeface="Consolas"/>
              </a:rPr>
              <a:t>estabilizam e encaminham.</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Modelo de previsão de demanda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Validação por janela expansível — o modelo mais simples venceu</a:t>
            </a:r>
          </a:p>
        </p:txBody>
      </p:sp>
      <p:sp>
        <p:nvSpPr>
          <p:cNvPr id="5" name="Rounded Rectangle 4"/>
          <p:cNvSpPr/>
          <p:nvPr/>
        </p:nvSpPr>
        <p:spPr>
          <a:xfrm>
            <a:off x="1693552" y="1325880"/>
            <a:ext cx="2380930"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modelo_comparativo_horizonte.png"/>
          <p:cNvPicPr>
            <a:picLocks noChangeAspect="1"/>
          </p:cNvPicPr>
          <p:nvPr/>
        </p:nvPicPr>
        <p:blipFill>
          <a:blip r:embed="rId2"/>
          <a:stretch>
            <a:fillRect/>
          </a:stretch>
        </p:blipFill>
        <p:spPr>
          <a:xfrm>
            <a:off x="1766704" y="1399032"/>
            <a:ext cx="2234626" cy="3145536"/>
          </a:xfrm>
          <a:prstGeom prst="rect">
            <a:avLst/>
          </a:prstGeom>
        </p:spPr>
      </p:pic>
      <p:sp>
        <p:nvSpPr>
          <p:cNvPr id="7" name="Rounded Rectangle 6"/>
          <p:cNvSpPr/>
          <p:nvPr/>
        </p:nvSpPr>
        <p:spPr>
          <a:xfrm>
            <a:off x="5466283" y="1689417"/>
            <a:ext cx="3174797" cy="2564765"/>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835721"/>
            <a:ext cx="2772461" cy="2272157"/>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horizonte  semanal  regressão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      7 d    6,32%     6,27%</a:t>
            </a:r>
          </a:p>
          <a:p>
            <a:pPr algn="l">
              <a:lnSpc>
                <a:spcPct val="110000"/>
              </a:lnSpc>
              <a:spcAft>
                <a:spcPts val="200"/>
              </a:spcAft>
            </a:pPr>
            <a:r>
              <a:rPr sz="850" b="0">
                <a:solidFill>
                  <a:srgbClr val="E2E8F0"/>
                </a:solidFill>
                <a:latin typeface="Consolas"/>
              </a:rPr>
              <a:t>     30 d    5,77%     7,67%</a:t>
            </a:r>
          </a:p>
          <a:p>
            <a:pPr algn="l">
              <a:lnSpc>
                <a:spcPct val="110000"/>
              </a:lnSpc>
              <a:spcAft>
                <a:spcPts val="200"/>
              </a:spcAft>
            </a:pPr>
            <a:r>
              <a:rPr sz="850" b="0">
                <a:solidFill>
                  <a:srgbClr val="F59E0B"/>
                </a:solidFill>
                <a:latin typeface="Consolas"/>
              </a:rPr>
              <a:t>     90 d    5,46%    27,12%</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Testamos regressão com</a:t>
            </a:r>
          </a:p>
          <a:p>
            <a:pPr algn="l">
              <a:lnSpc>
                <a:spcPct val="110000"/>
              </a:lnSpc>
              <a:spcAft>
                <a:spcPts val="200"/>
              </a:spcAft>
            </a:pPr>
            <a:r>
              <a:rPr sz="850" b="0">
                <a:solidFill>
                  <a:srgbClr val="E2E8F0"/>
                </a:solidFill>
                <a:latin typeface="Consolas"/>
              </a:rPr>
              <a:t>tendência e sazonalidade.</a:t>
            </a:r>
          </a:p>
          <a:p>
            <a:pPr algn="l">
              <a:lnSpc>
                <a:spcPct val="110000"/>
              </a:lnSpc>
              <a:spcAft>
                <a:spcPts val="200"/>
              </a:spcAft>
            </a:pPr>
            <a:r>
              <a:rPr sz="850" b="0">
                <a:solidFill>
                  <a:srgbClr val="E2E8F0"/>
                </a:solidFill>
                <a:latin typeface="Consolas"/>
              </a:rPr>
              <a:t>Perdeu em todos os</a:t>
            </a:r>
          </a:p>
          <a:p>
            <a:pPr algn="l">
              <a:lnSpc>
                <a:spcPct val="110000"/>
              </a:lnSpc>
              <a:spcAft>
                <a:spcPts val="200"/>
              </a:spcAft>
            </a:pPr>
            <a:r>
              <a:rPr sz="850" b="0">
                <a:solidFill>
                  <a:srgbClr val="E2E8F0"/>
                </a:solidFill>
                <a:latin typeface="Consolas"/>
              </a:rPr>
              <a:t>horizontes acima de 7 dias.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série não tem tendência</a:t>
            </a:r>
          </a:p>
          <a:p>
            <a:pPr algn="l">
              <a:lnSpc>
                <a:spcPct val="110000"/>
              </a:lnSpc>
              <a:spcAft>
                <a:spcPts val="200"/>
              </a:spcAft>
            </a:pPr>
            <a:r>
              <a:rPr sz="850" b="0">
                <a:solidFill>
                  <a:srgbClr val="E2E8F0"/>
                </a:solidFill>
                <a:latin typeface="Consolas"/>
              </a:rPr>
              <a:t>explorável.</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move a demanda hospitalar</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Variação percentual frente à segunda-feira</a:t>
            </a:r>
          </a:p>
        </p:txBody>
      </p:sp>
      <p:sp>
        <p:nvSpPr>
          <p:cNvPr id="5" name="Rounded Rectangle 4"/>
          <p:cNvSpPr/>
          <p:nvPr/>
        </p:nvSpPr>
        <p:spPr>
          <a:xfrm>
            <a:off x="502920" y="1404665"/>
            <a:ext cx="4762195" cy="313426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modelo_dia_semana.png"/>
          <p:cNvPicPr>
            <a:picLocks noChangeAspect="1"/>
          </p:cNvPicPr>
          <p:nvPr/>
        </p:nvPicPr>
        <p:blipFill>
          <a:blip r:embed="rId2"/>
          <a:stretch>
            <a:fillRect/>
          </a:stretch>
        </p:blipFill>
        <p:spPr>
          <a:xfrm>
            <a:off x="576072" y="1477817"/>
            <a:ext cx="4615891" cy="2987965"/>
          </a:xfrm>
          <a:prstGeom prst="rect">
            <a:avLst/>
          </a:prstGeom>
        </p:spPr>
      </p:pic>
      <p:sp>
        <p:nvSpPr>
          <p:cNvPr id="7" name="Rounded Rectangle 6"/>
          <p:cNvSpPr/>
          <p:nvPr/>
        </p:nvSpPr>
        <p:spPr>
          <a:xfrm>
            <a:off x="5466283" y="1895094"/>
            <a:ext cx="3174797" cy="215341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2041398"/>
            <a:ext cx="2772461" cy="1860804"/>
          </a:xfrm>
          <a:prstGeom prst="rect">
            <a:avLst/>
          </a:prstGeom>
          <a:noFill/>
        </p:spPr>
        <p:txBody>
          <a:bodyPr wrap="square" lIns="0" rIns="0" tIns="0" bIns="0">
            <a:spAutoFit/>
          </a:bodyPr>
          <a:lstStyle/>
          <a:p>
            <a:pPr algn="l">
              <a:lnSpc>
                <a:spcPct val="110000"/>
              </a:lnSpc>
              <a:spcAft>
                <a:spcPts val="200"/>
              </a:spcAft>
            </a:pPr>
            <a:r>
              <a:rPr sz="900" b="0">
                <a:solidFill>
                  <a:srgbClr val="F59E0B"/>
                </a:solidFill>
                <a:latin typeface="Consolas"/>
              </a:rPr>
              <a:t>Sábado    −38%</a:t>
            </a:r>
          </a:p>
          <a:p>
            <a:pPr algn="l">
              <a:lnSpc>
                <a:spcPct val="110000"/>
              </a:lnSpc>
              <a:spcAft>
                <a:spcPts val="200"/>
              </a:spcAft>
            </a:pPr>
            <a:r>
              <a:rPr sz="900" b="0">
                <a:solidFill>
                  <a:srgbClr val="F59E0B"/>
                </a:solidFill>
                <a:latin typeface="Consolas"/>
              </a:rPr>
              <a:t>Domingo   −41%</a:t>
            </a:r>
          </a:p>
          <a:p>
            <a:pPr algn="l">
              <a:lnSpc>
                <a:spcPct val="110000"/>
              </a:lnSpc>
              <a:spcAft>
                <a:spcPts val="200"/>
              </a:spcAft>
            </a:pPr>
            <a:r>
              <a:rPr sz="900" b="0">
                <a:solidFill>
                  <a:srgbClr val="F59E0B"/>
                </a:solidFill>
                <a:latin typeface="Consolas"/>
              </a:rPr>
              <a:t>Feriado   −26%</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Consistente nos quatro</a:t>
            </a:r>
          </a:p>
          <a:p>
            <a:pPr algn="l">
              <a:lnSpc>
                <a:spcPct val="110000"/>
              </a:lnSpc>
              <a:spcAft>
                <a:spcPts val="200"/>
              </a:spcAft>
            </a:pPr>
            <a:r>
              <a:rPr sz="900" b="0">
                <a:solidFill>
                  <a:srgbClr val="E2E8F0"/>
                </a:solidFill>
                <a:latin typeface="Consolas"/>
              </a:rPr>
              <a:t>estados.</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A queda do fim de semana</a:t>
            </a:r>
          </a:p>
          <a:p>
            <a:pPr algn="l">
              <a:lnSpc>
                <a:spcPct val="110000"/>
              </a:lnSpc>
              <a:spcAft>
                <a:spcPts val="200"/>
              </a:spcAft>
            </a:pPr>
            <a:r>
              <a:rPr sz="900" b="0">
                <a:solidFill>
                  <a:srgbClr val="E2E8F0"/>
                </a:solidFill>
                <a:latin typeface="Consolas"/>
              </a:rPr>
              <a:t>não é falta de doente:</a:t>
            </a:r>
          </a:p>
          <a:p>
            <a:pPr algn="l">
              <a:lnSpc>
                <a:spcPct val="110000"/>
              </a:lnSpc>
              <a:spcAft>
                <a:spcPts val="200"/>
              </a:spcAft>
            </a:pPr>
            <a:r>
              <a:rPr sz="900" b="0">
                <a:solidFill>
                  <a:srgbClr val="E2E8F0"/>
                </a:solidFill>
                <a:latin typeface="Consolas"/>
              </a:rPr>
              <a:t>é a rede eletiva parada.</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5ª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Evidências visuais</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O painel e a camada Gold respondendo às perguntas do desafio.</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Previsão de demanda no painel</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Projeção diária de 90 dias, com intervalo de 95%</a:t>
            </a:r>
          </a:p>
        </p:txBody>
      </p:sp>
      <p:sp>
        <p:nvSpPr>
          <p:cNvPr id="5" name="Rounded Rectangle 4"/>
          <p:cNvSpPr/>
          <p:nvPr/>
        </p:nvSpPr>
        <p:spPr>
          <a:xfrm>
            <a:off x="502920" y="1905923"/>
            <a:ext cx="8138160" cy="2131754"/>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5_previsao_serie.png"/>
          <p:cNvPicPr>
            <a:picLocks noChangeAspect="1"/>
          </p:cNvPicPr>
          <p:nvPr/>
        </p:nvPicPr>
        <p:blipFill>
          <a:blip r:embed="rId2"/>
          <a:stretch>
            <a:fillRect/>
          </a:stretch>
        </p:blipFill>
        <p:spPr>
          <a:xfrm>
            <a:off x="576072" y="1979075"/>
            <a:ext cx="7991856" cy="1985450"/>
          </a:xfrm>
          <a:prstGeom prst="rect">
            <a:avLst/>
          </a:prstGeom>
        </p:spPr>
      </p:pic>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Quantos leitos, e quando abrir</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Consumo observado traduzido em dimensionamento</a:t>
            </a:r>
          </a:p>
        </p:txBody>
      </p:sp>
      <p:sp>
        <p:nvSpPr>
          <p:cNvPr id="5" name="Rounded Rectangle 4"/>
          <p:cNvSpPr/>
          <p:nvPr/>
        </p:nvSpPr>
        <p:spPr>
          <a:xfrm>
            <a:off x="502920" y="1622513"/>
            <a:ext cx="4762195" cy="2241374"/>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7_dimensionamento.png"/>
          <p:cNvPicPr>
            <a:picLocks noChangeAspect="1"/>
          </p:cNvPicPr>
          <p:nvPr/>
        </p:nvPicPr>
        <p:blipFill>
          <a:blip r:embed="rId2"/>
          <a:stretch>
            <a:fillRect/>
          </a:stretch>
        </p:blipFill>
        <p:spPr>
          <a:xfrm>
            <a:off x="576072" y="1695665"/>
            <a:ext cx="4615891" cy="2095070"/>
          </a:xfrm>
          <a:prstGeom prst="rect">
            <a:avLst/>
          </a:prstGeom>
        </p:spPr>
      </p:pic>
      <p:sp>
        <p:nvSpPr>
          <p:cNvPr id="7" name="Rounded Rectangle 6"/>
          <p:cNvSpPr/>
          <p:nvPr/>
        </p:nvSpPr>
        <p:spPr>
          <a:xfrm>
            <a:off x="5466283" y="1375537"/>
            <a:ext cx="317479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521841"/>
            <a:ext cx="2772461" cy="2442718"/>
          </a:xfrm>
          <a:prstGeom prst="rect">
            <a:avLst/>
          </a:prstGeom>
          <a:noFill/>
        </p:spPr>
        <p:txBody>
          <a:bodyPr wrap="square" lIns="0" rIns="0" tIns="0" bIns="0">
            <a:spAutoFit/>
          </a:bodyPr>
          <a:lstStyle/>
          <a:p>
            <a:pPr algn="l">
              <a:lnSpc>
                <a:spcPct val="110000"/>
              </a:lnSpc>
              <a:spcAft>
                <a:spcPts val="200"/>
              </a:spcAft>
            </a:pPr>
            <a:r>
              <a:rPr sz="850" b="0">
                <a:solidFill>
                  <a:srgbClr val="14B8A6"/>
                </a:solidFill>
                <a:latin typeface="Consolas"/>
              </a:rPr>
              <a:t>BELO HORIZONTE</a:t>
            </a:r>
          </a:p>
          <a:p>
            <a:pPr algn="l">
              <a:lnSpc>
                <a:spcPct val="110000"/>
              </a:lnSpc>
              <a:spcAft>
                <a:spcPts val="200"/>
              </a:spcAft>
            </a:pPr>
            <a:r>
              <a:rPr sz="850" b="0">
                <a:solidFill>
                  <a:srgbClr val="E2E8F0"/>
                </a:solidFill>
                <a:latin typeface="Consolas"/>
              </a:rPr>
              <a:t>6.312 leitos cadastrados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Demanda comum      5.107</a:t>
            </a:r>
          </a:p>
          <a:p>
            <a:pPr algn="l">
              <a:lnSpc>
                <a:spcPct val="110000"/>
              </a:lnSpc>
              <a:spcAft>
                <a:spcPts val="200"/>
              </a:spcAft>
            </a:pPr>
            <a:r>
              <a:rPr sz="850" b="0">
                <a:solidFill>
                  <a:srgbClr val="E2E8F0"/>
                </a:solidFill>
                <a:latin typeface="Consolas"/>
              </a:rPr>
              <a:t>  abertos o ano inteiro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Pico (abril)       5.904</a:t>
            </a:r>
          </a:p>
          <a:p>
            <a:pPr algn="l">
              <a:lnSpc>
                <a:spcPct val="110000"/>
              </a:lnSpc>
              <a:spcAft>
                <a:spcPts val="200"/>
              </a:spcAft>
            </a:pPr>
            <a:r>
              <a:rPr sz="850" b="0">
                <a:solidFill>
                  <a:srgbClr val="E2E8F0"/>
                </a:solidFill>
                <a:latin typeface="Consolas"/>
              </a:rPr>
              <a:t>  +797 leitos sazonais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F59E0B"/>
                </a:solidFill>
                <a:latin typeface="Consolas"/>
              </a:rPr>
              <a:t>Folga no pico        408</a:t>
            </a:r>
          </a:p>
          <a:p>
            <a:pPr algn="l">
              <a:lnSpc>
                <a:spcPct val="110000"/>
              </a:lnSpc>
              <a:spcAft>
                <a:spcPts val="200"/>
              </a:spcAft>
            </a:pPr>
            <a:r>
              <a:rPr sz="850" b="0">
                <a:solidFill>
                  <a:srgbClr val="F59E0B"/>
                </a:solidFill>
                <a:latin typeface="Consolas"/>
              </a:rPr>
              <a:t>  6% da capacidade</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Abril é o pico nas</a:t>
            </a:r>
          </a:p>
          <a:p>
            <a:pPr algn="l">
              <a:lnSpc>
                <a:spcPct val="110000"/>
              </a:lnSpc>
              <a:spcAft>
                <a:spcPts val="200"/>
              </a:spcAft>
            </a:pPr>
            <a:r>
              <a:rPr sz="850" b="0">
                <a:solidFill>
                  <a:srgbClr val="E2E8F0"/>
                </a:solidFill>
                <a:latin typeface="Consolas"/>
              </a:rPr>
              <a:t>quatro capitais.</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Seis por cento de folga no pico é a margem que uma epidemia consome em dias.</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Consultas na camada Gold</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Executadas no Oracle 19c da FIAP</a:t>
            </a:r>
          </a:p>
        </p:txBody>
      </p:sp>
      <p:sp>
        <p:nvSpPr>
          <p:cNvPr id="5" name="Rounded Rectangle 4"/>
          <p:cNvSpPr/>
          <p:nvPr/>
        </p:nvSpPr>
        <p:spPr>
          <a:xfrm>
            <a:off x="502920" y="1529869"/>
            <a:ext cx="5714634" cy="2883861"/>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racle_top10_hospitais.png"/>
          <p:cNvPicPr>
            <a:picLocks noChangeAspect="1"/>
          </p:cNvPicPr>
          <p:nvPr/>
        </p:nvPicPr>
        <p:blipFill>
          <a:blip r:embed="rId2"/>
          <a:stretch>
            <a:fillRect/>
          </a:stretch>
        </p:blipFill>
        <p:spPr>
          <a:xfrm>
            <a:off x="576072" y="1603021"/>
            <a:ext cx="5568330" cy="2737557"/>
          </a:xfrm>
          <a:prstGeom prst="rect">
            <a:avLst/>
          </a:prstGeom>
        </p:spPr>
      </p:pic>
      <p:sp>
        <p:nvSpPr>
          <p:cNvPr id="7" name="Rounded Rectangle 6"/>
          <p:cNvSpPr/>
          <p:nvPr/>
        </p:nvSpPr>
        <p:spPr>
          <a:xfrm>
            <a:off x="6418722" y="1985391"/>
            <a:ext cx="2222358" cy="197281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19890" y="2131695"/>
            <a:ext cx="1820022" cy="1680210"/>
          </a:xfrm>
          <a:prstGeom prst="rect">
            <a:avLst/>
          </a:prstGeom>
          <a:noFill/>
        </p:spPr>
        <p:txBody>
          <a:bodyPr wrap="square" lIns="0" rIns="0" tIns="0" bIns="0">
            <a:spAutoFit/>
          </a:bodyPr>
          <a:lstStyle/>
          <a:p>
            <a:pPr algn="l">
              <a:lnSpc>
                <a:spcPct val="110000"/>
              </a:lnSpc>
              <a:spcAft>
                <a:spcPts val="200"/>
              </a:spcAft>
            </a:pPr>
            <a:r>
              <a:rPr sz="900" b="0">
                <a:solidFill>
                  <a:srgbClr val="E2E8F0"/>
                </a:solidFill>
                <a:latin typeface="Consolas"/>
              </a:rPr>
              <a:t>Santa Casa BH</a:t>
            </a:r>
          </a:p>
          <a:p>
            <a:pPr algn="l">
              <a:lnSpc>
                <a:spcPct val="110000"/>
              </a:lnSpc>
              <a:spcAft>
                <a:spcPts val="200"/>
              </a:spcAft>
            </a:pPr>
            <a:r>
              <a:rPr sz="900" b="0">
                <a:solidFill>
                  <a:srgbClr val="E2E8F0"/>
                </a:solidFill>
                <a:latin typeface="Consolas"/>
              </a:rPr>
              <a:t>  54.406 internações</a:t>
            </a:r>
          </a:p>
          <a:p>
            <a:pPr algn="l">
              <a:lnSpc>
                <a:spcPct val="110000"/>
              </a:lnSpc>
              <a:spcAft>
                <a:spcPts val="200"/>
              </a:spcAft>
            </a:pPr>
            <a:r>
              <a:rPr sz="900" b="0">
                <a:solidFill>
                  <a:srgbClr val="E2E8F0"/>
                </a:solidFill>
                <a:latin typeface="Consolas"/>
              </a:rPr>
              <a:t>  0,21% transferência</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HC-FMUSP SP</a:t>
            </a:r>
          </a:p>
          <a:p>
            <a:pPr algn="l">
              <a:lnSpc>
                <a:spcPct val="110000"/>
              </a:lnSpc>
              <a:spcAft>
                <a:spcPts val="200"/>
              </a:spcAft>
            </a:pPr>
            <a:r>
              <a:rPr sz="900" b="0">
                <a:solidFill>
                  <a:srgbClr val="E2E8F0"/>
                </a:solidFill>
                <a:latin typeface="Consolas"/>
              </a:rPr>
              <a:t>  53.161 · 2,66%</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Hosp. Base SJRP</a:t>
            </a:r>
          </a:p>
          <a:p>
            <a:pPr algn="l">
              <a:lnSpc>
                <a:spcPct val="110000"/>
              </a:lnSpc>
              <a:spcAft>
                <a:spcPts val="200"/>
              </a:spcAft>
            </a:pPr>
            <a:r>
              <a:rPr sz="900" b="0">
                <a:solidFill>
                  <a:srgbClr val="E2E8F0"/>
                </a:solidFill>
                <a:latin typeface="Consolas"/>
              </a:rPr>
              <a:t>  50.043 · 1,09%</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Onde as internações crescem</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Segundo semestre contra o primeiro, por município</a:t>
            </a:r>
          </a:p>
        </p:txBody>
      </p:sp>
      <p:sp>
        <p:nvSpPr>
          <p:cNvPr id="5" name="Rounded Rectangle 4"/>
          <p:cNvSpPr/>
          <p:nvPr/>
        </p:nvSpPr>
        <p:spPr>
          <a:xfrm>
            <a:off x="2842585" y="1325880"/>
            <a:ext cx="3458829"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05_crescimento.png"/>
          <p:cNvPicPr>
            <a:picLocks noChangeAspect="1"/>
          </p:cNvPicPr>
          <p:nvPr/>
        </p:nvPicPr>
        <p:blipFill>
          <a:blip r:embed="rId2"/>
          <a:stretch>
            <a:fillRect/>
          </a:stretch>
        </p:blipFill>
        <p:spPr>
          <a:xfrm>
            <a:off x="2915737" y="1399032"/>
            <a:ext cx="3312525" cy="3145536"/>
          </a:xfrm>
          <a:prstGeom prst="rect">
            <a:avLst/>
          </a:prstGeom>
        </p:spPr>
      </p:pic>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Quem exporta paciente</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A taxa de transferência mede resolutividade, não volume</a:t>
            </a:r>
          </a:p>
        </p:txBody>
      </p:sp>
      <p:sp>
        <p:nvSpPr>
          <p:cNvPr id="5" name="Rounded Rectangle 4"/>
          <p:cNvSpPr/>
          <p:nvPr/>
        </p:nvSpPr>
        <p:spPr>
          <a:xfrm>
            <a:off x="502920" y="1405384"/>
            <a:ext cx="4762195" cy="3132831"/>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12_transferencias.png"/>
          <p:cNvPicPr>
            <a:picLocks noChangeAspect="1"/>
          </p:cNvPicPr>
          <p:nvPr/>
        </p:nvPicPr>
        <p:blipFill>
          <a:blip r:embed="rId2"/>
          <a:stretch>
            <a:fillRect/>
          </a:stretch>
        </p:blipFill>
        <p:spPr>
          <a:xfrm>
            <a:off x="576072" y="1478536"/>
            <a:ext cx="4615891" cy="2986527"/>
          </a:xfrm>
          <a:prstGeom prst="rect">
            <a:avLst/>
          </a:prstGeom>
        </p:spPr>
      </p:pic>
      <p:sp>
        <p:nvSpPr>
          <p:cNvPr id="7" name="Rounded Rectangle 6"/>
          <p:cNvSpPr/>
          <p:nvPr/>
        </p:nvSpPr>
        <p:spPr>
          <a:xfrm>
            <a:off x="5466283" y="1604137"/>
            <a:ext cx="317479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750441"/>
            <a:ext cx="2772461" cy="2442718"/>
          </a:xfrm>
          <a:prstGeom prst="rect">
            <a:avLst/>
          </a:prstGeom>
          <a:noFill/>
        </p:spPr>
        <p:txBody>
          <a:bodyPr wrap="square" lIns="0" rIns="0" tIns="0" bIns="0">
            <a:spAutoFit/>
          </a:bodyPr>
          <a:lstStyle/>
          <a:p>
            <a:pPr algn="l">
              <a:lnSpc>
                <a:spcPct val="110000"/>
              </a:lnSpc>
              <a:spcAft>
                <a:spcPts val="200"/>
              </a:spcAft>
            </a:pPr>
            <a:r>
              <a:rPr sz="850" b="0">
                <a:solidFill>
                  <a:srgbClr val="14B8A6"/>
                </a:solidFill>
                <a:latin typeface="Consolas"/>
              </a:rPr>
              <a:t>EMBU-GUAÇU / SP</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1.460 internações</a:t>
            </a:r>
          </a:p>
          <a:p>
            <a:pPr algn="l">
              <a:lnSpc>
                <a:spcPct val="110000"/>
              </a:lnSpc>
              <a:spcAft>
                <a:spcPts val="200"/>
              </a:spcAft>
            </a:pPr>
            <a:r>
              <a:rPr sz="850" b="0">
                <a:solidFill>
                  <a:srgbClr val="E2E8F0"/>
                </a:solidFill>
                <a:latin typeface="Consolas"/>
              </a:rPr>
              <a:t>1.082 transferências</a:t>
            </a:r>
          </a:p>
          <a:p>
            <a:pPr algn="l">
              <a:lnSpc>
                <a:spcPct val="110000"/>
              </a:lnSpc>
              <a:spcAft>
                <a:spcPts val="200"/>
              </a:spcAft>
            </a:pPr>
            <a:r>
              <a:rPr sz="850" b="0">
                <a:solidFill>
                  <a:srgbClr val="E2E8F0"/>
                </a:solidFill>
                <a:latin typeface="Consolas"/>
              </a:rPr>
              <a:t>   15 leitos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F59E0B"/>
                </a:solidFill>
                <a:latin typeface="Consolas"/>
              </a:rPr>
              <a:t>74% dos pacientes seguem</a:t>
            </a:r>
          </a:p>
          <a:p>
            <a:pPr algn="l">
              <a:lnSpc>
                <a:spcPct val="110000"/>
              </a:lnSpc>
              <a:spcAft>
                <a:spcPts val="200"/>
              </a:spcAft>
            </a:pPr>
            <a:r>
              <a:rPr sz="850" b="0">
                <a:solidFill>
                  <a:srgbClr val="F59E0B"/>
                </a:solidFill>
                <a:latin typeface="Consolas"/>
              </a:rPr>
              <a:t>para outro município.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Não é "há muitas</a:t>
            </a:r>
          </a:p>
          <a:p>
            <a:pPr algn="l">
              <a:lnSpc>
                <a:spcPct val="110000"/>
              </a:lnSpc>
              <a:spcAft>
                <a:spcPts val="200"/>
              </a:spcAft>
            </a:pPr>
            <a:r>
              <a:rPr sz="850" b="0">
                <a:solidFill>
                  <a:srgbClr val="E2E8F0"/>
                </a:solidFill>
                <a:latin typeface="Consolas"/>
              </a:rPr>
              <a:t>internações aqui": é</a:t>
            </a:r>
          </a:p>
          <a:p>
            <a:pPr algn="l">
              <a:lnSpc>
                <a:spcPct val="110000"/>
              </a:lnSpc>
              <a:spcAft>
                <a:spcPts val="200"/>
              </a:spcAft>
            </a:pPr>
            <a:r>
              <a:rPr sz="850" b="0">
                <a:solidFill>
                  <a:srgbClr val="E2E8F0"/>
                </a:solidFill>
                <a:latin typeface="Consolas"/>
              </a:rPr>
              <a:t>"pacientes saem daqui</a:t>
            </a:r>
          </a:p>
          <a:p>
            <a:pPr algn="l">
              <a:lnSpc>
                <a:spcPct val="110000"/>
              </a:lnSpc>
              <a:spcAft>
                <a:spcPts val="200"/>
              </a:spcAft>
            </a:pPr>
            <a:r>
              <a:rPr sz="850" b="0">
                <a:solidFill>
                  <a:srgbClr val="E2E8F0"/>
                </a:solidFill>
                <a:latin typeface="Consolas"/>
              </a:rPr>
              <a:t>porque não há como</a:t>
            </a:r>
          </a:p>
          <a:p>
            <a:pPr algn="l">
              <a:lnSpc>
                <a:spcPct val="110000"/>
              </a:lnSpc>
              <a:spcAft>
                <a:spcPts val="200"/>
              </a:spcAft>
            </a:pPr>
            <a:r>
              <a:rPr sz="850" b="0">
                <a:solidFill>
                  <a:srgbClr val="E2E8F0"/>
                </a:solidFill>
                <a:latin typeface="Consolas"/>
              </a:rPr>
              <a:t>tratá-los aqui".</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ANÁLISE COMPLEMENTAR</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Clima e internação</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Não é entrega obrigatória. Três hipóteses testadas — uma refutada, uma confirmada, uma com ressalva.</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Uma quarta fonte de dados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Open-Meteo · clima diário das 4 capitais · 2024</a:t>
            </a:r>
          </a:p>
        </p:txBody>
      </p:sp>
      <p:sp>
        <p:nvSpPr>
          <p:cNvPr id="5" name="Rounded Rectangle 4"/>
          <p:cNvSpPr/>
          <p:nvPr/>
        </p:nvSpPr>
        <p:spPr>
          <a:xfrm>
            <a:off x="502920" y="1474254"/>
            <a:ext cx="5714634" cy="2995091"/>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1_fonte.png"/>
          <p:cNvPicPr>
            <a:picLocks noChangeAspect="1"/>
          </p:cNvPicPr>
          <p:nvPr/>
        </p:nvPicPr>
        <p:blipFill>
          <a:blip r:embed="rId2"/>
          <a:stretch>
            <a:fillRect/>
          </a:stretch>
        </p:blipFill>
        <p:spPr>
          <a:xfrm>
            <a:off x="576072" y="1547406"/>
            <a:ext cx="5568330" cy="2848787"/>
          </a:xfrm>
          <a:prstGeom prst="rect">
            <a:avLst/>
          </a:prstGeom>
        </p:spPr>
      </p:pic>
      <p:sp>
        <p:nvSpPr>
          <p:cNvPr id="7" name="Rounded Rectangle 6"/>
          <p:cNvSpPr/>
          <p:nvPr/>
        </p:nvSpPr>
        <p:spPr>
          <a:xfrm>
            <a:off x="6418722" y="1518856"/>
            <a:ext cx="2222358" cy="2905887"/>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19890" y="1665160"/>
            <a:ext cx="1820022" cy="2613279"/>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1.464 dias-capital</a:t>
            </a:r>
          </a:p>
          <a:p>
            <a:pPr algn="l">
              <a:lnSpc>
                <a:spcPct val="110000"/>
              </a:lnSpc>
              <a:spcAft>
                <a:spcPts val="200"/>
              </a:spcAft>
            </a:pPr>
            <a:r>
              <a:rPr sz="850" b="0">
                <a:solidFill>
                  <a:srgbClr val="E2E8F0"/>
                </a:solidFill>
                <a:latin typeface="Consolas"/>
              </a:rPr>
              <a:t>  526 com chuva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1.421.225 internações</a:t>
            </a:r>
          </a:p>
          <a:p>
            <a:pPr algn="l">
              <a:lnSpc>
                <a:spcPct val="110000"/>
              </a:lnSpc>
              <a:spcAft>
                <a:spcPts val="200"/>
              </a:spcAft>
            </a:pPr>
            <a:r>
              <a:rPr sz="850" b="0">
                <a:solidFill>
                  <a:srgbClr val="E2E8F0"/>
                </a:solidFill>
                <a:latin typeface="Consolas"/>
              </a:rPr>
              <a:t>nas capitais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14B8A6"/>
                </a:solidFill>
                <a:latin typeface="Consolas"/>
              </a:rPr>
              <a:t>TRÊS HIPÓTESES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chuva aumenta acidentes?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frio aumenta doença</a:t>
            </a:r>
          </a:p>
          <a:p>
            <a:pPr algn="l">
              <a:lnSpc>
                <a:spcPct val="110000"/>
              </a:lnSpc>
              <a:spcAft>
                <a:spcPts val="200"/>
              </a:spcAft>
            </a:pPr>
            <a:r>
              <a:rPr sz="850" b="0">
                <a:solidFill>
                  <a:srgbClr val="E2E8F0"/>
                </a:solidFill>
                <a:latin typeface="Consolas"/>
              </a:rPr>
              <a:t>respiratória?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estação importa além</a:t>
            </a:r>
          </a:p>
          <a:p>
            <a:pPr algn="l">
              <a:lnSpc>
                <a:spcPct val="110000"/>
              </a:lnSpc>
              <a:spcAft>
                <a:spcPts val="200"/>
              </a:spcAft>
            </a:pPr>
            <a:r>
              <a:rPr sz="850" b="0">
                <a:solidFill>
                  <a:srgbClr val="E2E8F0"/>
                </a:solidFill>
                <a:latin typeface="Consolas"/>
              </a:rPr>
              <a:t>do ciclo semanal?</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Chuva não explica acidentes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Hipótese refutada — e o teste de gradiente é o que prova</a:t>
            </a:r>
          </a:p>
        </p:txBody>
      </p:sp>
      <p:sp>
        <p:nvSpPr>
          <p:cNvPr id="5" name="Rounded Rectangle 4"/>
          <p:cNvSpPr/>
          <p:nvPr/>
        </p:nvSpPr>
        <p:spPr>
          <a:xfrm>
            <a:off x="684216" y="1325880"/>
            <a:ext cx="4002752" cy="28346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3_gradiente_chuva.png"/>
          <p:cNvPicPr>
            <a:picLocks noChangeAspect="1"/>
          </p:cNvPicPr>
          <p:nvPr/>
        </p:nvPicPr>
        <p:blipFill>
          <a:blip r:embed="rId2"/>
          <a:stretch>
            <a:fillRect/>
          </a:stretch>
        </p:blipFill>
        <p:spPr>
          <a:xfrm>
            <a:off x="757368" y="1399032"/>
            <a:ext cx="3856448" cy="2688336"/>
          </a:xfrm>
          <a:prstGeom prst="rect">
            <a:avLst/>
          </a:prstGeom>
        </p:spPr>
      </p:pic>
      <p:sp>
        <p:nvSpPr>
          <p:cNvPr id="7" name="Rounded Rectangle 6"/>
          <p:cNvSpPr/>
          <p:nvPr/>
        </p:nvSpPr>
        <p:spPr>
          <a:xfrm>
            <a:off x="5069433" y="1766824"/>
            <a:ext cx="3571647" cy="195275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1913128"/>
            <a:ext cx="3169311" cy="1660144"/>
          </a:xfrm>
          <a:prstGeom prst="rect">
            <a:avLst/>
          </a:prstGeom>
          <a:noFill/>
        </p:spPr>
        <p:txBody>
          <a:bodyPr wrap="square" lIns="0" rIns="0" tIns="0" bIns="0">
            <a:spAutoFit/>
          </a:bodyPr>
          <a:lstStyle/>
          <a:p>
            <a:pPr algn="l">
              <a:lnSpc>
                <a:spcPct val="110000"/>
              </a:lnSpc>
              <a:spcAft>
                <a:spcPts val="200"/>
              </a:spcAft>
            </a:pPr>
            <a:r>
              <a:rPr sz="800" b="0">
                <a:solidFill>
                  <a:srgbClr val="E2E8F0"/>
                </a:solidFill>
                <a:latin typeface="Consolas"/>
              </a:rPr>
              <a:t>Com chuva   104,4 /dia</a:t>
            </a:r>
          </a:p>
          <a:p>
            <a:pPr algn="l">
              <a:lnSpc>
                <a:spcPct val="110000"/>
              </a:lnSpc>
              <a:spcAft>
                <a:spcPts val="200"/>
              </a:spcAft>
            </a:pPr>
            <a:r>
              <a:rPr sz="800" b="0">
                <a:solidFill>
                  <a:srgbClr val="E2E8F0"/>
                </a:solidFill>
                <a:latin typeface="Consolas"/>
              </a:rPr>
              <a:t>Sem chuva   105,1</a:t>
            </a:r>
          </a:p>
          <a:p>
            <a:pPr algn="l">
              <a:lnSpc>
                <a:spcPct val="110000"/>
              </a:lnSpc>
              <a:spcAft>
                <a:spcPts val="200"/>
              </a:spcAft>
            </a:pPr>
            <a:r>
              <a:rPr sz="800" b="0">
                <a:solidFill>
                  <a:srgbClr val="EF4444"/>
                </a:solidFill>
                <a:latin typeface="Consolas"/>
              </a:rPr>
              <a:t>variação     −0,7%</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14B8A6"/>
                </a:solidFill>
                <a:latin typeface="Consolas"/>
              </a:rPr>
              <a:t>SEM GRADIENTE</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E2E8F0"/>
                </a:solidFill>
                <a:latin typeface="Consolas"/>
              </a:rPr>
              <a:t>Sem chuva      693 d  105,4</a:t>
            </a:r>
          </a:p>
          <a:p>
            <a:pPr algn="l">
              <a:lnSpc>
                <a:spcPct val="110000"/>
              </a:lnSpc>
              <a:spcAft>
                <a:spcPts val="200"/>
              </a:spcAft>
            </a:pPr>
            <a:r>
              <a:rPr sz="800" b="0">
                <a:solidFill>
                  <a:srgbClr val="E2E8F0"/>
                </a:solidFill>
                <a:latin typeface="Consolas"/>
              </a:rPr>
              <a:t>Chuva fraca    254    103,0</a:t>
            </a:r>
          </a:p>
          <a:p>
            <a:pPr algn="l">
              <a:lnSpc>
                <a:spcPct val="110000"/>
              </a:lnSpc>
              <a:spcAft>
                <a:spcPts val="200"/>
              </a:spcAft>
            </a:pPr>
            <a:r>
              <a:rPr sz="800" b="0">
                <a:solidFill>
                  <a:srgbClr val="E2E8F0"/>
                </a:solidFill>
                <a:latin typeface="Consolas"/>
              </a:rPr>
              <a:t>Chuva moderada  85    110,4</a:t>
            </a:r>
          </a:p>
          <a:p>
            <a:pPr algn="l">
              <a:lnSpc>
                <a:spcPct val="110000"/>
              </a:lnSpc>
              <a:spcAft>
                <a:spcPts val="200"/>
              </a:spcAft>
            </a:pPr>
            <a:r>
              <a:rPr sz="800" b="0">
                <a:solidFill>
                  <a:srgbClr val="E2E8F0"/>
                </a:solidFill>
                <a:latin typeface="Consolas"/>
              </a:rPr>
              <a:t>Chuva forte     16     83,1</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Se a chuva causasse acidentes, o efeito cresceria com a intensidade. Sobe e desce sem padrão — e os 83,1 da chuva forte vêm de 16 dias apenas. O planejamento hospitalar não deve reservar capacidade para dias de chuva.</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Frio se associa a internação respiratória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Hipótese confirmada — gradiente monotônico nas quatro capitais</a:t>
            </a:r>
          </a:p>
        </p:txBody>
      </p:sp>
      <p:sp>
        <p:nvSpPr>
          <p:cNvPr id="5" name="Rounded Rectangle 4"/>
          <p:cNvSpPr/>
          <p:nvPr/>
        </p:nvSpPr>
        <p:spPr>
          <a:xfrm>
            <a:off x="1281092" y="1325880"/>
            <a:ext cx="2809001" cy="28346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4_frio_respiratoria.png"/>
          <p:cNvPicPr>
            <a:picLocks noChangeAspect="1"/>
          </p:cNvPicPr>
          <p:nvPr/>
        </p:nvPicPr>
        <p:blipFill>
          <a:blip r:embed="rId2"/>
          <a:stretch>
            <a:fillRect/>
          </a:stretch>
        </p:blipFill>
        <p:spPr>
          <a:xfrm>
            <a:off x="1354244" y="1399032"/>
            <a:ext cx="2662697" cy="2688336"/>
          </a:xfrm>
          <a:prstGeom prst="rect">
            <a:avLst/>
          </a:prstGeom>
        </p:spPr>
      </p:pic>
      <p:sp>
        <p:nvSpPr>
          <p:cNvPr id="7" name="Rounded Rectangle 6"/>
          <p:cNvSpPr/>
          <p:nvPr/>
        </p:nvSpPr>
        <p:spPr>
          <a:xfrm>
            <a:off x="5069433" y="1887220"/>
            <a:ext cx="3571647" cy="171196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2033524"/>
            <a:ext cx="3169311" cy="1419352"/>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Muito frio  73,7 /dia</a:t>
            </a:r>
          </a:p>
          <a:p>
            <a:pPr algn="l">
              <a:lnSpc>
                <a:spcPct val="110000"/>
              </a:lnSpc>
              <a:spcAft>
                <a:spcPts val="200"/>
              </a:spcAft>
            </a:pPr>
            <a:r>
              <a:rPr sz="850" b="0">
                <a:solidFill>
                  <a:srgbClr val="E2E8F0"/>
                </a:solidFill>
                <a:latin typeface="Consolas"/>
              </a:rPr>
              <a:t>Quente      67,5</a:t>
            </a:r>
          </a:p>
          <a:p>
            <a:pPr algn="l">
              <a:lnSpc>
                <a:spcPct val="110000"/>
              </a:lnSpc>
              <a:spcAft>
                <a:spcPts val="200"/>
              </a:spcAft>
            </a:pPr>
            <a:r>
              <a:rPr sz="850" b="0">
                <a:solidFill>
                  <a:srgbClr val="14B8A6"/>
                </a:solidFill>
                <a:latin typeface="Consolas"/>
              </a:rPr>
              <a:t>variação    +9,2%</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Capital      MFrio  Quente</a:t>
            </a:r>
          </a:p>
          <a:p>
            <a:pPr algn="l">
              <a:lnSpc>
                <a:spcPct val="110000"/>
              </a:lnSpc>
              <a:spcAft>
                <a:spcPts val="200"/>
              </a:spcAft>
            </a:pPr>
            <a:r>
              <a:rPr sz="850" b="0">
                <a:solidFill>
                  <a:srgbClr val="E2E8F0"/>
                </a:solidFill>
                <a:latin typeface="Consolas"/>
              </a:rPr>
              <a:t>BH            61,9    50,0</a:t>
            </a:r>
          </a:p>
          <a:p>
            <a:pPr algn="l">
              <a:lnSpc>
                <a:spcPct val="110000"/>
              </a:lnSpc>
              <a:spcAft>
                <a:spcPts val="200"/>
              </a:spcAft>
            </a:pPr>
            <a:r>
              <a:rPr sz="850" b="0">
                <a:solidFill>
                  <a:srgbClr val="E2E8F0"/>
                </a:solidFill>
                <a:latin typeface="Consolas"/>
              </a:rPr>
              <a:t>RJ            50,5    43,6</a:t>
            </a:r>
          </a:p>
          <a:p>
            <a:pPr algn="l">
              <a:lnSpc>
                <a:spcPct val="110000"/>
              </a:lnSpc>
              <a:spcAft>
                <a:spcPts val="200"/>
              </a:spcAft>
            </a:pPr>
            <a:r>
              <a:rPr sz="850" b="0">
                <a:solidFill>
                  <a:srgbClr val="E2E8F0"/>
                </a:solidFill>
                <a:latin typeface="Consolas"/>
              </a:rPr>
              <a:t>SP           175,1   163,9</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As faixas são quartis calculados dentro de cada capital: 18 °C é frio em Vitória e ameno em São Paulo. Um limiar absoluto compararia climas diferentes como se fossem o mesmo.</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Só a temperatura mínima importa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Correlação de Pearson com internação respiratória</a:t>
            </a:r>
          </a:p>
        </p:txBody>
      </p:sp>
      <p:sp>
        <p:nvSpPr>
          <p:cNvPr id="5" name="Rounded Rectangle 4"/>
          <p:cNvSpPr/>
          <p:nvPr/>
        </p:nvSpPr>
        <p:spPr>
          <a:xfrm>
            <a:off x="604286" y="1325880"/>
            <a:ext cx="4162613" cy="28346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5_correlacao.png"/>
          <p:cNvPicPr>
            <a:picLocks noChangeAspect="1"/>
          </p:cNvPicPr>
          <p:nvPr/>
        </p:nvPicPr>
        <p:blipFill>
          <a:blip r:embed="rId2"/>
          <a:stretch>
            <a:fillRect/>
          </a:stretch>
        </p:blipFill>
        <p:spPr>
          <a:xfrm>
            <a:off x="677438" y="1399032"/>
            <a:ext cx="4016309" cy="2688336"/>
          </a:xfrm>
          <a:prstGeom prst="rect">
            <a:avLst/>
          </a:prstGeom>
        </p:spPr>
      </p:pic>
      <p:sp>
        <p:nvSpPr>
          <p:cNvPr id="7" name="Rounded Rectangle 6"/>
          <p:cNvSpPr/>
          <p:nvPr/>
        </p:nvSpPr>
        <p:spPr>
          <a:xfrm>
            <a:off x="5069433" y="2057781"/>
            <a:ext cx="3571647" cy="137083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2204085"/>
            <a:ext cx="3169311" cy="1078230"/>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           tmin   tmax  chuva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BH       −0,306  0,020 −0,244</a:t>
            </a:r>
          </a:p>
          <a:p>
            <a:pPr algn="l">
              <a:lnSpc>
                <a:spcPct val="110000"/>
              </a:lnSpc>
              <a:spcAft>
                <a:spcPts val="200"/>
              </a:spcAft>
            </a:pPr>
            <a:r>
              <a:rPr sz="850" b="0">
                <a:solidFill>
                  <a:srgbClr val="E2E8F0"/>
                </a:solidFill>
                <a:latin typeface="Consolas"/>
              </a:rPr>
              <a:t>RJ       −0,185 −0,001 −0,129</a:t>
            </a:r>
          </a:p>
          <a:p>
            <a:pPr algn="l">
              <a:lnSpc>
                <a:spcPct val="110000"/>
              </a:lnSpc>
              <a:spcAft>
                <a:spcPts val="200"/>
              </a:spcAft>
            </a:pPr>
            <a:r>
              <a:rPr sz="850" b="0">
                <a:solidFill>
                  <a:srgbClr val="E2E8F0"/>
                </a:solidFill>
                <a:latin typeface="Consolas"/>
              </a:rPr>
              <a:t>Vitória  −0,148 −0,055 −0,181</a:t>
            </a:r>
          </a:p>
          <a:p>
            <a:pPr algn="l">
              <a:lnSpc>
                <a:spcPct val="110000"/>
              </a:lnSpc>
              <a:spcAft>
                <a:spcPts val="200"/>
              </a:spcAft>
            </a:pPr>
            <a:r>
              <a:rPr sz="850" b="0">
                <a:solidFill>
                  <a:srgbClr val="E2E8F0"/>
                </a:solidFill>
                <a:latin typeface="Consolas"/>
              </a:rPr>
              <a:t>SP       −0,107  0,062 −0,139</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 temperatura máxima não tem correlação — ronda zero nas quatro cidades. É o frio da madrugada que se relaciona com internação respiratória, não o calor do dia.</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 ressalva que o próprio dado revela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Por que isto é associação, e não causa</a:t>
            </a:r>
          </a:p>
        </p:txBody>
      </p:sp>
      <p:sp>
        <p:nvSpPr>
          <p:cNvPr id="5" name="Rounded Rectangle 4"/>
          <p:cNvSpPr/>
          <p:nvPr/>
        </p:nvSpPr>
        <p:spPr>
          <a:xfrm>
            <a:off x="502920" y="1325880"/>
            <a:ext cx="7731252" cy="274320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7328916" cy="2450592"/>
          </a:xfrm>
          <a:prstGeom prst="rect">
            <a:avLst/>
          </a:prstGeom>
          <a:noFill/>
        </p:spPr>
        <p:txBody>
          <a:bodyPr wrap="square" lIns="0" rIns="0" tIns="0" bIns="0">
            <a:spAutoFit/>
          </a:bodyPr>
          <a:lstStyle/>
          <a:p>
            <a:pPr algn="l">
              <a:lnSpc>
                <a:spcPct val="110000"/>
              </a:lnSpc>
              <a:spcAft>
                <a:spcPts val="200"/>
              </a:spcAft>
            </a:pPr>
            <a:r>
              <a:rPr sz="950" b="0">
                <a:solidFill>
                  <a:srgbClr val="F59E0B"/>
                </a:solidFill>
                <a:latin typeface="Consolas"/>
              </a:rPr>
              <a:t>A chuva aparece com correlação NEGATIVA:</a:t>
            </a:r>
          </a:p>
          <a:p>
            <a:pPr algn="l">
              <a:lnSpc>
                <a:spcPct val="110000"/>
              </a:lnSpc>
              <a:spcAft>
                <a:spcPts val="200"/>
              </a:spcAft>
            </a:pPr>
            <a:r>
              <a:rPr sz="950" b="0">
                <a:solidFill>
                  <a:srgbClr val="F59E0B"/>
                </a:solidFill>
                <a:latin typeface="Consolas"/>
              </a:rPr>
              <a:t>dias chuvosos têm menos internação respiratória.</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E2E8F0"/>
                </a:solidFill>
                <a:latin typeface="Consolas"/>
              </a:rPr>
              <a:t>Contraintuitivo — até lembrar que no Sudeste chove no verão</a:t>
            </a:r>
          </a:p>
          <a:p>
            <a:pPr algn="l">
              <a:lnSpc>
                <a:spcPct val="110000"/>
              </a:lnSpc>
              <a:spcAft>
                <a:spcPts val="200"/>
              </a:spcAft>
            </a:pPr>
            <a:r>
              <a:rPr sz="950" b="0">
                <a:solidFill>
                  <a:srgbClr val="E2E8F0"/>
                </a:solidFill>
                <a:latin typeface="Consolas"/>
              </a:rPr>
              <a:t>e a seca é no inverno. A chuva está medindo a ESTAÇÃO,</a:t>
            </a:r>
          </a:p>
          <a:p>
            <a:pPr algn="l">
              <a:lnSpc>
                <a:spcPct val="110000"/>
              </a:lnSpc>
              <a:spcAft>
                <a:spcPts val="200"/>
              </a:spcAft>
            </a:pPr>
            <a:r>
              <a:rPr sz="950" b="0">
                <a:solidFill>
                  <a:srgbClr val="E2E8F0"/>
                </a:solidFill>
                <a:latin typeface="Consolas"/>
              </a:rPr>
              <a:t>não a si mesma.</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E2E8F0"/>
                </a:solidFill>
                <a:latin typeface="Consolas"/>
              </a:rPr>
              <a:t>O mesmo confundimento pode valer para o frio: dias frios</a:t>
            </a:r>
          </a:p>
          <a:p>
            <a:pPr algn="l">
              <a:lnSpc>
                <a:spcPct val="110000"/>
              </a:lnSpc>
              <a:spcAft>
                <a:spcPts val="200"/>
              </a:spcAft>
            </a:pPr>
            <a:r>
              <a:rPr sz="950" b="0">
                <a:solidFill>
                  <a:srgbClr val="E2E8F0"/>
                </a:solidFill>
                <a:latin typeface="Consolas"/>
              </a:rPr>
              <a:t>concentram-se no inverno, que também tem mais circulação</a:t>
            </a:r>
          </a:p>
          <a:p>
            <a:pPr algn="l">
              <a:lnSpc>
                <a:spcPct val="110000"/>
              </a:lnSpc>
              <a:spcAft>
                <a:spcPts val="200"/>
              </a:spcAft>
            </a:pPr>
            <a:r>
              <a:rPr sz="950" b="0">
                <a:solidFill>
                  <a:srgbClr val="E2E8F0"/>
                </a:solidFill>
                <a:latin typeface="Consolas"/>
              </a:rPr>
              <a:t>viral. Os 9,2% podem ser efeito da temperatura, da</a:t>
            </a:r>
          </a:p>
          <a:p>
            <a:pPr algn="l">
              <a:lnSpc>
                <a:spcPct val="110000"/>
              </a:lnSpc>
              <a:spcAft>
                <a:spcPts val="200"/>
              </a:spcAft>
            </a:pPr>
            <a:r>
              <a:rPr sz="950" b="0">
                <a:solidFill>
                  <a:srgbClr val="E2E8F0"/>
                </a:solidFill>
                <a:latin typeface="Consolas"/>
              </a:rPr>
              <a:t>sazonalidade viral, ou dos dois.</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14B8A6"/>
                </a:solidFill>
                <a:latin typeface="Consolas"/>
              </a:rPr>
              <a:t>É associação, não causa.</a:t>
            </a:r>
          </a:p>
        </p:txBody>
      </p:sp>
      <p:sp>
        <p:nvSpPr>
          <p:cNvPr id="7" name="TextBox 6"/>
          <p:cNvSpPr txBox="1"/>
          <p:nvPr/>
        </p:nvSpPr>
        <p:spPr>
          <a:xfrm>
            <a:off x="502920" y="4197096"/>
            <a:ext cx="8138160" cy="45720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Separar os dois efeitos exigiria dados de circulação viral por semana epidemiológica — fora do escopo desta sprint, e registrado como próximo passo.</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SELECT AI</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Perguntas em português</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O mecanismo equivalente, sobre os mesmos metadados que o Select AI usaria.</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Perguntas em linguagem natural</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Página "Pergunte em português" do painel</a:t>
            </a:r>
          </a:p>
        </p:txBody>
      </p:sp>
      <p:sp>
        <p:nvSpPr>
          <p:cNvPr id="5" name="Rounded Rectangle 4"/>
          <p:cNvSpPr/>
          <p:nvPr/>
        </p:nvSpPr>
        <p:spPr>
          <a:xfrm>
            <a:off x="502920" y="1622637"/>
            <a:ext cx="8138160" cy="269832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8_nlsql_exemplos.png"/>
          <p:cNvPicPr>
            <a:picLocks noChangeAspect="1"/>
          </p:cNvPicPr>
          <p:nvPr/>
        </p:nvPicPr>
        <p:blipFill>
          <a:blip r:embed="rId2"/>
          <a:stretch>
            <a:fillRect/>
          </a:stretch>
        </p:blipFill>
        <p:spPr>
          <a:xfrm>
            <a:off x="576072" y="1695789"/>
            <a:ext cx="7991856" cy="2552021"/>
          </a:xfrm>
          <a:prstGeom prst="rect">
            <a:avLst/>
          </a:prstGeom>
        </p:spPr>
      </p:pic>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SQL gerado e executado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Duas perguntas, duas tabelas diferentes</a:t>
            </a:r>
          </a:p>
        </p:txBody>
      </p:sp>
      <p:sp>
        <p:nvSpPr>
          <p:cNvPr id="5" name="Rounded Rectangle 4"/>
          <p:cNvSpPr/>
          <p:nvPr/>
        </p:nvSpPr>
        <p:spPr>
          <a:xfrm>
            <a:off x="502920" y="1724772"/>
            <a:ext cx="4762195" cy="203685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10_nlsql_sql.png"/>
          <p:cNvPicPr>
            <a:picLocks noChangeAspect="1"/>
          </p:cNvPicPr>
          <p:nvPr/>
        </p:nvPicPr>
        <p:blipFill>
          <a:blip r:embed="rId2"/>
          <a:stretch>
            <a:fillRect/>
          </a:stretch>
        </p:blipFill>
        <p:spPr>
          <a:xfrm>
            <a:off x="576072" y="1797924"/>
            <a:ext cx="4615891" cy="1890551"/>
          </a:xfrm>
          <a:prstGeom prst="rect">
            <a:avLst/>
          </a:prstGeom>
        </p:spPr>
      </p:pic>
      <p:sp>
        <p:nvSpPr>
          <p:cNvPr id="7" name="Rounded Rectangle 6"/>
          <p:cNvSpPr/>
          <p:nvPr/>
        </p:nvSpPr>
        <p:spPr>
          <a:xfrm>
            <a:off x="5466283" y="1546098"/>
            <a:ext cx="3174797" cy="2394204"/>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692402"/>
            <a:ext cx="2772461" cy="2101596"/>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"quais hospitais mais</a:t>
            </a:r>
          </a:p>
          <a:p>
            <a:pPr algn="l">
              <a:lnSpc>
                <a:spcPct val="110000"/>
              </a:lnSpc>
              <a:spcAft>
                <a:spcPts val="200"/>
              </a:spcAft>
            </a:pPr>
            <a:r>
              <a:rPr sz="850" b="0">
                <a:solidFill>
                  <a:srgbClr val="E2E8F0"/>
                </a:solidFill>
                <a:latin typeface="Consolas"/>
              </a:rPr>
              <a:t> transferem pacientes?"</a:t>
            </a:r>
          </a:p>
          <a:p>
            <a:pPr algn="l">
              <a:lnSpc>
                <a:spcPct val="110000"/>
              </a:lnSpc>
              <a:spcAft>
                <a:spcPts val="200"/>
              </a:spcAft>
            </a:pPr>
            <a:r>
              <a:rPr sz="850" b="0">
                <a:solidFill>
                  <a:srgbClr val="14B8A6"/>
                </a:solidFill>
                <a:latin typeface="Consolas"/>
              </a:rPr>
              <a:t>  → T_SAUDE_RANK_HOSPITAIS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"onde a capacidade está</a:t>
            </a:r>
          </a:p>
          <a:p>
            <a:pPr algn="l">
              <a:lnSpc>
                <a:spcPct val="110000"/>
              </a:lnSpc>
              <a:spcAft>
                <a:spcPts val="200"/>
              </a:spcAft>
            </a:pPr>
            <a:r>
              <a:rPr sz="850" b="0">
                <a:solidFill>
                  <a:srgbClr val="E2E8F0"/>
                </a:solidFill>
                <a:latin typeface="Consolas"/>
              </a:rPr>
              <a:t> sendo ultrapassada?"</a:t>
            </a:r>
          </a:p>
          <a:p>
            <a:pPr algn="l">
              <a:lnSpc>
                <a:spcPct val="110000"/>
              </a:lnSpc>
              <a:spcAft>
                <a:spcPts val="200"/>
              </a:spcAft>
            </a:pPr>
            <a:r>
              <a:rPr sz="850" b="0">
                <a:solidFill>
                  <a:srgbClr val="14B8A6"/>
                </a:solidFill>
                <a:latin typeface="Consolas"/>
              </a:rPr>
              <a:t>  → T_SAUDE_IND_</a:t>
            </a:r>
          </a:p>
          <a:p>
            <a:pPr algn="l">
              <a:lnSpc>
                <a:spcPct val="110000"/>
              </a:lnSpc>
              <a:spcAft>
                <a:spcPts val="200"/>
              </a:spcAft>
            </a:pPr>
            <a:r>
              <a:rPr sz="850" b="0">
                <a:solidFill>
                  <a:srgbClr val="14B8A6"/>
                </a:solidFill>
                <a:latin typeface="Consolas"/>
              </a:rPr>
              <a:t>    CAPACIDADE_MUNICIPAL</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tabela é escolhida pela</a:t>
            </a:r>
          </a:p>
          <a:p>
            <a:pPr algn="l">
              <a:lnSpc>
                <a:spcPct val="110000"/>
              </a:lnSpc>
              <a:spcAft>
                <a:spcPts val="200"/>
              </a:spcAft>
            </a:pPr>
            <a:r>
              <a:rPr sz="850" b="0">
                <a:solidFill>
                  <a:srgbClr val="E2E8F0"/>
                </a:solidFill>
                <a:latin typeface="Consolas"/>
              </a:rPr>
              <a:t>intenção reconhecida, não</a:t>
            </a:r>
          </a:p>
          <a:p>
            <a:pPr algn="l">
              <a:lnSpc>
                <a:spcPct val="110000"/>
              </a:lnSpc>
              <a:spcAft>
                <a:spcPts val="200"/>
              </a:spcAft>
            </a:pPr>
            <a:r>
              <a:rPr sz="850" b="0">
                <a:solidFill>
                  <a:srgbClr val="E2E8F0"/>
                </a:solidFill>
                <a:latin typeface="Consolas"/>
              </a:rPr>
              <a:t>por uma consulta fixa.</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O SQL continua sendo gerado e executado no Oracle. O tradutor remove a barreira da sintaxe para quem decide.</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Por que não é o Select AI nativo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Verificado no banco, não presumido</a:t>
            </a:r>
          </a:p>
        </p:txBody>
      </p:sp>
      <p:sp>
        <p:nvSpPr>
          <p:cNvPr id="5" name="Rounded Rectangle 4"/>
          <p:cNvSpPr/>
          <p:nvPr/>
        </p:nvSpPr>
        <p:spPr>
          <a:xfrm>
            <a:off x="502920" y="1885456"/>
            <a:ext cx="4603455" cy="1715488"/>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racle_comentarios_metadados.png"/>
          <p:cNvPicPr>
            <a:picLocks noChangeAspect="1"/>
          </p:cNvPicPr>
          <p:nvPr/>
        </p:nvPicPr>
        <p:blipFill>
          <a:blip r:embed="rId2"/>
          <a:stretch>
            <a:fillRect/>
          </a:stretch>
        </p:blipFill>
        <p:spPr>
          <a:xfrm>
            <a:off x="576072" y="1958608"/>
            <a:ext cx="4457151" cy="1569184"/>
          </a:xfrm>
          <a:prstGeom prst="rect">
            <a:avLst/>
          </a:prstGeom>
        </p:spPr>
      </p:pic>
      <p:sp>
        <p:nvSpPr>
          <p:cNvPr id="7" name="Rounded Rectangle 6"/>
          <p:cNvSpPr/>
          <p:nvPr/>
        </p:nvSpPr>
        <p:spPr>
          <a:xfrm>
            <a:off x="5307543" y="1375537"/>
            <a:ext cx="333353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508711" y="1521841"/>
            <a:ext cx="2931201" cy="2442718"/>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SELECT COUNT(*)</a:t>
            </a:r>
          </a:p>
          <a:p>
            <a:pPr algn="l">
              <a:lnSpc>
                <a:spcPct val="110000"/>
              </a:lnSpc>
              <a:spcAft>
                <a:spcPts val="200"/>
              </a:spcAft>
            </a:pPr>
            <a:r>
              <a:rPr sz="850" b="0">
                <a:solidFill>
                  <a:srgbClr val="E2E8F0"/>
                </a:solidFill>
                <a:latin typeface="Consolas"/>
              </a:rPr>
              <a:t>  FROM all_objects</a:t>
            </a:r>
          </a:p>
          <a:p>
            <a:pPr algn="l">
              <a:lnSpc>
                <a:spcPct val="110000"/>
              </a:lnSpc>
              <a:spcAft>
                <a:spcPts val="200"/>
              </a:spcAft>
            </a:pPr>
            <a:r>
              <a:rPr sz="850" b="0">
                <a:solidFill>
                  <a:srgbClr val="E2E8F0"/>
                </a:solidFill>
                <a:latin typeface="Consolas"/>
              </a:rPr>
              <a:t> WHERE object_name =</a:t>
            </a:r>
          </a:p>
          <a:p>
            <a:pPr algn="l">
              <a:lnSpc>
                <a:spcPct val="110000"/>
              </a:lnSpc>
              <a:spcAft>
                <a:spcPts val="200"/>
              </a:spcAft>
            </a:pPr>
            <a:r>
              <a:rPr sz="850" b="0">
                <a:solidFill>
                  <a:srgbClr val="E2E8F0"/>
                </a:solidFill>
                <a:latin typeface="Consolas"/>
              </a:rPr>
              <a:t>       'DBMS_CLOUD_AI';</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F4444"/>
                </a:solidFill>
                <a:latin typeface="Consolas"/>
              </a:rPr>
              <a:t>            →  0</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O Select AI existe apenas</a:t>
            </a:r>
          </a:p>
          <a:p>
            <a:pPr algn="l">
              <a:lnSpc>
                <a:spcPct val="110000"/>
              </a:lnSpc>
              <a:spcAft>
                <a:spcPts val="200"/>
              </a:spcAft>
            </a:pPr>
            <a:r>
              <a:rPr sz="850" b="0">
                <a:solidFill>
                  <a:srgbClr val="E2E8F0"/>
                </a:solidFill>
                <a:latin typeface="Consolas"/>
              </a:rPr>
              <a:t>no Autonomous Database.</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Implementamos o mecanismo</a:t>
            </a:r>
          </a:p>
          <a:p>
            <a:pPr algn="l">
              <a:lnSpc>
                <a:spcPct val="110000"/>
              </a:lnSpc>
              <a:spcAft>
                <a:spcPts val="200"/>
              </a:spcAft>
            </a:pPr>
            <a:r>
              <a:rPr sz="850" b="0">
                <a:solidFill>
                  <a:srgbClr val="E2E8F0"/>
                </a:solidFill>
                <a:latin typeface="Consolas"/>
              </a:rPr>
              <a:t>equivalente sobre OS MESMOS</a:t>
            </a:r>
          </a:p>
          <a:p>
            <a:pPr algn="l">
              <a:lnSpc>
                <a:spcPct val="110000"/>
              </a:lnSpc>
              <a:spcAft>
                <a:spcPts val="200"/>
              </a:spcAft>
            </a:pPr>
            <a:r>
              <a:rPr sz="850" b="0">
                <a:solidFill>
                  <a:srgbClr val="E2E8F0"/>
                </a:solidFill>
                <a:latin typeface="Consolas"/>
              </a:rPr>
              <a:t>metadados: os COMMENT ON</a:t>
            </a:r>
          </a:p>
          <a:p>
            <a:pPr algn="l">
              <a:lnSpc>
                <a:spcPct val="110000"/>
              </a:lnSpc>
              <a:spcAft>
                <a:spcPts val="200"/>
              </a:spcAft>
            </a:pPr>
            <a:r>
              <a:rPr sz="850" b="0">
                <a:solidFill>
                  <a:srgbClr val="E2E8F0"/>
                </a:solidFill>
                <a:latin typeface="Consolas"/>
              </a:rPr>
              <a:t>das tabelas.</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Migrar para o Autonomous não exige remodelar nada — só trocar o motor de tradução. O script já está entregue.</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6ª · 7ª · 8ª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Fechamento</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Repositório, vídeo pitch e conclusões.</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Código-fonte</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github.com/rm569173/saudeviz</a:t>
            </a:r>
          </a:p>
        </p:txBody>
      </p:sp>
      <p:sp>
        <p:nvSpPr>
          <p:cNvPr id="5" name="Rounded Rectangle 4"/>
          <p:cNvSpPr/>
          <p:nvPr/>
        </p:nvSpPr>
        <p:spPr>
          <a:xfrm>
            <a:off x="877007" y="1325880"/>
            <a:ext cx="4172761"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ithub_repositorio.png"/>
          <p:cNvPicPr>
            <a:picLocks noChangeAspect="1"/>
          </p:cNvPicPr>
          <p:nvPr/>
        </p:nvPicPr>
        <p:blipFill>
          <a:blip r:embed="rId2"/>
          <a:stretch>
            <a:fillRect/>
          </a:stretch>
        </p:blipFill>
        <p:spPr>
          <a:xfrm>
            <a:off x="950159" y="1399032"/>
            <a:ext cx="4026457" cy="3145536"/>
          </a:xfrm>
          <a:prstGeom prst="rect">
            <a:avLst/>
          </a:prstGeom>
        </p:spPr>
      </p:pic>
      <p:sp>
        <p:nvSpPr>
          <p:cNvPr id="7" name="Rounded Rectangle 6"/>
          <p:cNvSpPr/>
          <p:nvPr/>
        </p:nvSpPr>
        <p:spPr>
          <a:xfrm>
            <a:off x="5625023" y="1518856"/>
            <a:ext cx="3016057" cy="2905887"/>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26191" y="1665160"/>
            <a:ext cx="2613721" cy="2613279"/>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6 notebooks Databricks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pipeline de ingestão das</a:t>
            </a:r>
          </a:p>
          <a:p>
            <a:pPr algn="l">
              <a:lnSpc>
                <a:spcPct val="110000"/>
              </a:lnSpc>
              <a:spcAft>
                <a:spcPts val="200"/>
              </a:spcAft>
            </a:pPr>
            <a:r>
              <a:rPr sz="850" b="0">
                <a:solidFill>
                  <a:srgbClr val="E2E8F0"/>
                </a:solidFill>
                <a:latin typeface="Consolas"/>
              </a:rPr>
              <a:t>quatro fontes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DDL do Oracle com</a:t>
            </a:r>
          </a:p>
          <a:p>
            <a:pPr algn="l">
              <a:lnSpc>
                <a:spcPct val="110000"/>
              </a:lnSpc>
              <a:spcAft>
                <a:spcPts val="200"/>
              </a:spcAft>
            </a:pPr>
            <a:r>
              <a:rPr sz="850" b="0">
                <a:solidFill>
                  <a:srgbClr val="E2E8F0"/>
                </a:solidFill>
                <a:latin typeface="Consolas"/>
              </a:rPr>
              <a:t>COMMENT ON</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tradutor NL→SQL</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painel Streamlit</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camada Gold versionada</a:t>
            </a:r>
          </a:p>
          <a:p>
            <a:pPr algn="l">
              <a:lnSpc>
                <a:spcPct val="110000"/>
              </a:lnSpc>
              <a:spcAft>
                <a:spcPts val="200"/>
              </a:spcAft>
            </a:pPr>
            <a:r>
              <a:rPr sz="850" b="0">
                <a:solidFill>
                  <a:srgbClr val="E2E8F0"/>
                </a:solidFill>
                <a:latin typeface="Consolas"/>
              </a:rPr>
              <a:t>para reprodução sem</a:t>
            </a:r>
          </a:p>
          <a:p>
            <a:pPr algn="l">
              <a:lnSpc>
                <a:spcPct val="110000"/>
              </a:lnSpc>
              <a:spcAft>
                <a:spcPts val="200"/>
              </a:spcAft>
            </a:pPr>
            <a:r>
              <a:rPr sz="850" b="0">
                <a:solidFill>
                  <a:srgbClr val="E2E8F0"/>
                </a:solidFill>
                <a:latin typeface="Consolas"/>
              </a:rPr>
              <a:t>acesso ao banco</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Vídeo pitch</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Até 5 minutos</a:t>
            </a:r>
          </a:p>
        </p:txBody>
      </p:sp>
      <p:sp>
        <p:nvSpPr>
          <p:cNvPr id="5" name="Rounded Rectangle 4"/>
          <p:cNvSpPr/>
          <p:nvPr/>
        </p:nvSpPr>
        <p:spPr>
          <a:xfrm>
            <a:off x="502920" y="1325880"/>
            <a:ext cx="6103620" cy="167182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5701284" cy="1379220"/>
          </a:xfrm>
          <a:prstGeom prst="rect">
            <a:avLst/>
          </a:prstGeom>
          <a:noFill/>
        </p:spPr>
        <p:txBody>
          <a:bodyPr wrap="square" lIns="0" rIns="0" tIns="0" bIns="0">
            <a:spAutoFit/>
          </a:bodyPr>
          <a:lstStyle/>
          <a:p>
            <a:pPr algn="l">
              <a:lnSpc>
                <a:spcPct val="110000"/>
              </a:lnSpc>
              <a:spcAft>
                <a:spcPts val="200"/>
              </a:spcAft>
            </a:pPr>
            <a:r>
              <a:rPr sz="1100" b="0">
                <a:solidFill>
                  <a:srgbClr val="14B8A6"/>
                </a:solidFill>
                <a:latin typeface="Consolas"/>
              </a:rPr>
              <a:t>youtube.com/watch?v=________</a:t>
            </a:r>
          </a:p>
          <a:p>
            <a:pPr algn="l">
              <a:lnSpc>
                <a:spcPct val="110000"/>
              </a:lnSpc>
              <a:spcAft>
                <a:spcPts val="200"/>
              </a:spcAft>
            </a:pPr>
            <a:r>
              <a:rPr sz="1100" b="0">
                <a:solidFill>
                  <a:srgbClr val="E2E8F0"/>
                </a:solidFill>
                <a:latin typeface="Consolas"/>
              </a:rPr>
              <a:t/>
            </a:r>
          </a:p>
          <a:p>
            <a:pPr algn="l">
              <a:lnSpc>
                <a:spcPct val="110000"/>
              </a:lnSpc>
              <a:spcAft>
                <a:spcPts val="200"/>
              </a:spcAft>
            </a:pPr>
            <a:r>
              <a:rPr sz="1100" b="0">
                <a:solidFill>
                  <a:srgbClr val="E2E8F0"/>
                </a:solidFill>
                <a:latin typeface="Consolas"/>
              </a:rPr>
              <a:t>Preencher o link após o upload.</a:t>
            </a:r>
          </a:p>
          <a:p>
            <a:pPr algn="l">
              <a:lnSpc>
                <a:spcPct val="110000"/>
              </a:lnSpc>
              <a:spcAft>
                <a:spcPts val="200"/>
              </a:spcAft>
            </a:pPr>
            <a:r>
              <a:rPr sz="1100" b="0">
                <a:solidFill>
                  <a:srgbClr val="E2E8F0"/>
                </a:solidFill>
                <a:latin typeface="Consolas"/>
              </a:rPr>
              <a:t/>
            </a:r>
          </a:p>
          <a:p>
            <a:pPr algn="l">
              <a:lnSpc>
                <a:spcPct val="110000"/>
              </a:lnSpc>
              <a:spcAft>
                <a:spcPts val="200"/>
              </a:spcAft>
            </a:pPr>
            <a:r>
              <a:rPr sz="1100" b="0">
                <a:solidFill>
                  <a:srgbClr val="E2E8F0"/>
                </a:solidFill>
                <a:latin typeface="Consolas"/>
              </a:rPr>
              <a:t>Publicar como NÃO LISTADO ou público — vídeo privado</a:t>
            </a:r>
          </a:p>
          <a:p>
            <a:pPr algn="l">
              <a:lnSpc>
                <a:spcPct val="110000"/>
              </a:lnSpc>
              <a:spcAft>
                <a:spcPts val="200"/>
              </a:spcAft>
            </a:pPr>
            <a:r>
              <a:rPr sz="1100" b="0">
                <a:solidFill>
                  <a:srgbClr val="E2E8F0"/>
                </a:solidFill>
                <a:latin typeface="Consolas"/>
              </a:rPr>
              <a:t>não abre para o avaliador.</a:t>
            </a:r>
          </a:p>
        </p:txBody>
      </p:sp>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aprendemos com os dados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325880"/>
            <a:ext cx="7731252" cy="263499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04088" y="1472184"/>
            <a:ext cx="7328916" cy="2342388"/>
          </a:xfrm>
          <a:prstGeom prst="rect">
            <a:avLst/>
          </a:prstGeom>
          <a:noFill/>
        </p:spPr>
        <p:txBody>
          <a:bodyPr wrap="square" lIns="0" rIns="0" tIns="0" bIns="0">
            <a:spAutoFit/>
          </a:bodyPr>
          <a:lstStyle/>
          <a:p>
            <a:pPr algn="l">
              <a:lnSpc>
                <a:spcPct val="110000"/>
              </a:lnSpc>
              <a:spcAft>
                <a:spcPts val="200"/>
              </a:spcAft>
            </a:pPr>
            <a:r>
              <a:rPr sz="950" b="0">
                <a:solidFill>
                  <a:srgbClr val="14B8A6"/>
                </a:solidFill>
                <a:latin typeface="Consolas"/>
              </a:rPr>
              <a:t>1. A competência do SIH não é a data da internação</a:t>
            </a:r>
          </a:p>
          <a:p>
            <a:pPr algn="l">
              <a:lnSpc>
                <a:spcPct val="110000"/>
              </a:lnSpc>
              <a:spcAft>
                <a:spcPts val="200"/>
              </a:spcAft>
            </a:pPr>
            <a:r>
              <a:rPr sz="950" b="0">
                <a:solidFill>
                  <a:srgbClr val="E2E8F0"/>
                </a:solidFill>
                <a:latin typeface="Consolas"/>
              </a:rPr>
              <a:t>   42% dos registros de um mês são de meses anteriores.</a:t>
            </a:r>
          </a:p>
          <a:p>
            <a:pPr algn="l">
              <a:lnSpc>
                <a:spcPct val="110000"/>
              </a:lnSpc>
              <a:spcAft>
                <a:spcPts val="200"/>
              </a:spcAft>
            </a:pPr>
            <a:r>
              <a:rPr sz="950" b="0">
                <a:solidFill>
                  <a:srgbClr val="E2E8F0"/>
                </a:solidFill>
                <a:latin typeface="Consolas"/>
              </a:rPr>
              <a:t>   Sem corrigir isso, toda série temporal do projeto</a:t>
            </a:r>
          </a:p>
          <a:p>
            <a:pPr algn="l">
              <a:lnSpc>
                <a:spcPct val="110000"/>
              </a:lnSpc>
              <a:spcAft>
                <a:spcPts val="200"/>
              </a:spcAft>
            </a:pPr>
            <a:r>
              <a:rPr sz="950" b="0">
                <a:solidFill>
                  <a:srgbClr val="E2E8F0"/>
                </a:solidFill>
                <a:latin typeface="Consolas"/>
              </a:rPr>
              <a:t>   estaria errada.</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14B8A6"/>
                </a:solidFill>
                <a:latin typeface="Consolas"/>
              </a:rPr>
              <a:t>2. A coluna COBRANCA revela transferência de paciente</a:t>
            </a:r>
          </a:p>
          <a:p>
            <a:pPr algn="l">
              <a:lnSpc>
                <a:spcPct val="110000"/>
              </a:lnSpc>
              <a:spcAft>
                <a:spcPts val="200"/>
              </a:spcAft>
            </a:pPr>
            <a:r>
              <a:rPr sz="950" b="0">
                <a:solidFill>
                  <a:srgbClr val="E2E8F0"/>
                </a:solidFill>
                <a:latin typeface="Consolas"/>
              </a:rPr>
              <a:t>   Muda "há muitas internações aqui" para "pacientes saem</a:t>
            </a:r>
          </a:p>
          <a:p>
            <a:pPr algn="l">
              <a:lnSpc>
                <a:spcPct val="110000"/>
              </a:lnSpc>
              <a:spcAft>
                <a:spcPts val="200"/>
              </a:spcAft>
            </a:pPr>
            <a:r>
              <a:rPr sz="950" b="0">
                <a:solidFill>
                  <a:srgbClr val="E2E8F0"/>
                </a:solidFill>
                <a:latin typeface="Consolas"/>
              </a:rPr>
              <a:t>   daqui porque não há como tratá-los aqui".</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14B8A6"/>
                </a:solidFill>
                <a:latin typeface="Consolas"/>
              </a:rPr>
              <a:t>3. A demanda hospitalar não tem tendência explorável</a:t>
            </a:r>
          </a:p>
          <a:p>
            <a:pPr algn="l">
              <a:lnSpc>
                <a:spcPct val="110000"/>
              </a:lnSpc>
              <a:spcAft>
                <a:spcPts val="200"/>
              </a:spcAft>
            </a:pPr>
            <a:r>
              <a:rPr sz="950" b="0">
                <a:solidFill>
                  <a:srgbClr val="E2E8F0"/>
                </a:solidFill>
                <a:latin typeface="Consolas"/>
              </a:rPr>
              <a:t>   O sinal previsível está no ciclo semanal e nos feriados.</a:t>
            </a:r>
          </a:p>
          <a:p>
            <a:pPr algn="l">
              <a:lnSpc>
                <a:spcPct val="110000"/>
              </a:lnSpc>
              <a:spcAft>
                <a:spcPts val="200"/>
              </a:spcAft>
            </a:pPr>
            <a:r>
              <a:rPr sz="950" b="0">
                <a:solidFill>
                  <a:srgbClr val="E2E8F0"/>
                </a:solidFill>
                <a:latin typeface="Consolas"/>
              </a:rPr>
              <a:t>   O modelo simples venceu o sofisticado por 5x em 90 dias.</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Limitações declaradas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 que este painel não pode afirmar</a:t>
            </a:r>
          </a:p>
        </p:txBody>
      </p:sp>
      <p:sp>
        <p:nvSpPr>
          <p:cNvPr id="5" name="Rounded Rectangle 4"/>
          <p:cNvSpPr/>
          <p:nvPr/>
        </p:nvSpPr>
        <p:spPr>
          <a:xfrm>
            <a:off x="502920" y="1325880"/>
            <a:ext cx="7324344" cy="235407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6922008" cy="2061464"/>
          </a:xfrm>
          <a:prstGeom prst="rect">
            <a:avLst/>
          </a:prstGeom>
          <a:noFill/>
        </p:spPr>
        <p:txBody>
          <a:bodyPr wrap="square" lIns="0" rIns="0" tIns="0" bIns="0">
            <a:spAutoFit/>
          </a:bodyPr>
          <a:lstStyle/>
          <a:p>
            <a:pPr algn="l">
              <a:lnSpc>
                <a:spcPct val="110000"/>
              </a:lnSpc>
              <a:spcAft>
                <a:spcPts val="200"/>
              </a:spcAft>
            </a:pPr>
            <a:r>
              <a:rPr sz="1000" b="0">
                <a:solidFill>
                  <a:srgbClr val="E2E8F0"/>
                </a:solidFill>
                <a:latin typeface="Consolas"/>
              </a:rPr>
              <a:t>·  Recorte no Sudeste — o pipeline é parametrizado por UF</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Dezembro/2024 com cobertura de 99,4%, não 100%</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Ocupação acima de 1,0 é alerta, não diagnóstico de colapso</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Pacientes internados antes de 2024 não entram na contagem</a:t>
            </a:r>
          </a:p>
          <a:p>
            <a:pPr algn="l">
              <a:lnSpc>
                <a:spcPct val="110000"/>
              </a:lnSpc>
              <a:spcAft>
                <a:spcPts val="200"/>
              </a:spcAft>
            </a:pPr>
            <a:r>
              <a:rPr sz="1000" b="0">
                <a:solidFill>
                  <a:srgbClr val="E2E8F0"/>
                </a:solidFill>
                <a:latin typeface="Consolas"/>
              </a:rPr>
              <a:t>   (medido: menos de 1% dos leitos-dia)</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O efeito do frio é associação, não causa comprovada</a:t>
            </a:r>
          </a:p>
        </p:txBody>
      </p:sp>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Próximos passos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325880"/>
            <a:ext cx="7324344" cy="255473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04088" y="1472184"/>
            <a:ext cx="6922008" cy="2262124"/>
          </a:xfrm>
          <a:prstGeom prst="rect">
            <a:avLst/>
          </a:prstGeom>
          <a:noFill/>
        </p:spPr>
        <p:txBody>
          <a:bodyPr wrap="square" lIns="0" rIns="0" tIns="0" bIns="0">
            <a:spAutoFit/>
          </a:bodyPr>
          <a:lstStyle/>
          <a:p>
            <a:pPr algn="l">
              <a:lnSpc>
                <a:spcPct val="110000"/>
              </a:lnSpc>
              <a:spcAft>
                <a:spcPts val="200"/>
              </a:spcAft>
            </a:pPr>
            <a:r>
              <a:rPr sz="1000" b="0">
                <a:solidFill>
                  <a:srgbClr val="E2E8F0"/>
                </a:solidFill>
                <a:latin typeface="Consolas"/>
              </a:rPr>
              <a:t>·  Separar o efeito do frio do efeito da sazonalidade viral,</a:t>
            </a:r>
          </a:p>
          <a:p>
            <a:pPr algn="l">
              <a:lnSpc>
                <a:spcPct val="110000"/>
              </a:lnSpc>
              <a:spcAft>
                <a:spcPts val="200"/>
              </a:spcAft>
            </a:pPr>
            <a:r>
              <a:rPr sz="1000" b="0">
                <a:solidFill>
                  <a:srgbClr val="E2E8F0"/>
                </a:solidFill>
                <a:latin typeface="Consolas"/>
              </a:rPr>
              <a:t>   cruzando com circulação respiratória por semana</a:t>
            </a:r>
          </a:p>
          <a:p>
            <a:pPr algn="l">
              <a:lnSpc>
                <a:spcPct val="110000"/>
              </a:lnSpc>
              <a:spcAft>
                <a:spcPts val="200"/>
              </a:spcAft>
            </a:pPr>
            <a:r>
              <a:rPr sz="1000" b="0">
                <a:solidFill>
                  <a:srgbClr val="E2E8F0"/>
                </a:solidFill>
                <a:latin typeface="Consolas"/>
              </a:rPr>
              <a:t>   epidemiológica</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Estender ao Brasil inteiro — o pipeline já é parametrizado</a:t>
            </a:r>
          </a:p>
          <a:p>
            <a:pPr algn="l">
              <a:lnSpc>
                <a:spcPct val="110000"/>
              </a:lnSpc>
              <a:spcAft>
                <a:spcPts val="200"/>
              </a:spcAft>
            </a:pPr>
            <a:r>
              <a:rPr sz="1000" b="0">
                <a:solidFill>
                  <a:srgbClr val="E2E8F0"/>
                </a:solidFill>
                <a:latin typeface="Consolas"/>
              </a:rPr>
              <a:t>   por UF, é trocar uma lista em config.py</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Migrar para o Autonomous Database e ativar o Select AI</a:t>
            </a:r>
          </a:p>
          <a:p>
            <a:pPr algn="l">
              <a:lnSpc>
                <a:spcPct val="110000"/>
              </a:lnSpc>
              <a:spcAft>
                <a:spcPts val="200"/>
              </a:spcAft>
            </a:pPr>
            <a:r>
              <a:rPr sz="1000" b="0">
                <a:solidFill>
                  <a:srgbClr val="E2E8F0"/>
                </a:solidFill>
                <a:latin typeface="Consolas"/>
              </a:rPr>
              <a:t>   nativo — o script de configuração já está entregue</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Retomar a clusterização de municípios por perfil</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0"/>
            <a:ext cx="182880" cy="51435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7315200" cy="1005840"/>
          </a:xfrm>
          <a:prstGeom prst="rect">
            <a:avLst/>
          </a:prstGeom>
          <a:noFill/>
        </p:spPr>
        <p:txBody>
          <a:bodyPr wrap="square" lIns="0" rIns="0" tIns="0" bIns="0">
            <a:spAutoFit/>
          </a:bodyPr>
          <a:lstStyle/>
          <a:p>
            <a:pPr algn="l">
              <a:lnSpc>
                <a:spcPct val="115000"/>
              </a:lnSpc>
              <a:spcAft>
                <a:spcPts val="800"/>
              </a:spcAft>
            </a:pPr>
            <a:r>
              <a:rPr sz="2600" b="1">
                <a:solidFill>
                  <a:srgbClr val="FFFFFF"/>
                </a:solidFill>
                <a:latin typeface="Cambria"/>
              </a:rPr>
              <a:t>Dados que salvam vidas.</a:t>
            </a:r>
          </a:p>
          <a:p>
            <a:pPr algn="l">
              <a:lnSpc>
                <a:spcPct val="115000"/>
              </a:lnSpc>
              <a:spcAft>
                <a:spcPts val="800"/>
              </a:spcAft>
            </a:pPr>
            <a:r>
              <a:rPr sz="2600" b="1">
                <a:solidFill>
                  <a:srgbClr val="FFFFFF"/>
                </a:solidFill>
                <a:latin typeface="Cambria"/>
              </a:rPr>
              <a:t>Decisões que transformam o sistema de saúde.</a:t>
            </a:r>
          </a:p>
        </p:txBody>
      </p:sp>
      <p:sp>
        <p:nvSpPr>
          <p:cNvPr id="4" name="Rectangle 3"/>
          <p:cNvSpPr/>
          <p:nvPr/>
        </p:nvSpPr>
        <p:spPr>
          <a:xfrm>
            <a:off x="868680" y="2971800"/>
            <a:ext cx="1280160" cy="3175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291840"/>
            <a:ext cx="7315200" cy="731520"/>
          </a:xfrm>
          <a:prstGeom prst="rect">
            <a:avLst/>
          </a:prstGeom>
          <a:noFill/>
        </p:spPr>
        <p:txBody>
          <a:bodyPr wrap="square" lIns="0" rIns="0" tIns="0" bIns="0">
            <a:spAutoFit/>
          </a:bodyPr>
          <a:lstStyle/>
          <a:p>
            <a:pPr algn="l">
              <a:lnSpc>
                <a:spcPct val="115000"/>
              </a:lnSpc>
              <a:spcAft>
                <a:spcPts val="500"/>
              </a:spcAft>
            </a:pPr>
            <a:r>
              <a:rPr sz="1300" b="0">
                <a:solidFill>
                  <a:srgbClr val="14B8A6"/>
                </a:solidFill>
                <a:latin typeface="Cambria"/>
              </a:rPr>
              <a:t>saudeviz.streamlit.app</a:t>
            </a:r>
          </a:p>
          <a:p>
            <a:pPr algn="l">
              <a:lnSpc>
                <a:spcPct val="115000"/>
              </a:lnSpc>
              <a:spcAft>
                <a:spcPts val="500"/>
              </a:spcAft>
            </a:pPr>
            <a:r>
              <a:rPr sz="1300" b="0">
                <a:solidFill>
                  <a:srgbClr val="14B8A6"/>
                </a:solidFill>
                <a:latin typeface="Cambria"/>
              </a:rPr>
              <a:t>github.com/rm569173/saudeviz</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