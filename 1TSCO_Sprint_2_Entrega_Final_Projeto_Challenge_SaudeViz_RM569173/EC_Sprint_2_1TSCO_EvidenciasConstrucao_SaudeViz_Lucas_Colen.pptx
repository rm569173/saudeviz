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  <p:sldId id="302" r:id="rId46"/>
    <p:sldId id="303" r:id="rId47"/>
    <p:sldId id="299" r:id="rId48"/>
    <p:sldId id="300" r:id="rId49"/>
    <p:sldId id="305" r:id="rId50"/>
    <p:sldId id="304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6C2DAA-7232-4281-8D5E-84C9F753ADDC}" v="6" dt="2026-08-31T22:45:52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2" autoAdjust="0"/>
    <p:restoredTop sz="96627" autoAdjust="0"/>
  </p:normalViewPr>
  <p:slideViewPr>
    <p:cSldViewPr snapToGrid="0" snapToObjects="1">
      <p:cViewPr>
        <p:scale>
          <a:sx n="150" d="100"/>
          <a:sy n="150" d="100"/>
        </p:scale>
        <p:origin x="4416" y="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Colen" userId="48cc10b9fc7dccbf" providerId="LiveId" clId="{C162FC91-BB57-4518-B5AE-38D1168E816A}"/>
    <pc:docChg chg="undo custSel addSld delSld modSld sldOrd">
      <pc:chgData name="Lucas Colen" userId="48cc10b9fc7dccbf" providerId="LiveId" clId="{C162FC91-BB57-4518-B5AE-38D1168E816A}" dt="2026-09-01T01:59:27.770" v="1138"/>
      <pc:docMkLst>
        <pc:docMk/>
      </pc:docMkLst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56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57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58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59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0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1"/>
        </pc:sldMkLst>
        <pc:spChg chg="mod">
          <ac:chgData name="Lucas Colen" userId="48cc10b9fc7dccbf" providerId="LiveId" clId="{C162FC91-BB57-4518-B5AE-38D1168E816A}" dt="2026-08-31T21:46:42.307" v="319" actId="20577"/>
          <ac:spMkLst>
            <pc:docMk/>
            <pc:sldMk cId="0" sldId="261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2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3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4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5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6"/>
        </pc:sldMkLst>
        <pc:spChg chg="mod">
          <ac:chgData name="Lucas Colen" userId="48cc10b9fc7dccbf" providerId="LiveId" clId="{C162FC91-BB57-4518-B5AE-38D1168E816A}" dt="2026-08-31T21:52:38.288" v="552" actId="20577"/>
          <ac:spMkLst>
            <pc:docMk/>
            <pc:sldMk cId="0" sldId="266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7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8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69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0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1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2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3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4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5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6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7"/>
        </pc:sldMkLst>
        <pc:spChg chg="mod">
          <ac:chgData name="Lucas Colen" userId="48cc10b9fc7dccbf" providerId="LiveId" clId="{C162FC91-BB57-4518-B5AE-38D1168E816A}" dt="2026-08-31T21:58:55.109" v="790" actId="20577"/>
          <ac:spMkLst>
            <pc:docMk/>
            <pc:sldMk cId="0" sldId="277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8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79"/>
        </pc:sldMkLst>
        <pc:spChg chg="mod">
          <ac:chgData name="Lucas Colen" userId="48cc10b9fc7dccbf" providerId="LiveId" clId="{C162FC91-BB57-4518-B5AE-38D1168E816A}" dt="2026-08-31T22:01:09.847" v="806" actId="6549"/>
          <ac:spMkLst>
            <pc:docMk/>
            <pc:sldMk cId="0" sldId="279"/>
            <ac:spMk id="8" creationId="{00000000-0000-0000-0000-000000000000}"/>
          </ac:spMkLst>
        </pc:spChg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0"/>
        </pc:sldMkLst>
        <pc:spChg chg="mod">
          <ac:chgData name="Lucas Colen" userId="48cc10b9fc7dccbf" providerId="LiveId" clId="{C162FC91-BB57-4518-B5AE-38D1168E816A}" dt="2026-08-31T22:01:53.775" v="815" actId="20577"/>
          <ac:spMkLst>
            <pc:docMk/>
            <pc:sldMk cId="0" sldId="280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1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2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3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4"/>
        </pc:sldMkLst>
        <pc:spChg chg="mod">
          <ac:chgData name="Lucas Colen" userId="48cc10b9fc7dccbf" providerId="LiveId" clId="{C162FC91-BB57-4518-B5AE-38D1168E816A}" dt="2026-08-31T22:05:48.676" v="880" actId="20577"/>
          <ac:spMkLst>
            <pc:docMk/>
            <pc:sldMk cId="0" sldId="284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5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6"/>
        </pc:sldMkLst>
      </pc:sldChg>
      <pc:sldChg chg="modSp 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7"/>
        </pc:sldMkLst>
        <pc:spChg chg="mod">
          <ac:chgData name="Lucas Colen" userId="48cc10b9fc7dccbf" providerId="LiveId" clId="{C162FC91-BB57-4518-B5AE-38D1168E816A}" dt="2026-08-31T22:08:05.245" v="941" actId="20577"/>
          <ac:spMkLst>
            <pc:docMk/>
            <pc:sldMk cId="0" sldId="287"/>
            <ac:spMk id="8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8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89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0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1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2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3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4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5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6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7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8"/>
        </pc:sldMkLst>
      </pc:sldChg>
      <pc:sldChg chg="mod or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299"/>
        </pc:sldMkLst>
      </pc:sldChg>
      <pc:sldChg chg="modSp mod ord modShow modNotesTx">
        <pc:chgData name="Lucas Colen" userId="48cc10b9fc7dccbf" providerId="LiveId" clId="{C162FC91-BB57-4518-B5AE-38D1168E816A}" dt="2026-09-01T01:59:27.770" v="1138"/>
        <pc:sldMkLst>
          <pc:docMk/>
          <pc:sldMk cId="0" sldId="300"/>
        </pc:sldMkLst>
        <pc:spChg chg="mod">
          <ac:chgData name="Lucas Colen" userId="48cc10b9fc7dccbf" providerId="LiveId" clId="{C162FC91-BB57-4518-B5AE-38D1168E816A}" dt="2026-09-01T01:59:00.178" v="1135" actId="20577"/>
          <ac:spMkLst>
            <pc:docMk/>
            <pc:sldMk cId="0" sldId="300"/>
            <ac:spMk id="2" creationId="{00000000-0000-0000-0000-000000000000}"/>
          </ac:spMkLst>
        </pc:spChg>
        <pc:spChg chg="mod">
          <ac:chgData name="Lucas Colen" userId="48cc10b9fc7dccbf" providerId="LiveId" clId="{C162FC91-BB57-4518-B5AE-38D1168E816A}" dt="2026-09-01T01:50:44.939" v="1113" actId="20577"/>
          <ac:spMkLst>
            <pc:docMk/>
            <pc:sldMk cId="0" sldId="300"/>
            <ac:spMk id="4" creationId="{00000000-0000-0000-0000-000000000000}"/>
          </ac:spMkLst>
        </pc:spChg>
        <pc:spChg chg="mod">
          <ac:chgData name="Lucas Colen" userId="48cc10b9fc7dccbf" providerId="LiveId" clId="{C162FC91-BB57-4518-B5AE-38D1168E816A}" dt="2026-09-01T01:59:27.770" v="1138"/>
          <ac:spMkLst>
            <pc:docMk/>
            <pc:sldMk cId="0" sldId="300"/>
            <ac:spMk id="6" creationId="{00000000-0000-0000-0000-000000000000}"/>
          </ac:spMkLst>
        </pc:spChg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301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302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303"/>
        </pc:sldMkLst>
      </pc:sldChg>
      <pc:sldChg chg="mod modShow modNotesTx">
        <pc:chgData name="Lucas Colen" userId="48cc10b9fc7dccbf" providerId="LiveId" clId="{C162FC91-BB57-4518-B5AE-38D1168E816A}" dt="2026-09-01T01:53:58.454" v="1117" actId="34476"/>
        <pc:sldMkLst>
          <pc:docMk/>
          <pc:sldMk cId="0" sldId="304"/>
        </pc:sldMkLst>
      </pc:sldChg>
      <pc:sldChg chg="add">
        <pc:chgData name="Lucas Colen" userId="48cc10b9fc7dccbf" providerId="LiveId" clId="{C162FC91-BB57-4518-B5AE-38D1168E816A}" dt="2026-09-01T01:58:50.004" v="1118" actId="2890"/>
        <pc:sldMkLst>
          <pc:docMk/>
          <pc:sldMk cId="99114791" sldId="305"/>
        </pc:sldMkLst>
      </pc:sldChg>
      <pc:sldChg chg="add del setBg">
        <pc:chgData name="Lucas Colen" userId="48cc10b9fc7dccbf" providerId="LiveId" clId="{C162FC91-BB57-4518-B5AE-38D1168E816A}" dt="2026-08-31T22:45:52.028" v="1037"/>
        <pc:sldMkLst>
          <pc:docMk/>
          <pc:sldMk cId="2390203655" sldId="305"/>
        </pc:sldMkLst>
      </pc:sldChg>
      <pc:sldChg chg="add del ord">
        <pc:chgData name="Lucas Colen" userId="48cc10b9fc7dccbf" providerId="LiveId" clId="{C162FC91-BB57-4518-B5AE-38D1168E816A}" dt="2026-08-31T22:59:57.611" v="1051" actId="47"/>
        <pc:sldMkLst>
          <pc:docMk/>
          <pc:sldMk cId="3269080729" sldId="305"/>
        </pc:sldMkLst>
      </pc:sldChg>
      <pc:sldChg chg="add del ord">
        <pc:chgData name="Lucas Colen" userId="48cc10b9fc7dccbf" providerId="LiveId" clId="{C162FC91-BB57-4518-B5AE-38D1168E816A}" dt="2026-08-31T22:59:57.611" v="1051" actId="47"/>
        <pc:sldMkLst>
          <pc:docMk/>
          <pc:sldMk cId="1777116333" sldId="306"/>
        </pc:sldMkLst>
      </pc:sldChg>
      <pc:sldChg chg="add del ord">
        <pc:chgData name="Lucas Colen" userId="48cc10b9fc7dccbf" providerId="LiveId" clId="{C162FC91-BB57-4518-B5AE-38D1168E816A}" dt="2026-08-31T22:59:57.611" v="1051" actId="47"/>
        <pc:sldMkLst>
          <pc:docMk/>
          <pc:sldMk cId="3433772218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677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F30F-0D1D-24B1-C3CC-6665F806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69E36-37A6-82BB-B36F-3AAAAA65D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2324B-8EA9-80E2-3771-DF17F5B10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85F92-A9DE-8756-C942-117D006DB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8775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SaúdeViz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4B8A6"/>
                </a:solidFill>
                <a:latin typeface="Cambria"/>
              </a:rPr>
              <a:t>Painel inteligente de acesso hospitalar e perfil de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971800"/>
            <a:ext cx="128016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Challenge FIAP × Oracle 2026 · Sprint 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Turma 1TSCOA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Lucas Ventura Araujo Ribas Colen — RM 569173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Identificação do grupo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INTEGRANTE DO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8988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Lucas Ventura Araujo Ribas Colen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56816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569173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TURMA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23744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1TSCOA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1810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INSTITUIÇÃO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90672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FIAP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850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Os números da entrega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Camada Ouro carregada no Oracle 19c da FIAP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545336"/>
            <a:ext cx="12691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5.546.817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39112"/>
            <a:ext cx="13057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internações do SIH/SUS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ocorridas em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56155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4171" y="1545336"/>
            <a:ext cx="12691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R$ 10,03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5883" y="2039112"/>
            <a:ext cx="13057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pagos pelo SUS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no período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939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7406" y="1545336"/>
            <a:ext cx="12691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4 estados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9118" y="2039112"/>
            <a:ext cx="13057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ES · MG · RJ · SP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89 milhões de habitantes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2625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0641" y="1545336"/>
            <a:ext cx="12691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3.131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353" y="2039112"/>
            <a:ext cx="13057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estabelecimentos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com leito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586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43876" y="1545336"/>
            <a:ext cx="12691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5588" y="2039112"/>
            <a:ext cx="130576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tabelas na camada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Gold do Oracle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3518" y="2898648"/>
            <a:ext cx="5096964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eda_resumo_ex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70" y="2971800"/>
            <a:ext cx="4950660" cy="1453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1ª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Sprint 1 atualizada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que foi prometido, o que foi entregue e o que mudou de rota — com o motivo.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mudou desde a Sprint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813815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Prometido na Sprint 1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Situação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3 fontes: SQL, JSON e CSV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 — e uma quarta, de clima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Medallion Bronze → Prata → Ouro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em PySpark no Databricks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como camada Gold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11 tabelas T_SAUDE_*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Análise preditiva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com validação temporal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Select AI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F59E0B"/>
                          </a:solidFill>
                          <a:latin typeface="Cambria"/>
                        </a:rPr>
                        <a:t>⚠️ Indisponível no 19c — equivalente implementado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External Table do CSV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F59E0B"/>
                          </a:solidFill>
                          <a:latin typeface="Cambria"/>
                        </a:rPr>
                        <a:t>⚠️ Sem privilégio na conta acadêmica — DDL entregue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Power BI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🔄 </a:t>
                      </a:r>
                      <a:r>
                        <a:rPr sz="950" b="0" dirty="0" err="1">
                          <a:solidFill>
                            <a:srgbClr val="64748B"/>
                          </a:solidFill>
                          <a:latin typeface="Cambria"/>
                        </a:rPr>
                        <a:t>Substituído</a:t>
                      </a: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64748B"/>
                          </a:solidFill>
                          <a:latin typeface="Cambria"/>
                        </a:rPr>
                        <a:t>por</a:t>
                      </a: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64748B"/>
                          </a:solidFill>
                          <a:latin typeface="Cambria"/>
                        </a:rPr>
                        <a:t>Streamlit</a:t>
                      </a:r>
                      <a:endParaRPr sz="950" b="0" dirty="0">
                        <a:solidFill>
                          <a:srgbClr val="64748B"/>
                        </a:solidFill>
                        <a:latin typeface="Cambria"/>
                      </a:endParaRP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Cobertura nacional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🔄 </a:t>
                      </a:r>
                      <a:r>
                        <a:rPr sz="950" b="0" dirty="0" err="1">
                          <a:solidFill>
                            <a:srgbClr val="64748B"/>
                          </a:solidFill>
                          <a:latin typeface="Cambria"/>
                        </a:rPr>
                        <a:t>Recorte</a:t>
                      </a: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 no </a:t>
                      </a:r>
                      <a:r>
                        <a:rPr sz="950" b="0" dirty="0" err="1">
                          <a:solidFill>
                            <a:srgbClr val="64748B"/>
                          </a:solidFill>
                          <a:latin typeface="Cambria"/>
                        </a:rPr>
                        <a:t>Sudeste</a:t>
                      </a:r>
                      <a:r>
                        <a:rPr sz="950" b="0" dirty="0">
                          <a:solidFill>
                            <a:srgbClr val="64748B"/>
                          </a:solidFill>
                          <a:latin typeface="Cambria"/>
                        </a:rPr>
                        <a:t> para o MVP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Quadro de gestão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Kanban público, com o que ficou por fazer no status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8162"/>
            <a:ext cx="4920935" cy="27272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trel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81314"/>
            <a:ext cx="4774631" cy="25809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604137"/>
            <a:ext cx="301605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6191" y="1750441"/>
            <a:ext cx="2613721" cy="214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QUADRO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trello.com/b/3XTAInGQ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44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cartões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· 5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listas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Sprint 1              8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Concluído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     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Em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andamento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   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fazer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        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implementado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A quinta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lista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é 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que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mostra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decisão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de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escopo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em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vez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de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esquecimento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2ª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MVP implementado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Painel público conectado ao Oracle da FIAP em tempo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painel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saudeviz.streamlit.app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7547" y="1325880"/>
            <a:ext cx="6548906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1_visao_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99" y="1399032"/>
            <a:ext cx="6402602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Cinco páginas. O selo na barra lateral mostra se o dado veio do Oracle ou do retrato local — resultado de contingência nunca se passa por dado ao vivo.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Onde a capacidade foi ultrapassada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Classificação por município e mês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70767"/>
            <a:ext cx="5714634" cy="26020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2_capacidade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43919"/>
            <a:ext cx="5568330" cy="24557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2075688"/>
            <a:ext cx="2222358" cy="17922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9890" y="2221992"/>
            <a:ext cx="1820022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Folga           8.466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Adequada        1.043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Atenção           223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Crítica            16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município-mês, em 823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municípios com internação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registrada em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Municípios sob pressão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23855" y="1325880"/>
            <a:ext cx="6696289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painel_03_capacidade_crit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007" y="1399032"/>
            <a:ext cx="6549985" cy="2642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Ocupação acima de 1,0 é alerta para investigar, não prova de colapso: pode ser sobrecarga real, leito desatualizado no CNES ou município-polo atendendo toda uma região.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Quais perfis pressionam mais 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Pressão relativa: participação nos leitos-dia ÷ participação nas internações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5345"/>
            <a:ext cx="4920935" cy="207290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4_perfis_pr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08497"/>
            <a:ext cx="4774631" cy="19266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689417"/>
            <a:ext cx="3016057" cy="25647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6191" y="1835721"/>
            <a:ext cx="2613721" cy="1975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TRANSTORNOS MENTAIS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1,9% das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internações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4,1% dos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leitos-dia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pressão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relativa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2,15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permanência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10,4 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custo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médio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R$ 521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Ocupa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leito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e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consome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orçamento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Invisível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num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painel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que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só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conta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atendimentos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3ª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Arquitetura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Quatro fontes públicas, Medallion no Databricks, camada de consumo no Oracle.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quitetura_sol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5" y="137160"/>
            <a:ext cx="8713269" cy="4869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roda onde, e por quê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813815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Etapa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Onde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Motivo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Download e decode .dbc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Estação local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Formato proprietário do DATASUS, exige extensão C e FTP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Bronze, Prata, Ouro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Databricks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PySpark sobre tabelas Delta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Camada Gold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19c FIAP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Camada de serviço consultada pelo painel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Painel e NL→SQL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Streamlit Cloud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Link público, código versionado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Medallion materializada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Catálogo do Unity Catalog, não desenho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3972" y="1325880"/>
            <a:ext cx="1416055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databricks_catalog_medall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124" y="1399032"/>
            <a:ext cx="1269751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As três camadas existem como schemas reais no Databricks.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camada Gold no Oracle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53193"/>
            <a:ext cx="3977640" cy="323721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oracle_contagem_tabe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26345"/>
            <a:ext cx="3831336" cy="30909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63440" y="2007296"/>
            <a:ext cx="3977640" cy="19290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oracle_arvore_tabe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80448"/>
            <a:ext cx="3831336" cy="17827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Integridade do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Três tabelas construídas por caminhos diferentes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2528"/>
            <a:ext cx="4762195" cy="26185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oracle_integridade_tot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35680"/>
            <a:ext cx="4615891" cy="24722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714500"/>
            <a:ext cx="3174797" cy="2514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860804"/>
            <a:ext cx="2772461" cy="2221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Fato de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Indicador de capacidade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Ranking de hospitais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Mesmo total.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Nenhuma internação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perdida ou duplicada.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não foi implementado, e por quê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Decisão registrada, não omissão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8138159" cy="1488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Item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Motivo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O que foi entregue</a:t>
                      </a:r>
                    </a:p>
                  </a:txBody>
                  <a:tcPr marL="73152" marR="73152" anchor="ctr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Oracle Select AI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Exige Autonomous. Verificado em all_objects: o 19c da FIAP não tem DBMS_CLOUD_AI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Tradutor NL→SQL sobre os mesmos metadados + script pronto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External Table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Conta acadêmica sem CREATE ANY DIRECTORY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CSV como tabela comum; DDL documentado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Cobertura nacional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Recorte no Sudeste para viabilizar o MVP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Pipeline parametrizado por UF</a:t>
                      </a:r>
                    </a:p>
                  </a:txBody>
                  <a:tcPr marL="73152" marR="7315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Clusterização K-Means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Cortada por prazo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Código de referência no repositório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4ª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Modelos e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Ingestão das fontes, a descoberta que reorientou o projeto, estatística e previsão.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As fontes e seus formatos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Três formatos exigidos pelo desafio, mais uma quarta fonte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487107" cy="255473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7084771" cy="22621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1 — SIH/SUS       relacional (.dbc)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ftp.retrbinary(...)              7.015.106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2 — CNES          JSON via API REST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_get_json(...)                   4.481 estabelecimentos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3 — IBGE          CSV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df.to_csv(...)                   5.571 municípios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59E0B"/>
                </a:solidFill>
                <a:latin typeface="Consolas"/>
              </a:rPr>
              <a:t>FONTE 4 — Open-Meteo    JSON via API REST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archive-api.open-meteo.com       366 dias × 4 capitais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0862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quarta fonte não era exigida. Entrou para testar hipóteses que os dados de saúde sozinhos não respondem.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Tratamento do formato proprietário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 .dbc do DATASUS é um DBF comprimido com PKWare DCL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0607" y="1325880"/>
            <a:ext cx="4262786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extrai_sih_py_6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759" y="1399032"/>
            <a:ext cx="4116482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conversão roda em diretório temporário com caminho ASCII: a extensão C não aceita acento no caminho, e o projeto mora em "Educação/Ciência de Dados".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descoberta que reorientou 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Defasagem entre internar e ser faturado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441" y="1325880"/>
            <a:ext cx="469715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ipeline_prata_defas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3" y="1399032"/>
            <a:ext cx="4550848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041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750441"/>
            <a:ext cx="2772461" cy="1975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0 meses  4.214.705  60,8%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1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mês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1.789.226  25,8%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2 meses    587.295   8,5%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3 meses    297.454   4,3%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14B8A6"/>
                </a:solidFill>
                <a:latin typeface="Consolas"/>
              </a:rPr>
              <a:t>acumulado</a:t>
            </a:r>
            <a:r>
              <a:rPr sz="8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14B8A6"/>
                </a:solidFill>
                <a:latin typeface="Consolas"/>
              </a:rPr>
              <a:t>em</a:t>
            </a:r>
            <a:r>
              <a:rPr sz="850" b="0" dirty="0">
                <a:solidFill>
                  <a:srgbClr val="14B8A6"/>
                </a:solidFill>
                <a:latin typeface="Consolas"/>
              </a:rPr>
              <a:t> M+3: 99,4%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competência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do SIH é o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mês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de PAGAMENTO,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o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da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internação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Corrigimos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dimensão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temporal e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ampliamos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ingestão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até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março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/2025.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Análise exploratória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16 consultas SQL cobrindo as quatro frentes do desafio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96790"/>
            <a:ext cx="3977640" cy="31500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eda_q03_sazonalidade_gra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69942"/>
            <a:ext cx="3831336" cy="30037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63440" y="1534680"/>
            <a:ext cx="3977640" cy="2874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eda_q07_pressao_graf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607832"/>
            <a:ext cx="3831336" cy="2727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Técnicas estatísticas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Outliers por IQR de Tukey e correlação de Pearson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37866"/>
            <a:ext cx="4365345" cy="266786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eda_q14_outliers_i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11018"/>
            <a:ext cx="4219041" cy="25215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433576"/>
            <a:ext cx="3571647" cy="3076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0601" y="1579880"/>
            <a:ext cx="3169311" cy="15776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O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critério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estatístico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pt-BR"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calculado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sem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referência</a:t>
            </a:r>
            <a:endParaRPr sz="80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 err="1">
                <a:solidFill>
                  <a:srgbClr val="E2E8F0"/>
                </a:solidFill>
                <a:latin typeface="Consolas"/>
              </a:rPr>
              <a:t>ao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nosso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limiar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confirma</a:t>
            </a:r>
            <a:r>
              <a:rPr lang="pt-BR"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que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ocupação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acima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de 1,0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é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anômala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nesta</a:t>
            </a:r>
            <a:r>
              <a:rPr lang="pt-BR"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distribuição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0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>
                <a:solidFill>
                  <a:srgbClr val="14B8A6"/>
                </a:solidFill>
                <a:latin typeface="Consolas"/>
              </a:rPr>
              <a:t>PEARSON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 err="1">
                <a:solidFill>
                  <a:srgbClr val="E2E8F0"/>
                </a:solidFill>
                <a:latin typeface="Consolas"/>
              </a:rPr>
              <a:t>ocupação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×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transferência</a:t>
            </a:r>
            <a:endParaRPr sz="80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        −0,305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0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 err="1">
                <a:solidFill>
                  <a:srgbClr val="E2E8F0"/>
                </a:solidFill>
                <a:latin typeface="Consolas"/>
              </a:rPr>
              <a:t>Municípios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com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baixa</a:t>
            </a:r>
            <a:r>
              <a:rPr lang="pt-BR"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ocupação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transferem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mais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 dirty="0" err="1">
                <a:solidFill>
                  <a:srgbClr val="E2E8F0"/>
                </a:solidFill>
                <a:latin typeface="Consolas"/>
              </a:rPr>
              <a:t>estabilizam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e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encaminham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Modelo de previsão de demanda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Validação por janela expansível — o modelo mais simples venceu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3552" y="1325880"/>
            <a:ext cx="238093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modelo_comparativo_horizo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04" y="1399032"/>
            <a:ext cx="2234626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89417"/>
            <a:ext cx="3174797" cy="25647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835721"/>
            <a:ext cx="2772461" cy="1805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horizonte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semanal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regressão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      7 d    6,32%     6,27%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     30 d    5,77%     7,67%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F59E0B"/>
                </a:solidFill>
                <a:latin typeface="Consolas"/>
              </a:rPr>
              <a:t>     90 d    5,46%    27,12%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Testamos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regressão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com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tendência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e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sazonalidade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Perdeu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em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todos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os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horizontes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acima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de 7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dias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A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série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tem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tendência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explorável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move a demanda hospitalar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Variação percentual frente à segunda-feira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04665"/>
            <a:ext cx="4762195" cy="31342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modelo_dia_sem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77817"/>
            <a:ext cx="4615891" cy="2987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895094"/>
            <a:ext cx="3174797" cy="21534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2041398"/>
            <a:ext cx="2772461" cy="1860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Sábado    −38%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Domingo   −41%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Feriado   −26%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Consistente nos quatro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estados.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 queda do fim de semana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não é falta de doente: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é a rede eletiva parada.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5ª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Evidências visuais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painel e a camada Gold respondendo às perguntas do desafio.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Previsão de demanda no painel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Projeção diária de 90 dias, com intervalo de 95%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05923"/>
            <a:ext cx="8138160" cy="21317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5_previsao_s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79075"/>
            <a:ext cx="7991856" cy="1985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Quantos leitos, e quando abrir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Consumo observado traduzido em dimensionamento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2513"/>
            <a:ext cx="4762195" cy="22413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7_dimension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5665"/>
            <a:ext cx="4615891" cy="2095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3755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521841"/>
            <a:ext cx="2772461" cy="2170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14B8A6"/>
                </a:solidFill>
                <a:latin typeface="Consolas"/>
              </a:rPr>
              <a:t>BELO HORIZONTE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6.312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leitos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cadastrados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Demanda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comum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     5.107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abertos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o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ano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inteiro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Pico (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abril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)       5.904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  +797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leitos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sazonais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F59E0B"/>
                </a:solidFill>
                <a:latin typeface="Consolas"/>
              </a:rPr>
              <a:t>Folga no </a:t>
            </a:r>
            <a:r>
              <a:rPr sz="850" b="0" dirty="0" err="1">
                <a:solidFill>
                  <a:srgbClr val="F59E0B"/>
                </a:solidFill>
                <a:latin typeface="Consolas"/>
              </a:rPr>
              <a:t>pico</a:t>
            </a:r>
            <a:r>
              <a:rPr sz="850" b="0" dirty="0">
                <a:solidFill>
                  <a:srgbClr val="F59E0B"/>
                </a:solidFill>
                <a:latin typeface="Consolas"/>
              </a:rPr>
              <a:t>        408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F59E0B"/>
                </a:solidFill>
                <a:latin typeface="Consolas"/>
              </a:rPr>
              <a:t>  6% da </a:t>
            </a:r>
            <a:r>
              <a:rPr sz="850" b="0" dirty="0" err="1">
                <a:solidFill>
                  <a:srgbClr val="F59E0B"/>
                </a:solidFill>
                <a:latin typeface="Consolas"/>
              </a:rPr>
              <a:t>capacidade</a:t>
            </a:r>
            <a:endParaRPr sz="850" b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Abril é o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pico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nas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quatro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capitais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Seis por cento de folga no pico é a margem que uma epidemia consome em dias.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Consultas na camada Gold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Executadas no Oracle 19c da FIAP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29869"/>
            <a:ext cx="5714634" cy="28838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oracle_top10_hospit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03021"/>
            <a:ext cx="5568330" cy="27375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1985391"/>
            <a:ext cx="2222358" cy="197281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9890" y="2131695"/>
            <a:ext cx="1820022" cy="1680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Santa Casa BH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54.406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0,21% transferência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HC-FMUSP SP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53.161 · 2,66%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Hosp. Base SJRP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50.043 · 1,09%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Onde as internações crescem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Segundo semestre contra o primeiro, por município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585" y="1325880"/>
            <a:ext cx="3458829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eda_q05_cresci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37" y="1399032"/>
            <a:ext cx="3312525" cy="3145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Quem exporta paciente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A taxa de transferência mede resolutividade, não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05384"/>
            <a:ext cx="4762195" cy="31328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eda_q12_transfe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78536"/>
            <a:ext cx="4615891" cy="29865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041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750441"/>
            <a:ext cx="2772461" cy="20008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14B8A6"/>
                </a:solidFill>
                <a:latin typeface="Consolas"/>
              </a:rPr>
              <a:t>EMBU-GUAÇU / SP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1.460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internações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1.082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transferências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   15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leitos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F59E0B"/>
                </a:solidFill>
                <a:latin typeface="Consolas"/>
              </a:rPr>
              <a:t>74% dos </a:t>
            </a:r>
            <a:r>
              <a:rPr sz="850" b="0" dirty="0" err="1">
                <a:solidFill>
                  <a:srgbClr val="F59E0B"/>
                </a:solidFill>
                <a:latin typeface="Consolas"/>
              </a:rPr>
              <a:t>pacientes</a:t>
            </a:r>
            <a:r>
              <a:rPr sz="850" b="0" dirty="0">
                <a:solidFill>
                  <a:srgbClr val="F59E0B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F59E0B"/>
                </a:solidFill>
                <a:latin typeface="Consolas"/>
              </a:rPr>
              <a:t>seguem</a:t>
            </a:r>
            <a:endParaRPr sz="850" b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F59E0B"/>
                </a:solidFill>
                <a:latin typeface="Consolas"/>
              </a:rPr>
              <a:t>para outro </a:t>
            </a:r>
            <a:r>
              <a:rPr sz="850" b="0" dirty="0" err="1">
                <a:solidFill>
                  <a:srgbClr val="F59E0B"/>
                </a:solidFill>
                <a:latin typeface="Consolas"/>
              </a:rPr>
              <a:t>município</a:t>
            </a:r>
            <a:r>
              <a:rPr sz="850" b="0" dirty="0">
                <a:solidFill>
                  <a:srgbClr val="F59E0B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é "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há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muitas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internações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aqui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": 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>
                <a:solidFill>
                  <a:srgbClr val="E2E8F0"/>
                </a:solidFill>
                <a:latin typeface="Consolas"/>
              </a:rPr>
              <a:t>"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pacientes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saem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daqui</a:t>
            </a:r>
            <a:r>
              <a:rPr lang="pt-BR"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porque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há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como</a:t>
            </a:r>
            <a:endParaRPr sz="8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dirty="0" err="1">
                <a:solidFill>
                  <a:srgbClr val="E2E8F0"/>
                </a:solidFill>
                <a:latin typeface="Consolas"/>
              </a:rPr>
              <a:t>tratá-los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850" b="0" dirty="0" err="1">
                <a:solidFill>
                  <a:srgbClr val="E2E8F0"/>
                </a:solidFill>
                <a:latin typeface="Consolas"/>
              </a:rPr>
              <a:t>aqui</a:t>
            </a:r>
            <a:r>
              <a:rPr sz="850" b="0" dirty="0">
                <a:solidFill>
                  <a:srgbClr val="E2E8F0"/>
                </a:solidFill>
                <a:latin typeface="Consolas"/>
              </a:rPr>
              <a:t>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ANÁLISE COMPLEMENTAR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Clima e internação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Não é entrega obrigatória. Três hipóteses testadas — uma refutada, uma confirmada, uma com ressalva.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Uma quarta fonte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Open-Meteo · clima diário das 4 capitais ·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74254"/>
            <a:ext cx="5714634" cy="29950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clima_01_fo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47406"/>
            <a:ext cx="5568330" cy="28487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1518856"/>
            <a:ext cx="2222358" cy="290588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9890" y="1665160"/>
            <a:ext cx="1820022" cy="261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1.464 dias-capital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526 com chuva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1.421.225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nas capitais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TRÊS HIPÓTESES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chuva aumenta acidentes?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frio aumenta doença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respiratória?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estação importa além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do ciclo semanal?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Chuva não explica acidentes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Hipótese refutada — e o teste de gradiente é o que prova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4216" y="1325880"/>
            <a:ext cx="400275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clima_03_gradiente_chu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8" y="1399032"/>
            <a:ext cx="3856448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766824"/>
            <a:ext cx="3571647" cy="195275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0601" y="1913128"/>
            <a:ext cx="3169311" cy="1660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Com chuva   104,4 /dia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Sem chuva   105,1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F4444"/>
                </a:solidFill>
                <a:latin typeface="Consolas"/>
              </a:rPr>
              <a:t>variação     −0,7%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00" b="0">
              <a:solidFill>
                <a:srgbClr val="EF4444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14B8A6"/>
                </a:solidFill>
                <a:latin typeface="Consolas"/>
              </a:rPr>
              <a:t>SEM GRADIENTE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00" b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Sem chuva      693 d  105,4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fraca    254    103,0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moderada  85    110,4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forte     16     83,1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 a chuva causasse acidentes, o efeito cresceria com a intensidade. Sobe e desce sem padrão — e os 83,1 da chuva forte vêm de 16 dias apenas. O planejamento hospitalar não deve reservar capacidade para dias de chuva.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Frio se associa a internação respiratória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Hipótese confirmada — gradiente monotônico nas quatro capitais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1092" y="1325880"/>
            <a:ext cx="2809001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clima_04_frio_respira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44" y="1399032"/>
            <a:ext cx="2662697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887220"/>
            <a:ext cx="3571647" cy="1711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0601" y="2033524"/>
            <a:ext cx="3169311" cy="1419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Muito frio  73,7 /dia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Quente      67,5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variação    +9,2%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Capital      MFrio  Quente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BH            61,9    50,0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RJ            50,5    43,6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SP           175,1   163,9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As faixas são quartis calculados dentro de cada capital: 18 °C é frio em Vitória e ameno em São Paulo. Um limiar absoluto compararia climas diferentes como se fossem o mesmo.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Só a temperatura mínima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Correlação de Pearson com internação respiratória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4286" y="1325880"/>
            <a:ext cx="4162613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clima_05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8" y="1399032"/>
            <a:ext cx="4016309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2057781"/>
            <a:ext cx="3571647" cy="137083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0601" y="2204085"/>
            <a:ext cx="3169311" cy="1078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      tmin   tmax  chuva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BH       −0,306  0,020 −0,244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RJ       −0,185 −0,001 −0,129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Vitória  −0,148 −0,055 −0,181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SP       −0,107  0,062 −0,139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temperatura máxima não tem correlação — ronda zero nas quatro cidades. É o frio da madrugada que se relaciona com internação respiratória, não o calor do 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ressalva que o próprio dado revela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Por que isto é associação, e não causa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731252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7328916" cy="2450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F59E0B"/>
                </a:solidFill>
                <a:latin typeface="Consolas"/>
              </a:rPr>
              <a:t>A chuva aparece com correlação NEGATIVA: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F59E0B"/>
                </a:solidFill>
                <a:latin typeface="Consolas"/>
              </a:rPr>
              <a:t>dias chuvosos têm menos internação respiratória.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50" b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Contraintuitivo — até lembrar que no Sudeste chove no verão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e a seca é no inverno. A chuva está medindo a ESTAÇÃO,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não a si mesma.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O mesmo confundimento pode valer para o frio: dias frios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concentram-se no inverno, que também tem mais circulação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viral. Os 9,2% podem ser efeito da temperatura, da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sazonalidade viral, ou dos dois.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14B8A6"/>
                </a:solidFill>
                <a:latin typeface="Consolas"/>
              </a:rPr>
              <a:t>É associação, não causa.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97096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Separar os dois efeitos exigiria dados de circulação viral por semana epidemiológica — fora do escopo desta sprint, e registrado como próximo passo.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SELECT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Perguntas em português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mecanismo equivalente, sobre os mesmos metadados que o Select AI usaria.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Perguntas em linguagem natural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Página "Pergunte em português" do painel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2637"/>
            <a:ext cx="8138160" cy="26983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08_nlsql_exemp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5789"/>
            <a:ext cx="7991856" cy="2552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SQL gerado e executado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Duas perguntas, duas tabelas diferentes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24772"/>
            <a:ext cx="4762195" cy="20368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painel_10_nlsql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97924"/>
            <a:ext cx="4615891" cy="18905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546098"/>
            <a:ext cx="3174797" cy="239420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7451" y="1692402"/>
            <a:ext cx="2772461" cy="2101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"quais hospitais mais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transferem pacientes?"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→ T_SAUDE_RANK_HOSPITAIS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"onde a capacidade está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sendo ultrapassada?"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→ T_SAUDE_IND_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  CAPACIDADE_MUNICIPAL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tabela é escolhida pela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intenção reconhecida, não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por uma consulta fixa.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O SQL continua sendo gerado e executado no Oracle. O tradutor remove a barreira da sintaxe para quem decide.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Por que não é o Select AI nativo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Verificado no banco, não presumido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85456"/>
            <a:ext cx="4603455" cy="171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oracle_comentarios_metad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58608"/>
            <a:ext cx="4457151" cy="156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7543" y="1375537"/>
            <a:ext cx="333353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08711" y="1521841"/>
            <a:ext cx="2931201" cy="2442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SELECT COUNT(*)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FROM all_objects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WHERE object_name =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  'DBMS_CLOUD_AI';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F4444"/>
                </a:solidFill>
                <a:latin typeface="Consolas"/>
              </a:rPr>
              <a:t>            →  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F4444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O Select AI existe apenas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no Autonomous Database.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Implementamos o mecanismo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equivalente sobre OS MESMOS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metadados: os COMMENT 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das tabelas.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 dirty="0" err="1">
                <a:solidFill>
                  <a:srgbClr val="64748B"/>
                </a:solidFill>
                <a:latin typeface="Cambria"/>
              </a:rPr>
              <a:t>Migrar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para o Autonomous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não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exige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remodelar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nada —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só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trocar o motor de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tradução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. O script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já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está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 </a:t>
            </a:r>
            <a:r>
              <a:rPr sz="950" b="0" dirty="0" err="1">
                <a:solidFill>
                  <a:srgbClr val="64748B"/>
                </a:solidFill>
                <a:latin typeface="Cambria"/>
              </a:rPr>
              <a:t>entregue</a:t>
            </a:r>
            <a:r>
              <a:rPr sz="950" b="0" dirty="0">
                <a:solidFill>
                  <a:srgbClr val="64748B"/>
                </a:solidFill>
                <a:latin typeface="Cambria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6ª · 7ª · 8ª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Repositório, vídeo pitch e conclusões.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aprendemos com os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7731252" cy="263499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472184"/>
            <a:ext cx="7328916" cy="234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14B8A6"/>
                </a:solidFill>
                <a:latin typeface="Consolas"/>
              </a:rPr>
              <a:t>1. A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competência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do SIH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não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é a data da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internação</a:t>
            </a:r>
            <a:endParaRPr sz="950" b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42% dos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registros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de um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mês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são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de meses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anteriores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Sem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corrigir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isso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toda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série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temporal do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projeto</a:t>
            </a:r>
            <a:endParaRPr sz="9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estaria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errada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14B8A6"/>
                </a:solidFill>
                <a:latin typeface="Consolas"/>
              </a:rPr>
              <a:t>2. A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coluna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COBRANCA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revela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transferência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de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paciente</a:t>
            </a:r>
            <a:endParaRPr sz="950" b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Muda "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há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muitas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internações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aqui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" para "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pacientes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saem</a:t>
            </a:r>
            <a:endParaRPr sz="9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daqui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porque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não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há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como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tratá-los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aqui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".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950" b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14B8A6"/>
                </a:solidFill>
                <a:latin typeface="Consolas"/>
              </a:rPr>
              <a:t>3. A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demanda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hospitalar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não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tem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tendência</a:t>
            </a:r>
            <a:r>
              <a:rPr sz="950" b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14B8A6"/>
                </a:solidFill>
                <a:latin typeface="Consolas"/>
              </a:rPr>
              <a:t>explorável</a:t>
            </a:r>
            <a:endParaRPr sz="950" b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O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sinal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previsível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está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no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ciclo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semanal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e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nos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feriados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 dirty="0">
                <a:solidFill>
                  <a:srgbClr val="E2E8F0"/>
                </a:solidFill>
                <a:latin typeface="Consolas"/>
              </a:rPr>
              <a:t>   O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modelo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simples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venceu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o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sofisticado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por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5x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em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 90 </a:t>
            </a:r>
            <a:r>
              <a:rPr sz="950" b="0" dirty="0" err="1">
                <a:solidFill>
                  <a:srgbClr val="E2E8F0"/>
                </a:solidFill>
                <a:latin typeface="Consolas"/>
              </a:rPr>
              <a:t>dias</a:t>
            </a:r>
            <a:r>
              <a:rPr sz="950" b="0" dirty="0">
                <a:solidFill>
                  <a:srgbClr val="E2E8F0"/>
                </a:solidFill>
                <a:latin typeface="Consola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Limitações declaradas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 que este painel não pode afirmar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324344" cy="23540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6922008" cy="2061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Recorte no Sudeste — o pipeline é parametrizado por UF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Dezembro/2024 com cobertura de 99,4%, não 100%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Ocupação acima de 1,0 é alerta, não diagnóstico de colapso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Pacientes internados antes de 2024 não entram na contagem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(medido: menos de 1% dos leitos-dia)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O efeito do frio é associação, não causa comprovada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7324344" cy="255473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472184"/>
            <a:ext cx="6922008" cy="22621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Separar o efeito do frio do efeito da sazonalidade viral,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cruzando com circulação respiratória por semana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epidemiológica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Estender ao Brasil inteiro — o pipeline já é parametrizado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por UF, é trocar uma lista em config.py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Migrar para o Autonomous Database e ativar o Select AI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nativo — o script de configuração já está entregue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00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Retomar a clusterização de municípios por perfil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Código-fonte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dirty="0">
                <a:solidFill>
                  <a:srgbClr val="64748B"/>
                </a:solidFill>
                <a:latin typeface="Cambria"/>
              </a:rPr>
              <a:t>github.com/rm569173/</a:t>
            </a:r>
            <a:r>
              <a:rPr sz="1050" b="0" dirty="0" err="1">
                <a:solidFill>
                  <a:srgbClr val="64748B"/>
                </a:solidFill>
                <a:latin typeface="Cambria"/>
              </a:rPr>
              <a:t>saudeviz</a:t>
            </a:r>
            <a:endParaRPr sz="1050" b="0" dirty="0">
              <a:solidFill>
                <a:srgbClr val="64748B"/>
              </a:solidFill>
              <a:latin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77007" y="1325880"/>
            <a:ext cx="4172761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github_reposi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59" y="1399032"/>
            <a:ext cx="4026457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518856"/>
            <a:ext cx="3016057" cy="290588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6191" y="1665160"/>
            <a:ext cx="2613721" cy="261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6 notebooks Databricks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pipeline de ingestão das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quatro fontes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DDL do Oracle com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COMMENT 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tradutor NL→SQL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painel Streamlit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850" b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camada Gold versionada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para reprodução sem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acesso ao 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372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t-BR" sz="2300" b="1" dirty="0">
                <a:solidFill>
                  <a:srgbClr val="FFFFFF"/>
                </a:solidFill>
                <a:latin typeface="Cambria"/>
              </a:rPr>
              <a:t>Link da aplicação</a:t>
            </a:r>
            <a:endParaRPr sz="23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1700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dirty="0">
                <a:solidFill>
                  <a:srgbClr val="64748B"/>
                </a:solidFill>
                <a:latin typeface="Cambria"/>
              </a:rPr>
              <a:t>5 </a:t>
            </a:r>
            <a:r>
              <a:rPr sz="1050" b="0" dirty="0" err="1">
                <a:solidFill>
                  <a:srgbClr val="64748B"/>
                </a:solidFill>
                <a:latin typeface="Cambria"/>
              </a:rPr>
              <a:t>minutos</a:t>
            </a:r>
            <a:endParaRPr sz="1050" b="0" dirty="0">
              <a:solidFill>
                <a:srgbClr val="64748B"/>
              </a:solidFill>
              <a:latin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103620" cy="167182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5701284" cy="175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pt-BR" sz="1100" b="0" dirty="0">
                <a:solidFill>
                  <a:srgbClr val="14B8A6"/>
                </a:solidFill>
                <a:latin typeface="Consolas"/>
              </a:rPr>
              <a:t>https://saudeviz.streamlit.app/</a:t>
            </a:r>
            <a:endParaRPr sz="1100" b="0" dirty="0">
              <a:solidFill>
                <a:srgbClr val="14B8A6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108AD-51A2-1729-3C43-0D5CC209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BA44E-9A83-64BC-CC46-15DB9FD41CBC}"/>
              </a:ext>
            </a:extLst>
          </p:cNvPr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Vídeo pitch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9402D7-E25F-F472-0471-C91CC24335F2}"/>
              </a:ext>
            </a:extLst>
          </p:cNvPr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EEE13-5B6E-2B58-60CF-51181FD3596D}"/>
              </a:ext>
            </a:extLst>
          </p:cNvPr>
          <p:cNvSpPr txBox="1"/>
          <p:nvPr/>
        </p:nvSpPr>
        <p:spPr>
          <a:xfrm>
            <a:off x="502920" y="969264"/>
            <a:ext cx="8138160" cy="1700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dirty="0">
                <a:solidFill>
                  <a:srgbClr val="64748B"/>
                </a:solidFill>
                <a:latin typeface="Cambria"/>
              </a:rPr>
              <a:t>5 </a:t>
            </a:r>
            <a:r>
              <a:rPr sz="1050" b="0" dirty="0" err="1">
                <a:solidFill>
                  <a:srgbClr val="64748B"/>
                </a:solidFill>
                <a:latin typeface="Cambria"/>
              </a:rPr>
              <a:t>minutos</a:t>
            </a:r>
            <a:endParaRPr sz="1050" b="0" dirty="0">
              <a:solidFill>
                <a:srgbClr val="64748B"/>
              </a:solidFill>
              <a:latin typeface="Cambria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BDE937-2D7F-6F78-ACAB-AEDF705F44F5}"/>
              </a:ext>
            </a:extLst>
          </p:cNvPr>
          <p:cNvSpPr/>
          <p:nvPr/>
        </p:nvSpPr>
        <p:spPr>
          <a:xfrm>
            <a:off x="502920" y="1325880"/>
            <a:ext cx="6103620" cy="167182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D6B27-4F49-6739-8226-C2DC54D1C0DB}"/>
              </a:ext>
            </a:extLst>
          </p:cNvPr>
          <p:cNvSpPr txBox="1"/>
          <p:nvPr/>
        </p:nvSpPr>
        <p:spPr>
          <a:xfrm>
            <a:off x="704088" y="1472184"/>
            <a:ext cx="5701284" cy="175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lang="pt-BR" sz="1100" b="0" dirty="0">
                <a:solidFill>
                  <a:srgbClr val="14B8A6"/>
                </a:solidFill>
                <a:latin typeface="Consolas"/>
              </a:rPr>
              <a:t>https://youtu.be/3LEW0WdBYis</a:t>
            </a:r>
            <a:endParaRPr sz="1100" b="0" dirty="0">
              <a:solidFill>
                <a:srgbClr val="14B8A6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8FBBD-01CB-0C4E-66D5-082060CBAEED}"/>
              </a:ext>
            </a:extLst>
          </p:cNvPr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4862A-ABBB-7E43-74B8-3FAC96664D47}"/>
              </a:ext>
            </a:extLst>
          </p:cNvPr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91147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Dados que salvam vidas.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Decisões que transformam o sistema de saúde.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971800"/>
            <a:ext cx="128016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4B8A6"/>
                </a:solidFill>
                <a:latin typeface="Cambria"/>
              </a:rPr>
              <a:t>saudeviz.streamlit.app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4B8A6"/>
                </a:solidFill>
                <a:latin typeface="Cambria"/>
              </a:rPr>
              <a:t>github.com/rm569173/saudeviz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2815</Words>
  <Application>Microsoft Office PowerPoint</Application>
  <PresentationFormat>Apresentação na tela (16:9)</PresentationFormat>
  <Paragraphs>545</Paragraphs>
  <Slides>50</Slides>
  <Notes>50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Colen</cp:lastModifiedBy>
  <cp:revision>1</cp:revision>
  <dcterms:created xsi:type="dcterms:W3CDTF">2013-01-27T09:14:16Z</dcterms:created>
  <dcterms:modified xsi:type="dcterms:W3CDTF">2026-09-01T01:59:32Z</dcterms:modified>
  <cp:category/>
</cp:coreProperties>
</file>